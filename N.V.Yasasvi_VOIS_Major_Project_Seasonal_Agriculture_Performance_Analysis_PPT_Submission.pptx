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40" r:id="rId10"/>
    <p:sldId id="344" r:id="rId11"/>
    <p:sldId id="345" r:id="rId12"/>
    <p:sldId id="339" r:id="rId13"/>
    <p:sldId id="346" r:id="rId14"/>
    <p:sldId id="347" r:id="rId15"/>
    <p:sldId id="348" r:id="rId16"/>
    <p:sldId id="349"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71" autoAdjust="0"/>
    <p:restoredTop sz="95033" autoAdjust="0"/>
  </p:normalViewPr>
  <p:slideViewPr>
    <p:cSldViewPr snapToGrid="0">
      <p:cViewPr varScale="1">
        <p:scale>
          <a:sx n="88" d="100"/>
          <a:sy n="88" d="100"/>
        </p:scale>
        <p:origin x="384" y="53"/>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dirty="0"/>
              <a:t>Click icon to add picture</a:t>
            </a:r>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dirty="0"/>
              <a:t>Click icon to add picture</a:t>
            </a:r>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dirty="0"/>
              <a:t>Click icon to add picture</a:t>
            </a:r>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dirty="0"/>
              <a:t>Click icon to add picture</a:t>
            </a:r>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github.com/Yasasvi2025/AICTE_VOIS_MajorProject-Seasonal_Agriculture_Performance_Analysis" TargetMode="External"/><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Yasasvi2025/AICTE_VOIS_MajorProject-Seasonal_Agriculture_Performance_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Yasasvi2025/AICTE_VOIS_MajorProject-Seasonal_Agriculture_Performance_Analysis" TargetMode="External"/><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160779" y="3485675"/>
            <a:ext cx="7012146" cy="861497"/>
          </a:xfrm>
        </p:spPr>
        <p:txBody>
          <a:bodyPr vert="horz" lIns="91440" tIns="45720" rIns="91440" bIns="45720" rtlCol="0" anchor="t">
            <a:normAutofit/>
          </a:bodyPr>
          <a:lstStyle/>
          <a:p>
            <a:r>
              <a:rPr lang="en-US" b="0" dirty="0" smtClean="0">
                <a:solidFill>
                  <a:schemeClr val="tx1"/>
                </a:solidFill>
                <a:latin typeface="Times New Roman" panose="02020603050405020304" pitchFamily="18" charset="0"/>
                <a:cs typeface="Times New Roman" panose="02020603050405020304" pitchFamily="18" charset="0"/>
              </a:rPr>
              <a:t>Student Name : </a:t>
            </a:r>
            <a:r>
              <a:rPr lang="en-US" dirty="0" smtClean="0">
                <a:solidFill>
                  <a:schemeClr val="tx1"/>
                </a:solidFill>
                <a:latin typeface="Times New Roman" panose="02020603050405020304" pitchFamily="18" charset="0"/>
                <a:cs typeface="Times New Roman" panose="02020603050405020304" pitchFamily="18" charset="0"/>
              </a:rPr>
              <a:t>Nune Venkata Yasasvi </a:t>
            </a:r>
            <a:endParaRPr lang="en-IN" dirty="0">
              <a:solidFill>
                <a:schemeClr val="tx1"/>
              </a:solidFill>
              <a:latin typeface="Times New Roman" panose="02020603050405020304" pitchFamily="18" charset="0"/>
              <a:cs typeface="Times New Roman" panose="02020603050405020304" pitchFamily="18" charset="0"/>
            </a:endParaRPr>
          </a:p>
          <a:p>
            <a:r>
              <a:rPr lang="en-US" b="0" dirty="0" smtClean="0">
                <a:solidFill>
                  <a:schemeClr val="tx1"/>
                </a:solidFill>
                <a:latin typeface="Times New Roman" panose="02020603050405020304" pitchFamily="18" charset="0"/>
                <a:cs typeface="Times New Roman" panose="02020603050405020304" pitchFamily="18" charset="0"/>
              </a:rPr>
              <a:t>College Name : </a:t>
            </a:r>
            <a:r>
              <a:rPr lang="en-US" dirty="0" smtClean="0">
                <a:solidFill>
                  <a:schemeClr val="tx1"/>
                </a:solidFill>
                <a:latin typeface="Times New Roman" panose="02020603050405020304" pitchFamily="18" charset="0"/>
                <a:cs typeface="Times New Roman" panose="02020603050405020304" pitchFamily="18" charset="0"/>
              </a:rPr>
              <a:t>Vignan University</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160779" y="2819767"/>
            <a:ext cx="11260594" cy="665908"/>
          </a:xfrm>
        </p:spPr>
        <p:txBody>
          <a:bodyPr>
            <a:noAutofit/>
          </a:bodyPr>
          <a:lstStyle/>
          <a:p>
            <a:r>
              <a:rPr lang="en-GB" sz="3200" dirty="0">
                <a:latin typeface="Times New Roman" panose="02020603050405020304" pitchFamily="18" charset="0"/>
                <a:cs typeface="Times New Roman" panose="02020603050405020304" pitchFamily="18" charset="0"/>
              </a:rPr>
              <a:t>Project Title </a:t>
            </a:r>
            <a:r>
              <a:rPr lang="en-GB" sz="3200" dirty="0" smtClean="0">
                <a:latin typeface="Times New Roman" panose="02020603050405020304" pitchFamily="18" charset="0"/>
                <a:cs typeface="Times New Roman" panose="02020603050405020304" pitchFamily="18" charset="0"/>
              </a:rPr>
              <a:t>- </a:t>
            </a:r>
            <a:r>
              <a:rPr lang="en-IN" sz="3200" b="1" dirty="0" smtClean="0">
                <a:latin typeface="Times New Roman" panose="02020603050405020304" pitchFamily="18" charset="0"/>
                <a:cs typeface="Times New Roman" panose="02020603050405020304" pitchFamily="18" charset="0"/>
              </a:rPr>
              <a:t>Seasonal Agriculture Performance Analysis</a:t>
            </a:r>
            <a:r>
              <a:rPr lang="en-IN" sz="3200" dirty="0" smtClean="0">
                <a:latin typeface="Times New Roman" panose="02020603050405020304" pitchFamily="18" charset="0"/>
                <a:cs typeface="Times New Roman" panose="02020603050405020304" pitchFamily="18" charset="0"/>
              </a:rPr>
              <a:t/>
            </a:r>
            <a:br>
              <a:rPr lang="en-IN" sz="3200" dirty="0" smtClean="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160779" y="4440923"/>
            <a:ext cx="635779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AICTE STU ID </a:t>
            </a:r>
            <a:r>
              <a:rPr lang="en-US" b="1" dirty="0" smtClean="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STU6a528cb0ab8321783794864</a:t>
            </a:r>
            <a:endParaRPr lang="en-US" b="1" dirty="0">
              <a:latin typeface="Times New Roman" panose="02020603050405020304" pitchFamily="18" charset="0"/>
              <a:cs typeface="Times New Roman" panose="02020603050405020304" pitchFamily="18" charset="0"/>
            </a:endParaRPr>
          </a:p>
        </p:txBody>
      </p:sp>
      <p:sp>
        <p:nvSpPr>
          <p:cNvPr id="8" name="Rectangle 7"/>
          <p:cNvSpPr/>
          <p:nvPr/>
        </p:nvSpPr>
        <p:spPr>
          <a:xfrm>
            <a:off x="3637015" y="6126365"/>
            <a:ext cx="5763116"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hlinkClick r:id="rId3"/>
              </a:rPr>
              <a:t>Seasonal_Agriculture_Performance_Analysis_GitHub_Link</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218343" y="1089068"/>
            <a:ext cx="6472017" cy="4466968"/>
          </a:xfrm>
        </p:spPr>
        <p:txBody>
          <a:bodyPr vert="horz" lIns="91440" tIns="45720" rIns="91440" bIns="45720" rtlCol="0" anchor="t">
            <a:normAutofit fontScale="92500"/>
          </a:bodyPr>
          <a:lstStyle/>
          <a:p>
            <a:pPr marL="0" indent="0" algn="just">
              <a:buNone/>
            </a:pPr>
            <a:r>
              <a:rPr lang="en-IN" sz="1400" b="1" dirty="0">
                <a:latin typeface="Times New Roman" panose="02020603050405020304" pitchFamily="18" charset="0"/>
                <a:cs typeface="Times New Roman" panose="02020603050405020304" pitchFamily="18" charset="0"/>
              </a:rPr>
              <a:t>Problem </a:t>
            </a:r>
            <a:r>
              <a:rPr lang="en-IN" sz="1400" b="1" dirty="0" smtClean="0">
                <a:latin typeface="Times New Roman" panose="02020603050405020304" pitchFamily="18" charset="0"/>
                <a:cs typeface="Times New Roman" panose="02020603050405020304" pitchFamily="18" charset="0"/>
              </a:rPr>
              <a:t>Statement:</a:t>
            </a:r>
            <a:endParaRPr lang="en-GB" sz="1400" b="1" dirty="0" smtClean="0">
              <a:latin typeface="Times New Roman" panose="02020603050405020304" pitchFamily="18" charset="0"/>
              <a:cs typeface="Times New Roman" panose="02020603050405020304" pitchFamily="18" charset="0"/>
            </a:endParaRPr>
          </a:p>
          <a:p>
            <a:pPr algn="just"/>
            <a:r>
              <a:rPr lang="en-GB" sz="1400" dirty="0" smtClean="0">
                <a:latin typeface="Times New Roman" panose="02020603050405020304" pitchFamily="18" charset="0"/>
                <a:cs typeface="Times New Roman" panose="02020603050405020304" pitchFamily="18" charset="0"/>
              </a:rPr>
              <a:t>Agricultural </a:t>
            </a:r>
            <a:r>
              <a:rPr lang="en-GB" sz="1400" dirty="0">
                <a:latin typeface="Times New Roman" panose="02020603050405020304" pitchFamily="18" charset="0"/>
                <a:cs typeface="Times New Roman" panose="02020603050405020304" pitchFamily="18" charset="0"/>
              </a:rPr>
              <a:t>performance varies across seasons due to changes in environmental conditions, crop selection, resource usage, and input management. It is difficult to clearly identify the factors affecting yield, profitability, and overall farm performance from raw agricultural data.</a:t>
            </a:r>
          </a:p>
          <a:p>
            <a:pPr algn="just"/>
            <a:r>
              <a:rPr lang="en-GB" sz="1400" dirty="0">
                <a:latin typeface="Times New Roman" panose="02020603050405020304" pitchFamily="18" charset="0"/>
                <a:cs typeface="Times New Roman" panose="02020603050405020304" pitchFamily="18" charset="0"/>
              </a:rPr>
              <a:t>This project aims to </a:t>
            </a:r>
            <a:r>
              <a:rPr lang="en-GB" sz="1400" b="1" dirty="0">
                <a:latin typeface="Times New Roman" panose="02020603050405020304" pitchFamily="18" charset="0"/>
                <a:cs typeface="Times New Roman" panose="02020603050405020304" pitchFamily="18" charset="0"/>
              </a:rPr>
              <a:t>analyze seasonal agricultural data, identify important patterns and relationships, compare performance across crops, states and seasons, and use data-driven techniques to support better agricultural decision-making.</a:t>
            </a:r>
            <a:r>
              <a:rPr lang="en-GB" sz="1400" dirty="0">
                <a:latin typeface="Times New Roman" panose="02020603050405020304" pitchFamily="18" charset="0"/>
                <a:cs typeface="Times New Roman" panose="02020603050405020304" pitchFamily="18" charset="0"/>
              </a:rPr>
              <a:t> </a:t>
            </a:r>
            <a:endParaRPr lang="en-GB" sz="1400" dirty="0" smtClean="0">
              <a:latin typeface="Times New Roman" panose="02020603050405020304" pitchFamily="18" charset="0"/>
              <a:cs typeface="Times New Roman" panose="02020603050405020304" pitchFamily="18" charset="0"/>
            </a:endParaRPr>
          </a:p>
          <a:p>
            <a:pPr marL="0" indent="0" algn="just">
              <a:buNone/>
            </a:pPr>
            <a:r>
              <a:rPr lang="en-IN" sz="1400" b="1" dirty="0">
                <a:latin typeface="Times New Roman" panose="02020603050405020304" pitchFamily="18" charset="0"/>
                <a:cs typeface="Times New Roman" panose="02020603050405020304" pitchFamily="18" charset="0"/>
              </a:rPr>
              <a:t>Key </a:t>
            </a:r>
            <a:r>
              <a:rPr lang="en-IN" sz="1400" b="1" dirty="0" smtClean="0">
                <a:latin typeface="Times New Roman" panose="02020603050405020304" pitchFamily="18" charset="0"/>
                <a:cs typeface="Times New Roman" panose="02020603050405020304" pitchFamily="18" charset="0"/>
              </a:rPr>
              <a:t>Challenges :</a:t>
            </a:r>
            <a:endParaRPr lang="en-GB" sz="1400" b="1" dirty="0" smtClean="0">
              <a:latin typeface="Times New Roman" panose="02020603050405020304" pitchFamily="18" charset="0"/>
              <a:cs typeface="Times New Roman" panose="02020603050405020304" pitchFamily="18" charset="0"/>
            </a:endParaRPr>
          </a:p>
          <a:p>
            <a:pPr algn="just"/>
            <a:r>
              <a:rPr lang="en-GB" sz="1400" b="1" dirty="0">
                <a:latin typeface="Times New Roman" panose="02020603050405020304" pitchFamily="18" charset="0"/>
                <a:cs typeface="Times New Roman" panose="02020603050405020304" pitchFamily="18" charset="0"/>
              </a:rPr>
              <a:t>Seasonal Variation:</a:t>
            </a:r>
            <a:r>
              <a:rPr lang="en-GB" sz="1400" dirty="0">
                <a:latin typeface="Times New Roman" panose="02020603050405020304" pitchFamily="18" charset="0"/>
                <a:cs typeface="Times New Roman" panose="02020603050405020304" pitchFamily="18" charset="0"/>
              </a:rPr>
              <a:t> Agricultural performance changes across different seasons and needs systematic comparison</a:t>
            </a:r>
            <a:r>
              <a:rPr lang="en-GB" sz="1400" dirty="0" smtClean="0">
                <a:latin typeface="Times New Roman" panose="02020603050405020304" pitchFamily="18" charset="0"/>
                <a:cs typeface="Times New Roman" panose="02020603050405020304" pitchFamily="18" charset="0"/>
              </a:rPr>
              <a:t>.</a:t>
            </a:r>
          </a:p>
          <a:p>
            <a:pPr algn="just"/>
            <a:r>
              <a:rPr lang="en-GB" sz="1400" b="1" dirty="0">
                <a:latin typeface="Times New Roman" panose="02020603050405020304" pitchFamily="18" charset="0"/>
                <a:cs typeface="Times New Roman" panose="02020603050405020304" pitchFamily="18" charset="0"/>
              </a:rPr>
              <a:t>Identifying Key Factors:</a:t>
            </a:r>
            <a:r>
              <a:rPr lang="en-GB" sz="1400" dirty="0">
                <a:latin typeface="Times New Roman" panose="02020603050405020304" pitchFamily="18" charset="0"/>
                <a:cs typeface="Times New Roman" panose="02020603050405020304" pitchFamily="18" charset="0"/>
              </a:rPr>
              <a:t> Environmental conditions, crop selection, irrigation, inputs, and other factors may influence yield and profitability</a:t>
            </a:r>
            <a:r>
              <a:rPr lang="en-GB" sz="1400" dirty="0" smtClean="0">
                <a:latin typeface="Times New Roman" panose="02020603050405020304" pitchFamily="18" charset="0"/>
                <a:cs typeface="Times New Roman" panose="02020603050405020304" pitchFamily="18" charset="0"/>
              </a:rPr>
              <a:t>.</a:t>
            </a:r>
          </a:p>
          <a:p>
            <a:pPr algn="just"/>
            <a:r>
              <a:rPr lang="en-GB" sz="1400" b="1" dirty="0">
                <a:latin typeface="Times New Roman" panose="02020603050405020304" pitchFamily="18" charset="0"/>
                <a:cs typeface="Times New Roman" panose="02020603050405020304" pitchFamily="18" charset="0"/>
              </a:rPr>
              <a:t>Performance Comparison:</a:t>
            </a:r>
            <a:r>
              <a:rPr lang="en-GB" sz="1400" dirty="0">
                <a:latin typeface="Times New Roman" panose="02020603050405020304" pitchFamily="18" charset="0"/>
                <a:cs typeface="Times New Roman" panose="02020603050405020304" pitchFamily="18" charset="0"/>
              </a:rPr>
              <a:t> It is necessary to compare crops, states, districts, and seasons to identify high- and low-performing groups</a:t>
            </a:r>
            <a:r>
              <a:rPr lang="en-GB" sz="1400" dirty="0" smtClean="0">
                <a:latin typeface="Times New Roman" panose="02020603050405020304" pitchFamily="18" charset="0"/>
                <a:cs typeface="Times New Roman" panose="02020603050405020304" pitchFamily="18" charset="0"/>
              </a:rPr>
              <a:t>.</a:t>
            </a:r>
          </a:p>
          <a:p>
            <a:pPr algn="just"/>
            <a:r>
              <a:rPr lang="en-GB" sz="1400" b="1" dirty="0">
                <a:latin typeface="Times New Roman" panose="02020603050405020304" pitchFamily="18" charset="0"/>
                <a:cs typeface="Times New Roman" panose="02020603050405020304" pitchFamily="18" charset="0"/>
              </a:rPr>
              <a:t>Data-Driven Decisions:</a:t>
            </a:r>
            <a:r>
              <a:rPr lang="en-GB" sz="1400" dirty="0">
                <a:latin typeface="Times New Roman" panose="02020603050405020304" pitchFamily="18" charset="0"/>
                <a:cs typeface="Times New Roman" panose="02020603050405020304" pitchFamily="18" charset="0"/>
              </a:rPr>
              <a:t> Raw agricultural data should be transformed into meaningful insights and recommendations for better planning and resource management.</a:t>
            </a:r>
          </a:p>
          <a:p>
            <a:endParaRPr lang="en-GB" sz="2800" dirty="0">
              <a:latin typeface="Times New Roman" panose="02020603050405020304" pitchFamily="18" charset="0"/>
              <a:cs typeface="Times New Roman" panose="02020603050405020304" pitchFamily="18" charset="0"/>
            </a:endParaRPr>
          </a:p>
          <a:p>
            <a:pPr>
              <a:lnSpc>
                <a:spcPct val="100000"/>
              </a:lnSpc>
            </a:pPr>
            <a:endParaRPr lang="en-IN" sz="2800"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218343" y="173184"/>
            <a:ext cx="6995604" cy="790111"/>
          </a:xfrm>
        </p:spPr>
        <p:txBody>
          <a:bodyPr>
            <a:normAutofit/>
          </a:bodyPr>
          <a:lstStyle/>
          <a:p>
            <a:r>
              <a:rPr lang="en-US" sz="4400" dirty="0">
                <a:latin typeface="Times New Roman" panose="02020603050405020304" pitchFamily="18" charset="0"/>
                <a:cs typeface="Times New Roman" panose="02020603050405020304" pitchFamily="18" charset="0"/>
              </a:rPr>
              <a:t>PROBLEM  STATEMENT</a:t>
            </a:r>
            <a:endParaRPr lang="en-IN" sz="4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241203" y="154206"/>
            <a:ext cx="7442201" cy="830997"/>
          </a:xfrm>
        </p:spPr>
        <p:txBody>
          <a:bodyPr>
            <a:normAutofit fontScale="90000"/>
          </a:bodyPr>
          <a:lstStyle/>
          <a:p>
            <a:r>
              <a:rPr lang="en-GB" sz="4900" dirty="0" smtClean="0">
                <a:latin typeface="Times New Roman" panose="02020603050405020304" pitchFamily="18" charset="0"/>
                <a:cs typeface="Times New Roman" panose="02020603050405020304" pitchFamily="18" charset="0"/>
              </a:rPr>
              <a:t>PROJECT DESCRIPTION</a:t>
            </a:r>
            <a:r>
              <a:rPr lang="en-GB" dirty="0" smtClean="0"/>
              <a:t/>
            </a:r>
            <a:br>
              <a:rPr lang="en-GB" dirty="0" smtClean="0"/>
            </a:br>
            <a:r>
              <a:rPr lang="en-GB" dirty="0"/>
              <a:t/>
            </a:r>
            <a:br>
              <a:rPr lang="en-GB" dirty="0"/>
            </a:br>
            <a:r>
              <a:rPr lang="en-GB" dirty="0"/>
              <a:t/>
            </a:r>
            <a:br>
              <a:rPr lang="en-GB" dirty="0"/>
            </a:br>
            <a:endParaRPr lang="en-IN"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itle 2">
            <a:extLst>
              <a:ext uri="{FF2B5EF4-FFF2-40B4-BE49-F238E27FC236}">
                <a16:creationId xmlns:a16="http://schemas.microsoft.com/office/drawing/2014/main" xmlns="" id="{EBF2FBC7-3552-4F01-BB27-8BEEE74F7277}"/>
              </a:ext>
            </a:extLst>
          </p:cNvPr>
          <p:cNvSpPr txBox="1">
            <a:spLocks/>
          </p:cNvSpPr>
          <p:nvPr/>
        </p:nvSpPr>
        <p:spPr>
          <a:xfrm>
            <a:off x="99060" y="1325673"/>
            <a:ext cx="6591300" cy="4937967"/>
          </a:xfrm>
          <a:prstGeom prst="rect">
            <a:avLst/>
          </a:prstGeom>
        </p:spPr>
        <p:txBody>
          <a:bodyPr vert="horz" lIns="91440" tIns="45720" rIns="91440" bIns="45720" rtlCol="0" anchor="t">
            <a:normAutofit fontScale="250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342900" indent="-342900" algn="just">
              <a:buFont typeface="Arial" panose="020B0604020202020204" pitchFamily="34" charset="0"/>
              <a:buChar char="•"/>
            </a:pPr>
            <a:r>
              <a:rPr lang="en-GB" sz="6400" dirty="0">
                <a:latin typeface="Times New Roman" panose="02020603050405020304" pitchFamily="18" charset="0"/>
                <a:cs typeface="Times New Roman" panose="02020603050405020304" pitchFamily="18" charset="0"/>
              </a:rPr>
              <a:t>Seasonal Agriculture Performance Analysis </a:t>
            </a:r>
            <a:r>
              <a:rPr lang="en-GB" sz="6400" b="0" dirty="0">
                <a:latin typeface="Times New Roman" panose="02020603050405020304" pitchFamily="18" charset="0"/>
                <a:cs typeface="Times New Roman" panose="02020603050405020304" pitchFamily="18" charset="0"/>
              </a:rPr>
              <a:t>is a data analytics project that analyzes agricultural data across different seasons to understand variations in crop performance, yield, resource usage, and profitability. The project uses data cleaning, exploratory data analysis, statistical analysis, and visualization techniques to identify meaningful patterns, trends, relationships, and differences across crops, states, districts, and seasons</a:t>
            </a:r>
            <a:r>
              <a:rPr lang="en-GB" sz="6400" b="0" dirty="0" smtClean="0">
                <a:latin typeface="Times New Roman" panose="02020603050405020304" pitchFamily="18" charset="0"/>
                <a:cs typeface="Times New Roman" panose="02020603050405020304" pitchFamily="18" charset="0"/>
              </a:rPr>
              <a:t>.</a:t>
            </a:r>
          </a:p>
          <a:p>
            <a:pPr algn="just"/>
            <a:endParaRPr lang="en-GB" sz="6400" b="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GB" sz="6400" b="0" dirty="0">
                <a:latin typeface="Times New Roman" panose="02020603050405020304" pitchFamily="18" charset="0"/>
                <a:cs typeface="Times New Roman" panose="02020603050405020304" pitchFamily="18" charset="0"/>
              </a:rPr>
              <a:t>The project also includes </a:t>
            </a:r>
            <a:r>
              <a:rPr lang="en-GB" sz="6400" dirty="0">
                <a:latin typeface="Times New Roman" panose="02020603050405020304" pitchFamily="18" charset="0"/>
                <a:cs typeface="Times New Roman" panose="02020603050405020304" pitchFamily="18" charset="0"/>
              </a:rPr>
              <a:t>Machine Learning enhancements </a:t>
            </a:r>
            <a:r>
              <a:rPr lang="en-GB" sz="6400" b="0" dirty="0">
                <a:latin typeface="Times New Roman" panose="02020603050405020304" pitchFamily="18" charset="0"/>
                <a:cs typeface="Times New Roman" panose="02020603050405020304" pitchFamily="18" charset="0"/>
              </a:rPr>
              <a:t>for yield prediction and agricultural performance classification. Different regression and classification models are compared and evaluated to identify useful predictive approaches. Feature importance analysis is used to understand which agricultural factors contribute to prediction</a:t>
            </a:r>
            <a:r>
              <a:rPr lang="en-GB" sz="6400" b="0" dirty="0" smtClean="0">
                <a:latin typeface="Times New Roman" panose="02020603050405020304" pitchFamily="18" charset="0"/>
                <a:cs typeface="Times New Roman" panose="02020603050405020304" pitchFamily="18" charset="0"/>
              </a:rPr>
              <a:t>.</a:t>
            </a:r>
          </a:p>
          <a:p>
            <a:pPr algn="just"/>
            <a:endParaRPr lang="en-GB" sz="6400" b="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GB" sz="6400" b="0" dirty="0">
                <a:latin typeface="Times New Roman" panose="02020603050405020304" pitchFamily="18" charset="0"/>
                <a:cs typeface="Times New Roman" panose="02020603050405020304" pitchFamily="18" charset="0"/>
              </a:rPr>
              <a:t>A </a:t>
            </a:r>
            <a:r>
              <a:rPr lang="en-GB" sz="6400" dirty="0">
                <a:latin typeface="Times New Roman" panose="02020603050405020304" pitchFamily="18" charset="0"/>
                <a:cs typeface="Times New Roman" panose="02020603050405020304" pitchFamily="18" charset="0"/>
              </a:rPr>
              <a:t>dashboard enhancement</a:t>
            </a:r>
            <a:r>
              <a:rPr lang="en-GB" sz="6400" b="0" dirty="0">
                <a:latin typeface="Times New Roman" panose="02020603050405020304" pitchFamily="18" charset="0"/>
                <a:cs typeface="Times New Roman" panose="02020603050405020304" pitchFamily="18" charset="0"/>
              </a:rPr>
              <a:t> presents important agricultural indicators through interactive visualizations, making the analytical results easier to understand and use for decision-making</a:t>
            </a:r>
            <a:r>
              <a:rPr lang="en-GB" sz="6400" b="0" dirty="0" smtClean="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endParaRPr lang="en-GB" sz="6400" b="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GB" sz="6400" b="0" dirty="0">
                <a:latin typeface="Times New Roman" panose="02020603050405020304" pitchFamily="18" charset="0"/>
                <a:cs typeface="Times New Roman" panose="02020603050405020304" pitchFamily="18" charset="0"/>
              </a:rPr>
              <a:t>Overall, the project converts raw agricultural data into </a:t>
            </a:r>
            <a:r>
              <a:rPr lang="en-GB" sz="6400" dirty="0">
                <a:latin typeface="Times New Roman" panose="02020603050405020304" pitchFamily="18" charset="0"/>
                <a:cs typeface="Times New Roman" panose="02020603050405020304" pitchFamily="18" charset="0"/>
              </a:rPr>
              <a:t>meaningful insights, predictive results, and evidence-based recommendations </a:t>
            </a:r>
            <a:r>
              <a:rPr lang="en-GB" sz="6400" b="0" dirty="0">
                <a:latin typeface="Times New Roman" panose="02020603050405020304" pitchFamily="18" charset="0"/>
                <a:cs typeface="Times New Roman" panose="02020603050405020304" pitchFamily="18" charset="0"/>
              </a:rPr>
              <a:t>for better seasonal planning, resource management, and agricultural performance analysis</a:t>
            </a:r>
            <a:endParaRPr lang="en-GB" sz="6400" b="0" dirty="0" smtClean="0">
              <a:latin typeface="Times New Roman" panose="02020603050405020304" pitchFamily="18" charset="0"/>
              <a:cs typeface="Times New Roman" panose="02020603050405020304" pitchFamily="18" charset="0"/>
            </a:endParaRPr>
          </a:p>
          <a:p>
            <a:pPr algn="just"/>
            <a:endParaRPr lang="en-GB" sz="4900" b="0" dirty="0">
              <a:latin typeface="Times New Roman" panose="02020603050405020304" pitchFamily="18" charset="0"/>
              <a:cs typeface="Times New Roman" panose="02020603050405020304" pitchFamily="18" charset="0"/>
            </a:endParaRPr>
          </a:p>
          <a:p>
            <a:pPr algn="just"/>
            <a:r>
              <a:rPr lang="en-GB" sz="2200" dirty="0">
                <a:latin typeface="Times New Roman" panose="02020603050405020304" pitchFamily="18" charset="0"/>
                <a:cs typeface="Times New Roman" panose="02020603050405020304" pitchFamily="18" charset="0"/>
              </a:rPr>
              <a:t/>
            </a:r>
            <a:br>
              <a:rPr lang="en-GB" sz="2200" dirty="0">
                <a:latin typeface="Times New Roman" panose="02020603050405020304" pitchFamily="18" charset="0"/>
                <a:cs typeface="Times New Roman" panose="02020603050405020304" pitchFamily="18" charset="0"/>
              </a:rPr>
            </a:br>
            <a:r>
              <a:rPr lang="en-GB" dirty="0"/>
              <a:t/>
            </a:r>
            <a:br>
              <a:rPr lang="en-GB" dirty="0"/>
            </a:br>
            <a:r>
              <a:rPr lang="en-GB" dirty="0"/>
              <a:t/>
            </a:r>
            <a:br>
              <a:rPr lang="en-GB" dirty="0"/>
            </a:b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664E3B60-2780-459A-8583-F095D5E7463A}"/>
              </a:ext>
            </a:extLst>
          </p:cNvPr>
          <p:cNvSpPr>
            <a:spLocks noGrp="1"/>
          </p:cNvSpPr>
          <p:nvPr>
            <p:ph type="body" sz="quarter" idx="12"/>
          </p:nvPr>
        </p:nvSpPr>
        <p:spPr>
          <a:xfrm>
            <a:off x="152399" y="1160780"/>
            <a:ext cx="6524446" cy="5438428"/>
          </a:xfrm>
        </p:spPr>
        <p:txBody>
          <a:bodyPr>
            <a:normAutofit/>
          </a:bodyPr>
          <a:lstStyle/>
          <a:p>
            <a:pPr>
              <a:lnSpc>
                <a:spcPct val="150000"/>
              </a:lnSpc>
            </a:pPr>
            <a:r>
              <a:rPr lang="en-GB" sz="1400" b="1" dirty="0">
                <a:latin typeface="Times New Roman" panose="02020603050405020304" pitchFamily="18" charset="0"/>
                <a:cs typeface="Times New Roman" panose="02020603050405020304" pitchFamily="18" charset="0"/>
              </a:rPr>
              <a:t>Farmers &amp; Agricultural Producers</a:t>
            </a:r>
            <a:r>
              <a:rPr lang="en-GB" sz="1400" dirty="0">
                <a:latin typeface="Times New Roman" panose="02020603050405020304" pitchFamily="18" charset="0"/>
                <a:cs typeface="Times New Roman" panose="02020603050405020304" pitchFamily="18" charset="0"/>
              </a:rPr>
              <a:t> – To understand seasonal crop performance, yield, profitability, and resource usage</a:t>
            </a:r>
            <a:r>
              <a:rPr lang="en-GB" sz="1400" dirty="0" smtClean="0">
                <a:latin typeface="Times New Roman" panose="02020603050405020304" pitchFamily="18" charset="0"/>
                <a:cs typeface="Times New Roman" panose="02020603050405020304" pitchFamily="18" charset="0"/>
              </a:rPr>
              <a:t>.</a:t>
            </a:r>
          </a:p>
          <a:p>
            <a:pPr>
              <a:lnSpc>
                <a:spcPct val="150000"/>
              </a:lnSpc>
            </a:pPr>
            <a:r>
              <a:rPr lang="en-GB" sz="1400" b="1" dirty="0">
                <a:latin typeface="Times New Roman" panose="02020603050405020304" pitchFamily="18" charset="0"/>
                <a:cs typeface="Times New Roman" panose="02020603050405020304" pitchFamily="18" charset="0"/>
              </a:rPr>
              <a:t>Agricultural Planners &amp; Officers</a:t>
            </a:r>
            <a:r>
              <a:rPr lang="en-GB" sz="1400" dirty="0">
                <a:latin typeface="Times New Roman" panose="02020603050405020304" pitchFamily="18" charset="0"/>
                <a:cs typeface="Times New Roman" panose="02020603050405020304" pitchFamily="18" charset="0"/>
              </a:rPr>
              <a:t> – To compare crop, state, district, and seasonal performance for better planning</a:t>
            </a:r>
            <a:r>
              <a:rPr lang="en-GB" sz="1400" dirty="0" smtClean="0">
                <a:latin typeface="Times New Roman" panose="02020603050405020304" pitchFamily="18" charset="0"/>
                <a:cs typeface="Times New Roman" panose="02020603050405020304" pitchFamily="18" charset="0"/>
              </a:rPr>
              <a:t>.</a:t>
            </a:r>
          </a:p>
          <a:p>
            <a:pPr>
              <a:lnSpc>
                <a:spcPct val="150000"/>
              </a:lnSpc>
            </a:pPr>
            <a:r>
              <a:rPr lang="en-GB" sz="1400" b="1" dirty="0">
                <a:latin typeface="Times New Roman" panose="02020603050405020304" pitchFamily="18" charset="0"/>
                <a:cs typeface="Times New Roman" panose="02020603050405020304" pitchFamily="18" charset="0"/>
              </a:rPr>
              <a:t>Researchers &amp; Agricultural Analysts</a:t>
            </a:r>
            <a:r>
              <a:rPr lang="en-GB" sz="1400" dirty="0">
                <a:latin typeface="Times New Roman" panose="02020603050405020304" pitchFamily="18" charset="0"/>
                <a:cs typeface="Times New Roman" panose="02020603050405020304" pitchFamily="18" charset="0"/>
              </a:rPr>
              <a:t> – To study trends, relationships, and factors influencing agricultural outcomes</a:t>
            </a:r>
            <a:r>
              <a:rPr lang="en-GB" sz="1400" dirty="0" smtClean="0">
                <a:latin typeface="Times New Roman" panose="02020603050405020304" pitchFamily="18" charset="0"/>
                <a:cs typeface="Times New Roman" panose="02020603050405020304" pitchFamily="18" charset="0"/>
              </a:rPr>
              <a:t>.</a:t>
            </a:r>
          </a:p>
          <a:p>
            <a:pPr>
              <a:lnSpc>
                <a:spcPct val="150000"/>
              </a:lnSpc>
            </a:pPr>
            <a:r>
              <a:rPr lang="en-GB" sz="1400" b="1" dirty="0">
                <a:latin typeface="Times New Roman" panose="02020603050405020304" pitchFamily="18" charset="0"/>
                <a:cs typeface="Times New Roman" panose="02020603050405020304" pitchFamily="18" charset="0"/>
              </a:rPr>
              <a:t>Policy Makers &amp; Decision Makers</a:t>
            </a:r>
            <a:r>
              <a:rPr lang="en-GB" sz="1400" dirty="0">
                <a:latin typeface="Times New Roman" panose="02020603050405020304" pitchFamily="18" charset="0"/>
                <a:cs typeface="Times New Roman" panose="02020603050405020304" pitchFamily="18" charset="0"/>
              </a:rPr>
              <a:t> – To use data-driven insights for agricultural planning and resource management</a:t>
            </a:r>
            <a:r>
              <a:rPr lang="en-GB" sz="1400" dirty="0" smtClean="0">
                <a:latin typeface="Times New Roman" panose="02020603050405020304" pitchFamily="18" charset="0"/>
                <a:cs typeface="Times New Roman" panose="02020603050405020304" pitchFamily="18" charset="0"/>
              </a:rPr>
              <a:t>.</a:t>
            </a:r>
          </a:p>
          <a:p>
            <a:pPr>
              <a:lnSpc>
                <a:spcPct val="150000"/>
              </a:lnSpc>
            </a:pPr>
            <a:r>
              <a:rPr lang="en-GB" sz="1400" b="1" dirty="0">
                <a:latin typeface="Times New Roman" panose="02020603050405020304" pitchFamily="18" charset="0"/>
                <a:cs typeface="Times New Roman" panose="02020603050405020304" pitchFamily="18" charset="0"/>
              </a:rPr>
              <a:t>Students &amp; Data Analysts</a:t>
            </a:r>
            <a:r>
              <a:rPr lang="en-GB" sz="1400" dirty="0">
                <a:latin typeface="Times New Roman" panose="02020603050405020304" pitchFamily="18" charset="0"/>
                <a:cs typeface="Times New Roman" panose="02020603050405020304" pitchFamily="18" charset="0"/>
              </a:rPr>
              <a:t> – To learn and apply data analytics, statistical analysis, visualization, and machine learning techniques to agricultural data</a:t>
            </a:r>
            <a:r>
              <a:rPr lang="en-GB" sz="1400" dirty="0" smtClean="0">
                <a:latin typeface="Times New Roman" panose="02020603050405020304" pitchFamily="18" charset="0"/>
                <a:cs typeface="Times New Roman" panose="02020603050405020304" pitchFamily="18" charset="0"/>
              </a:rPr>
              <a:t>.</a:t>
            </a:r>
            <a:endParaRPr lang="en-GB" sz="1400" dirty="0">
              <a:latin typeface="Times New Roman" panose="02020603050405020304" pitchFamily="18" charset="0"/>
              <a:cs typeface="Times New Roman" panose="02020603050405020304" pitchFamily="18" charset="0"/>
            </a:endParaRPr>
          </a:p>
          <a:p>
            <a:pPr marL="0" indent="0">
              <a:lnSpc>
                <a:spcPct val="150000"/>
              </a:lnSpc>
              <a:buNone/>
            </a:pPr>
            <a:r>
              <a:rPr lang="en-GB" sz="1400" b="1" dirty="0">
                <a:latin typeface="Times New Roman" panose="02020603050405020304" pitchFamily="18" charset="0"/>
                <a:cs typeface="Times New Roman" panose="02020603050405020304" pitchFamily="18" charset="0"/>
              </a:rPr>
              <a:t>End Users:</a:t>
            </a:r>
            <a:r>
              <a:rPr lang="en-GB" sz="1400" dirty="0">
                <a:latin typeface="Times New Roman" panose="02020603050405020304" pitchFamily="18" charset="0"/>
                <a:cs typeface="Times New Roman" panose="02020603050405020304" pitchFamily="18" charset="0"/>
              </a:rPr>
              <a:t> Farmers &amp; Agricultural Producers, Agricultural Planners &amp; Officers, Researchers &amp; Agricultural Analysts, Policy Makers &amp; Decision Makers, Students &amp; Data Analysts.</a:t>
            </a:r>
            <a:endParaRPr lang="en-IN" sz="14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216148" y="134779"/>
            <a:ext cx="10046070" cy="802641"/>
          </a:xfrm>
        </p:spPr>
        <p:txBody>
          <a:bodyPr>
            <a:normAutofit/>
          </a:bodyPr>
          <a:lstStyle/>
          <a:p>
            <a:r>
              <a:rPr lang="en-US" sz="4400" dirty="0">
                <a:latin typeface="Times New Roman" panose="02020603050405020304" pitchFamily="18" charset="0"/>
                <a:cs typeface="Times New Roman" panose="02020603050405020304" pitchFamily="18" charset="0"/>
              </a:rPr>
              <a:t>WHO ARE THE END USERS?</a:t>
            </a:r>
            <a:endParaRPr lang="en-IN" sz="4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76200" y="4195813"/>
            <a:ext cx="1456106" cy="2537584"/>
          </a:xfrm>
          <a:prstGeom prst="rect">
            <a:avLst/>
          </a:prstGeom>
        </p:spPr>
      </p:pic>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243027" y="146648"/>
            <a:ext cx="7097254" cy="714411"/>
          </a:xfrm>
        </p:spPr>
        <p:txBody>
          <a:bodyPr>
            <a:normAutofit fontScale="90000"/>
          </a:bodyPr>
          <a:lstStyle/>
          <a:p>
            <a:r>
              <a:rPr lang="en-US" sz="4400" dirty="0" smtClean="0">
                <a:latin typeface="Times New Roman" panose="02020603050405020304" pitchFamily="18" charset="0"/>
                <a:cs typeface="Times New Roman" panose="02020603050405020304" pitchFamily="18" charset="0"/>
              </a:rPr>
              <a:t>TECHNOLOGY USED</a:t>
            </a:r>
            <a:endParaRPr lang="en-US" sz="4400" dirty="0">
              <a:latin typeface="Times New Roman" panose="02020603050405020304" pitchFamily="18" charset="0"/>
              <a:cs typeface="Times New Roman" panose="02020603050405020304" pitchFamily="18" charset="0"/>
            </a:endParaRPr>
          </a:p>
        </p:txBody>
      </p:sp>
      <p:sp>
        <p:nvSpPr>
          <p:cNvPr id="3" name="Rectangle 1"/>
          <p:cNvSpPr>
            <a:spLocks noGrp="1" noChangeArrowheads="1"/>
          </p:cNvSpPr>
          <p:nvPr>
            <p:ph type="body" sz="quarter" idx="12"/>
          </p:nvPr>
        </p:nvSpPr>
        <p:spPr bwMode="auto">
          <a:xfrm>
            <a:off x="1532306" y="861059"/>
            <a:ext cx="790748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00000"/>
              </a:lnSpc>
              <a:spcBef>
                <a:spcPct val="0"/>
              </a:spcBef>
              <a:spcAft>
                <a:spcPct val="0"/>
              </a:spcAft>
              <a:buClrTx/>
              <a:buSzTx/>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Programming Language:</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Python</a:t>
            </a:r>
          </a:p>
          <a:p>
            <a:pPr defTabSz="914400" eaLnBrk="0" fontAlgn="base" hangingPunct="0">
              <a:lnSpc>
                <a:spcPct val="100000"/>
              </a:lnSpc>
              <a:spcBef>
                <a:spcPct val="0"/>
              </a:spcBef>
              <a:spcAft>
                <a:spcPct val="0"/>
              </a:spcAft>
              <a:buClrTx/>
              <a:buSzTx/>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Analytics:</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Pandas, NumPy</a:t>
            </a:r>
            <a:endParaRPr lang="en-US" sz="2400" dirty="0">
              <a:solidFill>
                <a:schemeClr val="tx1"/>
              </a:solidFill>
              <a:latin typeface="Times New Roman" panose="02020603050405020304" pitchFamily="18" charset="0"/>
              <a:cs typeface="Times New Roman" panose="02020603050405020304" pitchFamily="18" charset="0"/>
            </a:endParaRPr>
          </a:p>
          <a:p>
            <a:pPr defTabSz="914400" eaLnBrk="0" fontAlgn="base" hangingPunct="0">
              <a:lnSpc>
                <a:spcPct val="100000"/>
              </a:lnSpc>
              <a:spcBef>
                <a:spcPct val="0"/>
              </a:spcBef>
              <a:spcAft>
                <a:spcPct val="0"/>
              </a:spcAft>
              <a:buClrTx/>
              <a:buSzTx/>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Visualization:</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Matplotlib, Seaborn</a:t>
            </a:r>
            <a:endParaRPr lang="en-US" sz="2400" dirty="0">
              <a:solidFill>
                <a:schemeClr val="tx1"/>
              </a:solidFill>
              <a:latin typeface="Times New Roman" panose="02020603050405020304" pitchFamily="18" charset="0"/>
              <a:cs typeface="Times New Roman" panose="02020603050405020304" pitchFamily="18" charset="0"/>
            </a:endParaRPr>
          </a:p>
          <a:p>
            <a:pPr defTabSz="914400" eaLnBrk="0" fontAlgn="base" hangingPunct="0">
              <a:lnSpc>
                <a:spcPct val="100000"/>
              </a:lnSpc>
              <a:spcBef>
                <a:spcPct val="0"/>
              </a:spcBef>
              <a:spcAft>
                <a:spcPct val="0"/>
              </a:spcAft>
              <a:buClrTx/>
              <a:buSzTx/>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Statistical Analysis:</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SciPy</a:t>
            </a:r>
            <a:endParaRPr lang="en-US" sz="2400" dirty="0">
              <a:solidFill>
                <a:schemeClr val="tx1"/>
              </a:solidFill>
              <a:latin typeface="Times New Roman" panose="02020603050405020304" pitchFamily="18" charset="0"/>
              <a:cs typeface="Times New Roman" panose="02020603050405020304" pitchFamily="18" charset="0"/>
            </a:endParaRPr>
          </a:p>
          <a:p>
            <a:pPr defTabSz="914400" eaLnBrk="0" fontAlgn="base" hangingPunct="0">
              <a:lnSpc>
                <a:spcPct val="100000"/>
              </a:lnSpc>
              <a:spcBef>
                <a:spcPct val="0"/>
              </a:spcBef>
              <a:spcAft>
                <a:spcPct val="0"/>
              </a:spcAft>
              <a:buClrTx/>
              <a:buSzTx/>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Machine Learning:</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Scikit-learn</a:t>
            </a:r>
          </a:p>
          <a:p>
            <a:pPr defTabSz="914400" eaLnBrk="0" fontAlgn="base" hangingPunct="0">
              <a:lnSpc>
                <a:spcPct val="100000"/>
              </a:lnSpc>
              <a:spcBef>
                <a:spcPct val="0"/>
              </a:spcBef>
              <a:spcAft>
                <a:spcPct val="0"/>
              </a:spcAft>
              <a:buClrTx/>
              <a:buSzTx/>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Development Environment:</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Jupyter Notebook</a:t>
            </a:r>
          </a:p>
          <a:p>
            <a:pPr defTabSz="914400" eaLnBrk="0" fontAlgn="base" hangingPunct="0">
              <a:lnSpc>
                <a:spcPct val="100000"/>
              </a:lnSpc>
              <a:spcBef>
                <a:spcPct val="0"/>
              </a:spcBef>
              <a:spcAft>
                <a:spcPct val="0"/>
              </a:spcAft>
              <a:buClrTx/>
              <a:buSzTx/>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Dashboard &amp; Reporting:</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Interactive data visualizations and analytical dashboard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Technologies:</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Python | Pandas | NumPy | Matplotlib | Seaborn | SciPy | Scikit-learn | Jupyter Notebook</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460375" y="350644"/>
            <a:ext cx="2981643" cy="830997"/>
          </a:xfrm>
        </p:spPr>
        <p:txBody>
          <a:bodyPr>
            <a:normAutofit/>
          </a:bodyPr>
          <a:lstStyle/>
          <a:p>
            <a:r>
              <a:rPr lang="en-GB" sz="44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graphicFrame>
        <p:nvGraphicFramePr>
          <p:cNvPr id="3" name="Table 2"/>
          <p:cNvGraphicFramePr>
            <a:graphicFrameLocks noGrp="1"/>
          </p:cNvGraphicFramePr>
          <p:nvPr>
            <p:extLst>
              <p:ext uri="{D42A27DB-BD31-4B8C-83A1-F6EECF244321}">
                <p14:modId xmlns:p14="http://schemas.microsoft.com/office/powerpoint/2010/main" val="514841388"/>
              </p:ext>
            </p:extLst>
          </p:nvPr>
        </p:nvGraphicFramePr>
        <p:xfrm>
          <a:off x="6088318" y="2023533"/>
          <a:ext cx="5595682" cy="3410732"/>
        </p:xfrm>
        <a:graphic>
          <a:graphicData uri="http://schemas.openxmlformats.org/drawingml/2006/table">
            <a:tbl>
              <a:tblPr/>
              <a:tblGrid>
                <a:gridCol w="5595682"/>
              </a:tblGrid>
              <a:tr h="2514600">
                <a:tc>
                  <a:txBody>
                    <a:bodyPr/>
                    <a:lstStyle/>
                    <a:p>
                      <a:pPr algn="l" rtl="0" fontAlgn="t"/>
                      <a:endParaRPr lang="en-IN" sz="1100" dirty="0">
                        <a:solidFill>
                          <a:srgbClr val="EEFFFF"/>
                        </a:solidFill>
                        <a:effectLst/>
                        <a:latin typeface="Courier New" panose="02070309020205020404" pitchFamily="49" charset="0"/>
                      </a:endParaRPr>
                    </a:p>
                    <a:p>
                      <a:pPr algn="l" rtl="0" fontAlgn="t"/>
                      <a:r>
                        <a:rPr lang="en-IN" sz="1100" dirty="0">
                          <a:solidFill>
                            <a:srgbClr val="546E7A"/>
                          </a:solidFill>
                          <a:effectLst/>
                          <a:latin typeface="Courier New" panose="02070309020205020404" pitchFamily="49" charset="0"/>
                        </a:rPr>
                        <a:t># ------------------------------------------------------------</a:t>
                      </a:r>
                      <a:endParaRPr lang="en-IN" sz="1100" dirty="0">
                        <a:solidFill>
                          <a:srgbClr val="EEFFFF"/>
                        </a:solidFill>
                        <a:effectLst/>
                        <a:latin typeface="Courier New" panose="02070309020205020404" pitchFamily="49" charset="0"/>
                      </a:endParaRPr>
                    </a:p>
                    <a:p>
                      <a:pPr algn="l" rtl="0" fontAlgn="t"/>
                      <a:r>
                        <a:rPr lang="en-IN" sz="1100" dirty="0">
                          <a:solidFill>
                            <a:srgbClr val="546E7A"/>
                          </a:solidFill>
                          <a:effectLst/>
                          <a:latin typeface="Courier New" panose="02070309020205020404" pitchFamily="49" charset="0"/>
                        </a:rPr>
                        <a:t># 15. AVERAGE YIELD BY SEASON</a:t>
                      </a:r>
                      <a:endParaRPr lang="en-IN" sz="1100" dirty="0">
                        <a:solidFill>
                          <a:srgbClr val="EEFFFF"/>
                        </a:solidFill>
                        <a:effectLst/>
                        <a:latin typeface="Courier New" panose="02070309020205020404" pitchFamily="49" charset="0"/>
                      </a:endParaRPr>
                    </a:p>
                    <a:p>
                      <a:pPr algn="l" rtl="0" fontAlgn="t"/>
                      <a:r>
                        <a:rPr lang="en-IN" sz="1100" dirty="0">
                          <a:solidFill>
                            <a:srgbClr val="546E7A"/>
                          </a:solidFill>
                          <a:effectLst/>
                          <a:latin typeface="Courier New" panose="02070309020205020404" pitchFamily="49" charset="0"/>
                        </a:rPr>
                        <a:t># ------------------------------------------------------------</a:t>
                      </a:r>
                      <a:endParaRPr lang="en-IN" sz="1100" dirty="0">
                        <a:solidFill>
                          <a:srgbClr val="EEFFFF"/>
                        </a:solidFill>
                        <a:effectLst/>
                        <a:latin typeface="Courier New" panose="02070309020205020404" pitchFamily="49" charset="0"/>
                      </a:endParaRPr>
                    </a:p>
                    <a:p>
                      <a:pPr algn="l" rtl="0" fontAlgn="t"/>
                      <a:r>
                        <a:rPr lang="en-IN" sz="1100" noProof="0" dirty="0">
                          <a:solidFill>
                            <a:srgbClr val="F07178"/>
                          </a:solidFill>
                          <a:effectLst/>
                          <a:latin typeface="Courier New" panose="02070309020205020404" pitchFamily="49" charset="0"/>
                        </a:rPr>
                        <a:t>yield_by_season</a:t>
                      </a:r>
                      <a:r>
                        <a:rPr lang="en-IN" sz="1100" noProof="0" dirty="0">
                          <a:solidFill>
                            <a:srgbClr val="EEFFFF"/>
                          </a:solidFill>
                          <a:effectLst/>
                          <a:latin typeface="Courier New" panose="02070309020205020404" pitchFamily="49" charset="0"/>
                        </a:rPr>
                        <a:t> </a:t>
                      </a:r>
                      <a:r>
                        <a:rPr lang="en-IN" sz="1100" noProof="0" dirty="0">
                          <a:solidFill>
                            <a:srgbClr val="89DDFF"/>
                          </a:solidFill>
                          <a:effectLst/>
                          <a:latin typeface="Courier New" panose="02070309020205020404" pitchFamily="49" charset="0"/>
                        </a:rPr>
                        <a:t>=</a:t>
                      </a:r>
                      <a:r>
                        <a:rPr lang="en-IN" sz="1100" noProof="0" dirty="0">
                          <a:solidFill>
                            <a:srgbClr val="EEFFFF"/>
                          </a:solidFill>
                          <a:effectLst/>
                          <a:latin typeface="Courier New" panose="02070309020205020404" pitchFamily="49" charset="0"/>
                        </a:rPr>
                        <a:t> (</a:t>
                      </a:r>
                    </a:p>
                    <a:p>
                      <a:pPr algn="l" rtl="0" fontAlgn="t"/>
                      <a:r>
                        <a:rPr lang="en-IN" sz="1100" noProof="0" dirty="0">
                          <a:solidFill>
                            <a:srgbClr val="EEFFFF"/>
                          </a:solidFill>
                          <a:effectLst/>
                          <a:latin typeface="Courier New" panose="02070309020205020404" pitchFamily="49" charset="0"/>
                        </a:rPr>
                        <a:t>   </a:t>
                      </a:r>
                      <a:r>
                        <a:rPr lang="en-IN" sz="1100" noProof="0" dirty="0">
                          <a:solidFill>
                            <a:srgbClr val="F07178"/>
                          </a:solidFill>
                          <a:effectLst/>
                          <a:latin typeface="Courier New" panose="02070309020205020404" pitchFamily="49" charset="0"/>
                        </a:rPr>
                        <a:t>df</a:t>
                      </a:r>
                      <a:r>
                        <a:rPr lang="en-IN" sz="1100" noProof="0" dirty="0">
                          <a:solidFill>
                            <a:srgbClr val="EEFFFF"/>
                          </a:solidFill>
                          <a:effectLst/>
                          <a:latin typeface="Courier New" panose="02070309020205020404" pitchFamily="49" charset="0"/>
                        </a:rPr>
                        <a:t>.</a:t>
                      </a:r>
                      <a:r>
                        <a:rPr lang="en-IN" sz="1100" noProof="0" dirty="0">
                          <a:solidFill>
                            <a:srgbClr val="C792EA"/>
                          </a:solidFill>
                          <a:effectLst/>
                          <a:latin typeface="Courier New" panose="02070309020205020404" pitchFamily="49" charset="0"/>
                        </a:rPr>
                        <a:t>groupby</a:t>
                      </a:r>
                      <a:r>
                        <a:rPr lang="en-IN" sz="1100" noProof="0" dirty="0">
                          <a:solidFill>
                            <a:srgbClr val="EEFFFF"/>
                          </a:solidFill>
                          <a:effectLst/>
                          <a:latin typeface="Courier New" panose="02070309020205020404" pitchFamily="49" charset="0"/>
                        </a:rPr>
                        <a:t>(</a:t>
                      </a:r>
                      <a:r>
                        <a:rPr lang="en-IN" sz="1100" noProof="0" dirty="0">
                          <a:solidFill>
                            <a:srgbClr val="C3E88D"/>
                          </a:solidFill>
                          <a:effectLst/>
                          <a:latin typeface="Courier New" panose="02070309020205020404" pitchFamily="49" charset="0"/>
                        </a:rPr>
                        <a:t>"Season"</a:t>
                      </a:r>
                      <a:r>
                        <a:rPr lang="en-IN" sz="1100" noProof="0" dirty="0">
                          <a:solidFill>
                            <a:srgbClr val="EEFFFF"/>
                          </a:solidFill>
                          <a:effectLst/>
                          <a:latin typeface="Courier New" panose="02070309020205020404" pitchFamily="49" charset="0"/>
                        </a:rPr>
                        <a:t>)[</a:t>
                      </a:r>
                      <a:r>
                        <a:rPr lang="en-IN" sz="1100" noProof="0" dirty="0">
                          <a:solidFill>
                            <a:srgbClr val="C3E88D"/>
                          </a:solidFill>
                          <a:effectLst/>
                          <a:latin typeface="Courier New" panose="02070309020205020404" pitchFamily="49" charset="0"/>
                        </a:rPr>
                        <a:t>"Yield_Tonnes_Ha"</a:t>
                      </a:r>
                      <a:r>
                        <a:rPr lang="en-IN" sz="1100" noProof="0" dirty="0">
                          <a:solidFill>
                            <a:srgbClr val="EEFFFF"/>
                          </a:solidFill>
                          <a:effectLst/>
                          <a:latin typeface="Courier New" panose="02070309020205020404" pitchFamily="49" charset="0"/>
                        </a:rPr>
                        <a:t>]</a:t>
                      </a:r>
                    </a:p>
                    <a:p>
                      <a:pPr algn="l" rtl="0" fontAlgn="t"/>
                      <a:r>
                        <a:rPr lang="en-IN" sz="1100" noProof="0" dirty="0">
                          <a:solidFill>
                            <a:srgbClr val="EEFFFF"/>
                          </a:solidFill>
                          <a:effectLst/>
                          <a:latin typeface="Courier New" panose="02070309020205020404" pitchFamily="49" charset="0"/>
                        </a:rPr>
                        <a:t>  .</a:t>
                      </a:r>
                      <a:r>
                        <a:rPr lang="en-IN" sz="1100" noProof="0" dirty="0">
                          <a:solidFill>
                            <a:srgbClr val="C792EA"/>
                          </a:solidFill>
                          <a:effectLst/>
                          <a:latin typeface="Courier New" panose="02070309020205020404" pitchFamily="49" charset="0"/>
                        </a:rPr>
                        <a:t>mean</a:t>
                      </a:r>
                      <a:r>
                        <a:rPr lang="en-IN" sz="1100" noProof="0" dirty="0">
                          <a:solidFill>
                            <a:srgbClr val="EEFFFF"/>
                          </a:solidFill>
                          <a:effectLst/>
                          <a:latin typeface="Courier New" panose="02070309020205020404" pitchFamily="49" charset="0"/>
                        </a:rPr>
                        <a:t>()</a:t>
                      </a:r>
                    </a:p>
                    <a:p>
                      <a:pPr algn="l" rtl="0" fontAlgn="t"/>
                      <a:r>
                        <a:rPr lang="en-IN" sz="1100" noProof="0" dirty="0">
                          <a:solidFill>
                            <a:srgbClr val="EEFFFF"/>
                          </a:solidFill>
                          <a:effectLst/>
                          <a:latin typeface="Courier New" panose="02070309020205020404" pitchFamily="49" charset="0"/>
                        </a:rPr>
                        <a:t>  .</a:t>
                      </a:r>
                      <a:r>
                        <a:rPr lang="en-IN" sz="1100" noProof="0" dirty="0">
                          <a:solidFill>
                            <a:srgbClr val="C792EA"/>
                          </a:solidFill>
                          <a:effectLst/>
                          <a:latin typeface="Courier New" panose="02070309020205020404" pitchFamily="49" charset="0"/>
                        </a:rPr>
                        <a:t>sort_values</a:t>
                      </a:r>
                      <a:r>
                        <a:rPr lang="en-IN" sz="1100" noProof="0" dirty="0">
                          <a:solidFill>
                            <a:srgbClr val="EEFFFF"/>
                          </a:solidFill>
                          <a:effectLst/>
                          <a:latin typeface="Courier New" panose="02070309020205020404" pitchFamily="49" charset="0"/>
                        </a:rPr>
                        <a:t>(</a:t>
                      </a:r>
                      <a:r>
                        <a:rPr lang="en-IN" sz="1100" noProof="0" dirty="0">
                          <a:solidFill>
                            <a:srgbClr val="F07178"/>
                          </a:solidFill>
                          <a:effectLst/>
                          <a:latin typeface="Courier New" panose="02070309020205020404" pitchFamily="49" charset="0"/>
                        </a:rPr>
                        <a:t>ascending</a:t>
                      </a:r>
                      <a:r>
                        <a:rPr lang="en-IN" sz="1100" noProof="0" dirty="0">
                          <a:solidFill>
                            <a:srgbClr val="89DDFF"/>
                          </a:solidFill>
                          <a:effectLst/>
                          <a:latin typeface="Courier New" panose="02070309020205020404" pitchFamily="49" charset="0"/>
                        </a:rPr>
                        <a:t>=</a:t>
                      </a:r>
                      <a:r>
                        <a:rPr lang="en-IN" sz="1100" noProof="0" dirty="0">
                          <a:solidFill>
                            <a:srgbClr val="C792EA"/>
                          </a:solidFill>
                          <a:effectLst/>
                          <a:latin typeface="Courier New" panose="02070309020205020404" pitchFamily="49" charset="0"/>
                        </a:rPr>
                        <a:t>False</a:t>
                      </a:r>
                      <a:r>
                        <a:rPr lang="en-IN" sz="1100" noProof="0" dirty="0">
                          <a:solidFill>
                            <a:srgbClr val="EEFFFF"/>
                          </a:solidFill>
                          <a:effectLst/>
                          <a:latin typeface="Courier New" panose="02070309020205020404" pitchFamily="49" charset="0"/>
                        </a:rPr>
                        <a:t>)</a:t>
                      </a:r>
                    </a:p>
                    <a:p>
                      <a:pPr algn="l" rtl="0" fontAlgn="t"/>
                      <a:r>
                        <a:rPr lang="en-IN" sz="1100" noProof="0" dirty="0">
                          <a:solidFill>
                            <a:srgbClr val="EEFFFF"/>
                          </a:solidFill>
                          <a:effectLst/>
                          <a:latin typeface="Courier New" panose="02070309020205020404" pitchFamily="49" charset="0"/>
                        </a:rPr>
                        <a:t>)</a:t>
                      </a:r>
                    </a:p>
                    <a:p>
                      <a:pPr algn="l" rtl="0" fontAlgn="t"/>
                      <a:r>
                        <a:rPr lang="en-IN" sz="1100" noProof="0" dirty="0">
                          <a:solidFill>
                            <a:srgbClr val="F07178"/>
                          </a:solidFill>
                          <a:effectLst/>
                          <a:latin typeface="Courier New" panose="02070309020205020404" pitchFamily="49" charset="0"/>
                        </a:rPr>
                        <a:t>display</a:t>
                      </a:r>
                      <a:r>
                        <a:rPr lang="en-IN" sz="1100" noProof="0" dirty="0">
                          <a:solidFill>
                            <a:srgbClr val="EEFFFF"/>
                          </a:solidFill>
                          <a:effectLst/>
                          <a:latin typeface="Courier New" panose="02070309020205020404" pitchFamily="49" charset="0"/>
                        </a:rPr>
                        <a:t>(</a:t>
                      </a:r>
                      <a:r>
                        <a:rPr lang="en-IN" sz="1100" noProof="0" dirty="0">
                          <a:solidFill>
                            <a:srgbClr val="F07178"/>
                          </a:solidFill>
                          <a:effectLst/>
                          <a:latin typeface="Courier New" panose="02070309020205020404" pitchFamily="49" charset="0"/>
                        </a:rPr>
                        <a:t>yield_by_season</a:t>
                      </a:r>
                      <a:r>
                        <a:rPr lang="en-IN" sz="1100" noProof="0" dirty="0">
                          <a:solidFill>
                            <a:srgbClr val="EEFFFF"/>
                          </a:solidFill>
                          <a:effectLst/>
                          <a:latin typeface="Courier New" panose="02070309020205020404" pitchFamily="49" charset="0"/>
                        </a:rPr>
                        <a:t>)</a:t>
                      </a:r>
                    </a:p>
                    <a:p>
                      <a:pPr algn="l" rtl="0" fontAlgn="t"/>
                      <a:r>
                        <a:rPr lang="en-IN" sz="1100" noProof="0" dirty="0">
                          <a:solidFill>
                            <a:srgbClr val="F07178"/>
                          </a:solidFill>
                          <a:effectLst/>
                          <a:latin typeface="Courier New" panose="02070309020205020404" pitchFamily="49" charset="0"/>
                        </a:rPr>
                        <a:t>plt</a:t>
                      </a:r>
                      <a:r>
                        <a:rPr lang="en-IN" sz="1100" noProof="0" dirty="0">
                          <a:solidFill>
                            <a:srgbClr val="EEFFFF"/>
                          </a:solidFill>
                          <a:effectLst/>
                          <a:latin typeface="Courier New" panose="02070309020205020404" pitchFamily="49" charset="0"/>
                        </a:rPr>
                        <a:t>.</a:t>
                      </a:r>
                      <a:r>
                        <a:rPr lang="en-IN" sz="1100" noProof="0" dirty="0">
                          <a:solidFill>
                            <a:srgbClr val="C792EA"/>
                          </a:solidFill>
                          <a:effectLst/>
                          <a:latin typeface="Courier New" panose="02070309020205020404" pitchFamily="49" charset="0"/>
                        </a:rPr>
                        <a:t>figure</a:t>
                      </a:r>
                      <a:r>
                        <a:rPr lang="en-IN" sz="1100" noProof="0" dirty="0">
                          <a:solidFill>
                            <a:srgbClr val="EEFFFF"/>
                          </a:solidFill>
                          <a:effectLst/>
                          <a:latin typeface="Courier New" panose="02070309020205020404" pitchFamily="49" charset="0"/>
                        </a:rPr>
                        <a:t>(</a:t>
                      </a:r>
                      <a:r>
                        <a:rPr lang="en-IN" sz="1100" noProof="0" dirty="0">
                          <a:solidFill>
                            <a:srgbClr val="F07178"/>
                          </a:solidFill>
                          <a:effectLst/>
                          <a:latin typeface="Courier New" panose="02070309020205020404" pitchFamily="49" charset="0"/>
                        </a:rPr>
                        <a:t>figsize</a:t>
                      </a:r>
                      <a:r>
                        <a:rPr lang="en-IN" sz="1100" noProof="0" dirty="0">
                          <a:solidFill>
                            <a:srgbClr val="89DDFF"/>
                          </a:solidFill>
                          <a:effectLst/>
                          <a:latin typeface="Courier New" panose="02070309020205020404" pitchFamily="49" charset="0"/>
                        </a:rPr>
                        <a:t>=</a:t>
                      </a:r>
                      <a:r>
                        <a:rPr lang="en-IN" sz="1100" noProof="0" dirty="0">
                          <a:solidFill>
                            <a:srgbClr val="EEFFFF"/>
                          </a:solidFill>
                          <a:effectLst/>
                          <a:latin typeface="Courier New" panose="02070309020205020404" pitchFamily="49" charset="0"/>
                        </a:rPr>
                        <a:t>(</a:t>
                      </a:r>
                      <a:r>
                        <a:rPr lang="en-IN" sz="1100" noProof="0" dirty="0">
                          <a:solidFill>
                            <a:srgbClr val="FF5370"/>
                          </a:solidFill>
                          <a:effectLst/>
                          <a:latin typeface="Courier New" panose="02070309020205020404" pitchFamily="49" charset="0"/>
                        </a:rPr>
                        <a:t>9</a:t>
                      </a:r>
                      <a:r>
                        <a:rPr lang="en-IN" sz="1100" noProof="0" dirty="0">
                          <a:solidFill>
                            <a:srgbClr val="EEFFFF"/>
                          </a:solidFill>
                          <a:effectLst/>
                          <a:latin typeface="Courier New" panose="02070309020205020404" pitchFamily="49" charset="0"/>
                        </a:rPr>
                        <a:t>, </a:t>
                      </a:r>
                      <a:r>
                        <a:rPr lang="en-IN" sz="1100" noProof="0" dirty="0">
                          <a:solidFill>
                            <a:srgbClr val="FF5370"/>
                          </a:solidFill>
                          <a:effectLst/>
                          <a:latin typeface="Courier New" panose="02070309020205020404" pitchFamily="49" charset="0"/>
                        </a:rPr>
                        <a:t>5</a:t>
                      </a:r>
                      <a:r>
                        <a:rPr lang="en-IN" sz="1100" noProof="0" dirty="0">
                          <a:solidFill>
                            <a:srgbClr val="EEFFFF"/>
                          </a:solidFill>
                          <a:effectLst/>
                          <a:latin typeface="Courier New" panose="02070309020205020404" pitchFamily="49" charset="0"/>
                        </a:rPr>
                        <a:t>))</a:t>
                      </a:r>
                    </a:p>
                    <a:p>
                      <a:pPr algn="l" rtl="0" fontAlgn="t"/>
                      <a:r>
                        <a:rPr lang="en-IN" sz="1100" noProof="0" dirty="0">
                          <a:solidFill>
                            <a:srgbClr val="F07178"/>
                          </a:solidFill>
                          <a:effectLst/>
                          <a:latin typeface="Courier New" panose="02070309020205020404" pitchFamily="49" charset="0"/>
                        </a:rPr>
                        <a:t>sns</a:t>
                      </a:r>
                      <a:r>
                        <a:rPr lang="en-IN" sz="1100" noProof="0" dirty="0">
                          <a:solidFill>
                            <a:srgbClr val="EEFFFF"/>
                          </a:solidFill>
                          <a:effectLst/>
                          <a:latin typeface="Courier New" panose="02070309020205020404" pitchFamily="49" charset="0"/>
                        </a:rPr>
                        <a:t>.</a:t>
                      </a:r>
                      <a:r>
                        <a:rPr lang="en-IN" sz="1100" noProof="0" dirty="0">
                          <a:solidFill>
                            <a:srgbClr val="C792EA"/>
                          </a:solidFill>
                          <a:effectLst/>
                          <a:latin typeface="Courier New" panose="02070309020205020404" pitchFamily="49" charset="0"/>
                        </a:rPr>
                        <a:t>barplot</a:t>
                      </a:r>
                      <a:r>
                        <a:rPr lang="en-IN" sz="1100" noProof="0" dirty="0">
                          <a:solidFill>
                            <a:srgbClr val="EEFFFF"/>
                          </a:solidFill>
                          <a:effectLst/>
                          <a:latin typeface="Courier New" panose="02070309020205020404" pitchFamily="49" charset="0"/>
                        </a:rPr>
                        <a:t>(</a:t>
                      </a:r>
                    </a:p>
                    <a:p>
                      <a:pPr algn="l" rtl="0" fontAlgn="t"/>
                      <a:r>
                        <a:rPr lang="en-IN" sz="1100" noProof="0" dirty="0">
                          <a:solidFill>
                            <a:srgbClr val="EEFFFF"/>
                          </a:solidFill>
                          <a:effectLst/>
                          <a:latin typeface="Courier New" panose="02070309020205020404" pitchFamily="49" charset="0"/>
                        </a:rPr>
                        <a:t>   </a:t>
                      </a:r>
                      <a:r>
                        <a:rPr lang="en-IN" sz="1100" noProof="0" dirty="0">
                          <a:solidFill>
                            <a:srgbClr val="F07178"/>
                          </a:solidFill>
                          <a:effectLst/>
                          <a:latin typeface="Courier New" panose="02070309020205020404" pitchFamily="49" charset="0"/>
                        </a:rPr>
                        <a:t>x</a:t>
                      </a:r>
                      <a:r>
                        <a:rPr lang="en-IN" sz="1100" noProof="0" dirty="0">
                          <a:solidFill>
                            <a:srgbClr val="89DDFF"/>
                          </a:solidFill>
                          <a:effectLst/>
                          <a:latin typeface="Courier New" panose="02070309020205020404" pitchFamily="49" charset="0"/>
                        </a:rPr>
                        <a:t>=</a:t>
                      </a:r>
                      <a:r>
                        <a:rPr lang="en-IN" sz="1100" noProof="0" dirty="0">
                          <a:solidFill>
                            <a:srgbClr val="F07178"/>
                          </a:solidFill>
                          <a:effectLst/>
                          <a:latin typeface="Courier New" panose="02070309020205020404" pitchFamily="49" charset="0"/>
                        </a:rPr>
                        <a:t>yield_by_season</a:t>
                      </a:r>
                      <a:r>
                        <a:rPr lang="en-IN" sz="1100" noProof="0" dirty="0">
                          <a:solidFill>
                            <a:srgbClr val="EEFFFF"/>
                          </a:solidFill>
                          <a:effectLst/>
                          <a:latin typeface="Courier New" panose="02070309020205020404" pitchFamily="49" charset="0"/>
                        </a:rPr>
                        <a:t>.</a:t>
                      </a:r>
                      <a:r>
                        <a:rPr lang="en-IN" sz="1100" noProof="0" dirty="0">
                          <a:solidFill>
                            <a:srgbClr val="C792EA"/>
                          </a:solidFill>
                          <a:effectLst/>
                          <a:latin typeface="Courier New" panose="02070309020205020404" pitchFamily="49" charset="0"/>
                        </a:rPr>
                        <a:t>index</a:t>
                      </a:r>
                      <a:r>
                        <a:rPr lang="en-IN" sz="1100" noProof="0" dirty="0">
                          <a:solidFill>
                            <a:srgbClr val="EEFFFF"/>
                          </a:solidFill>
                          <a:effectLst/>
                          <a:latin typeface="Courier New" panose="02070309020205020404" pitchFamily="49" charset="0"/>
                        </a:rPr>
                        <a:t>,</a:t>
                      </a:r>
                    </a:p>
                    <a:p>
                      <a:pPr algn="l" rtl="0" fontAlgn="t"/>
                      <a:r>
                        <a:rPr lang="en-IN" sz="1100" noProof="0" dirty="0">
                          <a:solidFill>
                            <a:srgbClr val="EEFFFF"/>
                          </a:solidFill>
                          <a:effectLst/>
                          <a:latin typeface="Courier New" panose="02070309020205020404" pitchFamily="49" charset="0"/>
                        </a:rPr>
                        <a:t>   </a:t>
                      </a:r>
                      <a:r>
                        <a:rPr lang="en-IN" sz="1100" noProof="0" dirty="0">
                          <a:solidFill>
                            <a:srgbClr val="F07178"/>
                          </a:solidFill>
                          <a:effectLst/>
                          <a:latin typeface="Courier New" panose="02070309020205020404" pitchFamily="49" charset="0"/>
                        </a:rPr>
                        <a:t>y</a:t>
                      </a:r>
                      <a:r>
                        <a:rPr lang="en-IN" sz="1100" noProof="0" dirty="0">
                          <a:solidFill>
                            <a:srgbClr val="89DDFF"/>
                          </a:solidFill>
                          <a:effectLst/>
                          <a:latin typeface="Courier New" panose="02070309020205020404" pitchFamily="49" charset="0"/>
                        </a:rPr>
                        <a:t>=</a:t>
                      </a:r>
                      <a:r>
                        <a:rPr lang="en-IN" sz="1100" noProof="0" dirty="0">
                          <a:solidFill>
                            <a:srgbClr val="F07178"/>
                          </a:solidFill>
                          <a:effectLst/>
                          <a:latin typeface="Courier New" panose="02070309020205020404" pitchFamily="49" charset="0"/>
                        </a:rPr>
                        <a:t>yield_by_season</a:t>
                      </a:r>
                      <a:r>
                        <a:rPr lang="en-IN" sz="1100" noProof="0" dirty="0">
                          <a:solidFill>
                            <a:srgbClr val="EEFFFF"/>
                          </a:solidFill>
                          <a:effectLst/>
                          <a:latin typeface="Courier New" panose="02070309020205020404" pitchFamily="49" charset="0"/>
                        </a:rPr>
                        <a:t>.</a:t>
                      </a:r>
                      <a:r>
                        <a:rPr lang="en-IN" sz="1100" noProof="0" dirty="0">
                          <a:solidFill>
                            <a:srgbClr val="C792EA"/>
                          </a:solidFill>
                          <a:effectLst/>
                          <a:latin typeface="Courier New" panose="02070309020205020404" pitchFamily="49" charset="0"/>
                        </a:rPr>
                        <a:t>values</a:t>
                      </a:r>
                      <a:endParaRPr lang="en-IN" sz="1100" noProof="0" dirty="0">
                        <a:solidFill>
                          <a:srgbClr val="EEFFFF"/>
                        </a:solidFill>
                        <a:effectLst/>
                        <a:latin typeface="Courier New" panose="02070309020205020404" pitchFamily="49" charset="0"/>
                      </a:endParaRPr>
                    </a:p>
                    <a:p>
                      <a:pPr algn="l" rtl="0" fontAlgn="t"/>
                      <a:r>
                        <a:rPr lang="en-IN" sz="1100" noProof="0" dirty="0">
                          <a:solidFill>
                            <a:srgbClr val="EEFFFF"/>
                          </a:solidFill>
                          <a:effectLst/>
                          <a:latin typeface="Courier New" panose="02070309020205020404" pitchFamily="49" charset="0"/>
                        </a:rPr>
                        <a:t>)</a:t>
                      </a:r>
                    </a:p>
                    <a:p>
                      <a:pPr algn="l" rtl="0" fontAlgn="t"/>
                      <a:r>
                        <a:rPr lang="en-IN" sz="1100" noProof="0" dirty="0">
                          <a:solidFill>
                            <a:srgbClr val="F07178"/>
                          </a:solidFill>
                          <a:effectLst/>
                          <a:latin typeface="Courier New" panose="02070309020205020404" pitchFamily="49" charset="0"/>
                        </a:rPr>
                        <a:t>plt</a:t>
                      </a:r>
                      <a:r>
                        <a:rPr lang="en-IN" sz="1100" noProof="0" dirty="0">
                          <a:solidFill>
                            <a:srgbClr val="EEFFFF"/>
                          </a:solidFill>
                          <a:effectLst/>
                          <a:latin typeface="Courier New" panose="02070309020205020404" pitchFamily="49" charset="0"/>
                        </a:rPr>
                        <a:t>.</a:t>
                      </a:r>
                      <a:r>
                        <a:rPr lang="en-IN" sz="1100" noProof="0" dirty="0">
                          <a:solidFill>
                            <a:srgbClr val="C792EA"/>
                          </a:solidFill>
                          <a:effectLst/>
                          <a:latin typeface="Courier New" panose="02070309020205020404" pitchFamily="49" charset="0"/>
                        </a:rPr>
                        <a:t>title</a:t>
                      </a:r>
                      <a:r>
                        <a:rPr lang="en-IN" sz="1100" noProof="0" dirty="0">
                          <a:solidFill>
                            <a:srgbClr val="EEFFFF"/>
                          </a:solidFill>
                          <a:effectLst/>
                          <a:latin typeface="Courier New" panose="02070309020205020404" pitchFamily="49" charset="0"/>
                        </a:rPr>
                        <a:t>(</a:t>
                      </a:r>
                      <a:r>
                        <a:rPr lang="en-IN" sz="1100" noProof="0" dirty="0">
                          <a:solidFill>
                            <a:srgbClr val="C3E88D"/>
                          </a:solidFill>
                          <a:effectLst/>
                          <a:latin typeface="Courier New" panose="02070309020205020404" pitchFamily="49" charset="0"/>
                        </a:rPr>
                        <a:t>"Average Crop Yield by Season"</a:t>
                      </a:r>
                      <a:r>
                        <a:rPr lang="en-IN" sz="1100" noProof="0" dirty="0">
                          <a:solidFill>
                            <a:srgbClr val="EEFFFF"/>
                          </a:solidFill>
                          <a:effectLst/>
                          <a:latin typeface="Courier New" panose="02070309020205020404" pitchFamily="49" charset="0"/>
                        </a:rPr>
                        <a:t>)</a:t>
                      </a:r>
                    </a:p>
                    <a:p>
                      <a:pPr algn="l" rtl="0" fontAlgn="t"/>
                      <a:r>
                        <a:rPr lang="en-IN" sz="1100" noProof="0" dirty="0">
                          <a:solidFill>
                            <a:srgbClr val="F07178"/>
                          </a:solidFill>
                          <a:effectLst/>
                          <a:latin typeface="Courier New" panose="02070309020205020404" pitchFamily="49" charset="0"/>
                        </a:rPr>
                        <a:t>plt</a:t>
                      </a:r>
                      <a:r>
                        <a:rPr lang="en-IN" sz="1100" noProof="0" dirty="0">
                          <a:solidFill>
                            <a:srgbClr val="EEFFFF"/>
                          </a:solidFill>
                          <a:effectLst/>
                          <a:latin typeface="Courier New" panose="02070309020205020404" pitchFamily="49" charset="0"/>
                        </a:rPr>
                        <a:t>.</a:t>
                      </a:r>
                      <a:r>
                        <a:rPr lang="en-IN" sz="1100" noProof="0" dirty="0">
                          <a:solidFill>
                            <a:srgbClr val="C792EA"/>
                          </a:solidFill>
                          <a:effectLst/>
                          <a:latin typeface="Courier New" panose="02070309020205020404" pitchFamily="49" charset="0"/>
                        </a:rPr>
                        <a:t>xlabel</a:t>
                      </a:r>
                      <a:r>
                        <a:rPr lang="en-IN" sz="1100" noProof="0" dirty="0">
                          <a:solidFill>
                            <a:srgbClr val="EEFFFF"/>
                          </a:solidFill>
                          <a:effectLst/>
                          <a:latin typeface="Courier New" panose="02070309020205020404" pitchFamily="49" charset="0"/>
                        </a:rPr>
                        <a:t>(</a:t>
                      </a:r>
                      <a:r>
                        <a:rPr lang="en-IN" sz="1100" noProof="0" dirty="0">
                          <a:solidFill>
                            <a:srgbClr val="C3E88D"/>
                          </a:solidFill>
                          <a:effectLst/>
                          <a:latin typeface="Courier New" panose="02070309020205020404" pitchFamily="49" charset="0"/>
                        </a:rPr>
                        <a:t>"Season"</a:t>
                      </a:r>
                      <a:r>
                        <a:rPr lang="en-IN" sz="1100" noProof="0" dirty="0">
                          <a:solidFill>
                            <a:srgbClr val="EEFFFF"/>
                          </a:solidFill>
                          <a:effectLst/>
                          <a:latin typeface="Courier New" panose="02070309020205020404" pitchFamily="49" charset="0"/>
                        </a:rPr>
                        <a:t>)</a:t>
                      </a:r>
                    </a:p>
                    <a:p>
                      <a:pPr algn="l" rtl="0" fontAlgn="t"/>
                      <a:r>
                        <a:rPr lang="en-IN" sz="1100" noProof="0" dirty="0">
                          <a:solidFill>
                            <a:srgbClr val="F07178"/>
                          </a:solidFill>
                          <a:effectLst/>
                          <a:latin typeface="Courier New" panose="02070309020205020404" pitchFamily="49" charset="0"/>
                        </a:rPr>
                        <a:t>plt</a:t>
                      </a:r>
                      <a:r>
                        <a:rPr lang="en-IN" sz="1100" noProof="0" dirty="0">
                          <a:solidFill>
                            <a:srgbClr val="EEFFFF"/>
                          </a:solidFill>
                          <a:effectLst/>
                          <a:latin typeface="Courier New" panose="02070309020205020404" pitchFamily="49" charset="0"/>
                        </a:rPr>
                        <a:t>.</a:t>
                      </a:r>
                      <a:r>
                        <a:rPr lang="en-IN" sz="1100" noProof="0" dirty="0">
                          <a:solidFill>
                            <a:srgbClr val="C792EA"/>
                          </a:solidFill>
                          <a:effectLst/>
                          <a:latin typeface="Courier New" panose="02070309020205020404" pitchFamily="49" charset="0"/>
                        </a:rPr>
                        <a:t>ylabel</a:t>
                      </a:r>
                      <a:r>
                        <a:rPr lang="en-IN" sz="1100" noProof="0" dirty="0">
                          <a:solidFill>
                            <a:srgbClr val="EEFFFF"/>
                          </a:solidFill>
                          <a:effectLst/>
                          <a:latin typeface="Courier New" panose="02070309020205020404" pitchFamily="49" charset="0"/>
                        </a:rPr>
                        <a:t>(</a:t>
                      </a:r>
                      <a:r>
                        <a:rPr lang="en-IN" sz="1100" noProof="0" dirty="0">
                          <a:solidFill>
                            <a:srgbClr val="C3E88D"/>
                          </a:solidFill>
                          <a:effectLst/>
                          <a:latin typeface="Courier New" panose="02070309020205020404" pitchFamily="49" charset="0"/>
                        </a:rPr>
                        <a:t>"Average Yield (Tonnes/Ha)"</a:t>
                      </a:r>
                      <a:r>
                        <a:rPr lang="en-IN" sz="1100" noProof="0" dirty="0">
                          <a:solidFill>
                            <a:srgbClr val="EEFFFF"/>
                          </a:solidFill>
                          <a:effectLst/>
                          <a:latin typeface="Courier New" panose="02070309020205020404" pitchFamily="49" charset="0"/>
                        </a:rPr>
                        <a:t>)</a:t>
                      </a:r>
                    </a:p>
                    <a:p>
                      <a:pPr algn="l" rtl="0" fontAlgn="t"/>
                      <a:r>
                        <a:rPr lang="en-IN" sz="1100" noProof="0" dirty="0">
                          <a:solidFill>
                            <a:srgbClr val="F07178"/>
                          </a:solidFill>
                          <a:effectLst/>
                          <a:latin typeface="Courier New" panose="02070309020205020404" pitchFamily="49" charset="0"/>
                        </a:rPr>
                        <a:t>plt</a:t>
                      </a:r>
                      <a:r>
                        <a:rPr lang="en-IN" sz="1100" noProof="0" dirty="0">
                          <a:solidFill>
                            <a:srgbClr val="EEFFFF"/>
                          </a:solidFill>
                          <a:effectLst/>
                          <a:latin typeface="Courier New" panose="02070309020205020404" pitchFamily="49" charset="0"/>
                        </a:rPr>
                        <a:t>.</a:t>
                      </a:r>
                      <a:r>
                        <a:rPr lang="en-IN" sz="1100" noProof="0" dirty="0">
                          <a:solidFill>
                            <a:srgbClr val="C792EA"/>
                          </a:solidFill>
                          <a:effectLst/>
                          <a:latin typeface="Courier New" panose="02070309020205020404" pitchFamily="49" charset="0"/>
                        </a:rPr>
                        <a:t>xticks</a:t>
                      </a:r>
                      <a:r>
                        <a:rPr lang="en-IN" sz="1100" noProof="0" dirty="0">
                          <a:solidFill>
                            <a:srgbClr val="EEFFFF"/>
                          </a:solidFill>
                          <a:effectLst/>
                          <a:latin typeface="Courier New" panose="02070309020205020404" pitchFamily="49" charset="0"/>
                        </a:rPr>
                        <a:t>(</a:t>
                      </a:r>
                      <a:r>
                        <a:rPr lang="en-IN" sz="1100" noProof="0" dirty="0">
                          <a:solidFill>
                            <a:srgbClr val="F07178"/>
                          </a:solidFill>
                          <a:effectLst/>
                          <a:latin typeface="Courier New" panose="02070309020205020404" pitchFamily="49" charset="0"/>
                        </a:rPr>
                        <a:t>rotation</a:t>
                      </a:r>
                      <a:r>
                        <a:rPr lang="en-IN" sz="1100" noProof="0" dirty="0">
                          <a:solidFill>
                            <a:srgbClr val="89DDFF"/>
                          </a:solidFill>
                          <a:effectLst/>
                          <a:latin typeface="Courier New" panose="02070309020205020404" pitchFamily="49" charset="0"/>
                        </a:rPr>
                        <a:t>=</a:t>
                      </a:r>
                      <a:r>
                        <a:rPr lang="en-IN" sz="1100" noProof="0" dirty="0">
                          <a:solidFill>
                            <a:srgbClr val="FF5370"/>
                          </a:solidFill>
                          <a:effectLst/>
                          <a:latin typeface="Courier New" panose="02070309020205020404" pitchFamily="49" charset="0"/>
                        </a:rPr>
                        <a:t>30</a:t>
                      </a:r>
                      <a:r>
                        <a:rPr lang="en-IN" sz="1100" noProof="0" dirty="0">
                          <a:solidFill>
                            <a:srgbClr val="EEFFFF"/>
                          </a:solidFill>
                          <a:effectLst/>
                          <a:latin typeface="Courier New" panose="02070309020205020404" pitchFamily="49" charset="0"/>
                        </a:rPr>
                        <a:t>)</a:t>
                      </a:r>
                    </a:p>
                    <a:p>
                      <a:pPr algn="l" rtl="0" fontAlgn="t"/>
                      <a:r>
                        <a:rPr lang="en-IN" sz="1100" noProof="0" dirty="0">
                          <a:solidFill>
                            <a:srgbClr val="F07178"/>
                          </a:solidFill>
                          <a:effectLst/>
                          <a:latin typeface="Courier New" panose="02070309020205020404" pitchFamily="49" charset="0"/>
                        </a:rPr>
                        <a:t>plt</a:t>
                      </a:r>
                      <a:r>
                        <a:rPr lang="en-IN" sz="1100" dirty="0">
                          <a:solidFill>
                            <a:srgbClr val="EEFFFF"/>
                          </a:solidFill>
                          <a:effectLst/>
                          <a:latin typeface="Courier New" panose="02070309020205020404" pitchFamily="49" charset="0"/>
                        </a:rPr>
                        <a:t>.</a:t>
                      </a:r>
                      <a:r>
                        <a:rPr lang="en-IN" sz="1100" dirty="0">
                          <a:solidFill>
                            <a:srgbClr val="C792EA"/>
                          </a:solidFill>
                          <a:effectLst/>
                          <a:latin typeface="Courier New" panose="02070309020205020404" pitchFamily="49" charset="0"/>
                        </a:rPr>
                        <a:t>show</a:t>
                      </a:r>
                      <a:r>
                        <a:rPr lang="en-IN" sz="1100" dirty="0" smtClean="0">
                          <a:solidFill>
                            <a:srgbClr val="EEFFFF"/>
                          </a:solidFill>
                          <a:effectLst/>
                          <a:latin typeface="Courier New" panose="02070309020205020404" pitchFamily="49" charset="0"/>
                        </a:rPr>
                        <a:t>()</a:t>
                      </a:r>
                    </a:p>
                  </a:txBody>
                  <a:tcPr marL="57932" marR="57932" marT="28966" marB="28966">
                    <a:lnL w="12700" cap="flat" cmpd="sng" algn="ctr">
                      <a:solidFill>
                        <a:srgbClr val="DBDBDB"/>
                      </a:solidFill>
                      <a:prstDash val="solid"/>
                      <a:round/>
                      <a:headEnd type="none" w="med" len="med"/>
                      <a:tailEnd type="none" w="med" len="med"/>
                    </a:lnL>
                    <a:lnR w="12700" cap="flat" cmpd="sng" algn="ctr">
                      <a:solidFill>
                        <a:srgbClr val="DBDBDB"/>
                      </a:solidFill>
                      <a:prstDash val="solid"/>
                      <a:round/>
                      <a:headEnd type="none" w="med" len="med"/>
                      <a:tailEnd type="none" w="med" len="med"/>
                    </a:lnR>
                    <a:lnT w="12700" cap="flat" cmpd="sng" algn="ctr">
                      <a:solidFill>
                        <a:srgbClr val="DBDBDB"/>
                      </a:solidFill>
                      <a:prstDash val="solid"/>
                      <a:round/>
                      <a:headEnd type="none" w="med" len="med"/>
                      <a:tailEnd type="none" w="med" len="med"/>
                    </a:lnT>
                    <a:lnB w="12700" cap="flat" cmpd="sng" algn="ctr">
                      <a:solidFill>
                        <a:srgbClr val="DBDBDB"/>
                      </a:solidFill>
                      <a:prstDash val="solid"/>
                      <a:round/>
                      <a:headEnd type="none" w="med" len="med"/>
                      <a:tailEnd type="none" w="med" len="med"/>
                    </a:lnB>
                    <a:solidFill>
                      <a:srgbClr val="263238"/>
                    </a:solidFill>
                  </a:tcPr>
                </a:tc>
              </a:tr>
            </a:tbl>
          </a:graphicData>
        </a:graphic>
      </p:graphicFrame>
      <p:sp>
        <p:nvSpPr>
          <p:cNvPr id="6" name="AutoShape 3" descr="data:image/png;base64,iVBORw0KGgoAAAANSUhEUgAAAvsAAAHzCAYAAAC+OtK+AAAAOnRFWHRTb2Z0d2FyZQBNYXRwbG90bGliIHZlcnNpb24zLjEwLjAsIGh0dHBzOi8vbWF0cGxvdGxpYi5vcmcvlHJYcgAAAAlwSFlzAAAPYQAAD2EBqD+naQAAV5FJREFUeJzt3Xd8jff///HnySJEEFIjsTURsYsgZuxVofZolX6sUqXDKFpqdahSo0rt0WrtvXdRVXvVJkZqCwlJ5Pr94ZfzbRoqOTlxkpPH/XZzu/Vc1/t6n1dOzrt5nuu8r/dlMgzDEAAAAAC742DrAgAAAAAkD8I+AAAAYKcI+wAAAICdIuwDAAAAdoqwDwAAANgpwj4AAABgpwj7AAAAgJ0i7AMAAAB2irAPAAAA2CnCPgAg2Xz33Xfy9fW16Nj+/fsrKCjohe1CQkLk6+urxYsX/2e7xYsXy9fXV0eOHLGoHgBIjQj7AF6qefPmydfXVy1atLB1KSnSkydPtGjRInXo0EHly5dXsWLFFBQUpAEDBqSYkLpq1Sr5+vrqp59+eub+Tz/9VP7+/jp58uRLrizl2Lx5s9q3b6+KFSuqZMmSqlmzpnr37q3t27fbujQAaQxhH8BLtWLFCnl5eenw4cO6ePGirctJUR49eqSuXbtq4MCBMgxDXbt21WeffaYmTZrowIEDatGiha5fv27rMtWwYUNVqVJFY8aM0c2bN+PsO3z4sBYuXKi33npLRYoUUffu3XX48GEbVWobP/74o7p37y6TyaSuXbtqwIABqlOnji5evKjVq1fbujwAaYyTrQsAkHZcvnxZBw4c0IQJEzRkyBCtWLFCPXv2fKk1xMTEKCoqSunSpXupz5sQX375pXbs2KEBAwaoY8eOcfb17NlTM2fO/M/jw8PDlSFDhuQr8B8+++wzNWrUSKNGjdKYMWMkPf1WYsiQIcqVK5d69eolSXJycpKTU9r5UxMdHa1JkyYpMDBQ06dPj7f/1q1bNqgKQFrGmX0AL82KFSuUOXNmVatWTXXr1tWKFSvM+6KiolS+fHkNGDAg3nEPHjxQ8eLF9cUXX5i3RUZGavz48apdu7aKFSumatWq6csvv1RkZGScY319fTVs2DAtX75cDRs2VPHixbVjxw5JT8/Atm7dWgEBASpRooSaNWumtWvXxnv+R48eafjw4QoICFDp0qXVrVs3hYaGytfXV999912ctqGhoRowYIAqVaqkYsWKqWHDhvr1119f+Npcv35dP//8swIDA+MFfUlydHRU586dlTNnTkn/Nxf+zJkz+uCDD1SuXDm1bdtW0tPAOXHiRNWqVcs8Deibb76J99oEBQWpa9eu2rlzp5o0aaLixYurQYMGWr9+/Qvr9fb2Vs+ePbVy5Urt2rVLkjRnzhydOHFCn332mVxdXePU+W/Lli1Ts2bNVKJECZUvX159+vTRtWvXXvi89+/fV//+/fXaa6+pbNmy6tevn8LCwl543D89evRIQ4YMUUBAgMqUKaOPP/5Y9+7dM+/v16+fAgICFBUVFe/YTp06qW7dus/t+86dO3rw4IHKlCnzzP3ZsmWL8zih7+NFixbpzTffVMWKFVWsWDE1aNBA8+fPj9f/kSNH1LlzZ/N7OnYK2D+Fh4dr9OjRqlatmooVK6a6devqxx9/lGEYcdrFjp2NGzeqUaNG5vczU5GA1CXtnG4BYHMrVqxQ7dq15eLiokaNGmnBggU6fPiwSpQoIWdnZ9WqVUsbNmzQ0KFD5eLiYj5u48aNioyMVIMGDSQ9PTvfvXt37d+/Xy1btlShQoX0119/adasWbpw4YImTZoU53n37NmjNWvWqF27dsqaNau8vLwkSbNnz1ZQUJAaN26sqKgorVq1Sr1799aUKVNUvXp18/H9+/fXmjVr1KRJE5UsWVL79u1Tly5d4v18N2/eVMuWLWUymdSuXTt5eHho+/bt+uSTT/TgwYNnhvhY27dvV3R0tF5//fVEvaa9e/dWvnz51KdPH3NYGzRokJYsWaK6devq7bff1uHDhzVlyhSdPXtWEydOjHP8hQsX1KdPH7Vu3VpNmzbVokWL1Lt3b02bNk2BgYH/+dwdO3bUihUr9Nlnn2natGkaN26cGjZsqKpVq/7ncZMnT9a4ceNUv359NW/eXLdv39bcuXPVrl07LV26VO7u7s88zjAM9ejRQ/v371fr1q1VqFAhbdiwQf369UvEKyYNGzZM7u7u6tmzp86fP68FCxbo6tWrmjNnjkwmk5o0aaKlS5dq586dqlGjhvm4GzduaM+ePXr33Xef23e2bNmUPn1685z9LFmyPLdtYt7HCxYs0KuvvqqgoCA5OTlpy5YtGjp0qAzDULt27SQ9/dagc+fOypo1q7p06SJ3d3eFhIRow4YNcV7D7t27a+/evWrevLn8/Py0Y8cOffnllwoNDdXAgQPj1Lh//36tX79ebdu2VcaMGTVnzhy999572rJli7JmzZqo1x2AjRgA8BIcOXLE8PHxMXbt2mUYhmHExMQYVatWNYYPH25us2PHDsPHx8fYvHlznGP/97//GTVr1jQ/Xrp0qVGkSBFj3759cdotWLDA8PHxMfbv32/e5uPjYxQpUsQ4ffp0vJoiIiLiPI6MjDQaNWpkvPnmm+ZtR48eNXx8fIwRI0bEadu/f3/Dx8fHGD9+vHnbwIEDjcDAQOP27dtx2vbp08d47bXX4j3fP40cOdLw8fExjh8//tw2/zR+/HjDx8fH6Nu3b5ztJ06cMHx8fIxPPvkkzvbRo0cbPj4+xu7du83batSoYfj4+Bjr1q0zbwsLCzMCAwON4ODgBNVx6NAho0iRIkb58uWNsmXLGjdu3HhmnbFCQkIMPz8/Y/LkyXHanTp1yihatGic7f369TNq1KhhfrxhwwbDx8fHmDp1qnlbdHS00bZtW8PHx8dYtGjRf9a6aNEiw8fHx2jatKkRGRlp3j516lTDx8fH2Lhxo2EYhvHkyROjatWqxvvvvx/n+BkzZhi+vr7GpUuX/vN5xo0bZ/j4+BilSpUy3nnnHWPy5MnG0aNH47VLzPv4We+dTp06xRkXsa/P4cOHn1tbbJtJkybF2d6rVy/D19fXuHjxonmbj4+P4e/vH2db7Ptrzpw5//EKAEhJmMYD4KVYsWKFsmfProCAAEmSyWRSgwYNtHr1aj158kSSVKFCBWXNmjXORYz37t3Tb7/9Zj6rL0lr165VoUKFVLBgQd2+fdv8r0KFCpKkvXv3xnnucuXKqXDhwvFqSp8+fZznCQsL02uvvabjx4+bt8dO+YmdIhOrffv2cR4bhqH169crKChIhmHEqaty5coKCwvTsWPHnvv6PHjwQJKUMWPG57Z5ltatW8d5vG3bNknS22+/HWd7p06d4uyP9corr6h27drmx25ubgoODtbx48d148aNFz5/iRIl1Lp1a929e1d9+/ZV9uzZ/7P9hg0bFBMTo/r168d5jbJnz658+fLF+9390/bt2+Xk5KQ2bdqYtzk6Osb7XbxIq1at5OzsbH7cpk0bOTk5mV8bBwcHNW7cWJs3bzb/XiRp+fLlKl26tPLkyfOf/b/33nsaM2aM/Pz8tHPnTo0dO1bNmjVT06ZNdfbsWXO7xLyP//leDQsL0+3bt1W+fHldvnzZPI0pU6ZMkqStW7c+cwqS9PQ1dHR0VIcOHeJs79SpkwzDiDdFp1KlSsqbN6/5cZEiReTm5qbLly//52sAIOVgGg+AZPfkyROtWrVKAQEBCgkJMW8vUaKEpk+frt27d6ty5cpycnJSnTp1tHLlSkVGRsrFxUXr169XVFRUnLB/8eJFnT17VhUrVnzm8/37Ikhvb+9nttuyZYsmT56sEydOxJkjbTKZzP999epVOTg4xOsjX758cR7fvn1b9+/f188//6yff/75mc93+/btZ26XnoZsSXr48OFz2zzLv+u6cuWKHBwc4gQ0SfL09JS7u7uuXLkSZ3u+fPni/LySlD9/fnNfnp6eL6yhePHikqRixYq9sO2FCxdkGIbq1KnzzP3/dTFvbD3//kBUoECBFz7vP/37d5cxY0Z5enrGeW2Cg4M1depUbdy4UcHBwTp37pyOHTumoUOHJug5GjVqpEaNGunBgwc6dOiQFi9erJUrV6pbt25auXKl0qVLl6j38f79+/Xdd9/p4MGDioiIiNMuLCxMmTJlUvny5VW3bl1NmDBBM2fOVPny5VWrVi01btzYPC3uypUreuWVV8zvt1iFChUy7/+nXLlyxasrc+bMun//foJeBwC2R9gHkOz27NmjGzduaNWqVVq1alW8/StWrFDlypUlPV3W8eeff9b27dtVq1YtrV27VgULFlSRIkXM7WNiYuTj4/PMi3klmS9ijfXPs6Kx/vjjD3Xv3l3lypXTp59+Kk9PTzk7O2vRokVauXJlon/GmJgYSdLrr7+upk2bPrPNf91cqmDBgpKkU6dOyc/PL8HP+7xVhf4d4FOKmJgYmUwmTZ06VY6OjvH2v6zVhF6kcOHC8vf31/LlyxUcHKzly5fL2dlZ9evXT1Q/bm5uCgwMVGBgoJydnbVkyRIdOnRI5cuXT/D7+NKlS+rYsaMKFiyo/v37K1euXHJ2dta2bds0c+ZM83vPZDJp/PjxOnjwoLZs2aIdO3Zo4MCBmjFjhn7++edEf2sk6Zm/I0nxLuYFkHIR9gEkuxUrVihbtmwaMmRIvH0bNmwwX5SbPn16lStXTp6enlq9erXKlCmjPXv2qFu3bnGOyZs3r06ePKmKFStaHGrXrVundOnS6ccff4xzMfCiRYvitMudO7diYmIUEhJiPuMtKd49Ajw8PJQxY0bFxMSoUqVKia6natWqcnR01IoVKxQcHJzo42N5eXkpJiZGFy9eNJ+tlZ5ePHz//n3zxcmxLl68KMMw4ryOFy5cMPdlbXnz5pVhGPL29k70GXkvLy/t2bNHDx8+jBNcz58/n6h+Ll68aJ4qIz39NuXGjRvxLiwODg7W6NGj9ffff2vlypWqXr26MmfOnKjn+qdixYppyZIl5ulRCX0fb968WZGRkZo8ebJy585t3v68KU+lSpVSqVKl1KdPH61YsUIffvihVq9erRYtWsjLy0u7d+/WgwcP4pzdP3funKTk+Z0DsC3m7ANIVo8ePdL69etVvXp11atXL96/du3a6eHDh9q8ebOkp/Ol69Wrpy1btmj58uWKjo6OM4VHkurXr6/Q0FAtXLjwmc8XHh7+wrocHR1lMpnM1wtIUkhIiDZt2hSnXew3Dv9e5nDu3Lnx+qtbt67WrVunv/76K97z/dcUHunpdIkWLVpo586dmjNnTrz9MTExmj59+gtvqlWtWjVJ0qxZs+JsnzFjRpz9sf7+++84q7U8ePBAS5culZ+fX4Km8CRWnTp15OjoqAkTJsQ7O2wYhu7cufPcY6tWraro6GgtWLDAvO3Jkyfxfhcv8vPPP8eZ075gwQJFR0fHC/uNGjWSyWTSiBEjdPny5QStlBQREaEDBw48c1/sfPjYDzkJfR/Hnl3/5+sVFhYW74PpvXv34r2msd8SxU5Tq1q1qp48eaJ58+bFaTdz5kyZTKYXrqQEIPXhzD6AZLV582Y9fPhQQUFBz9xfqlQpeXh4aPny5eZQX79+fc2ZM0fjx4+Xj49PnDPUktSkSROtWbNGn376qfbu3asyZcroyZMnOnfunNauXatp06aZ55E/T7Vq1TRjxgy98847atSokW7duqX58+crb968OnXqlLld7Drks2bN0t27d81Lb8ae/f7nGdkPPvhAe/fuVcuWLdWiRQsVLlxY9+7d07Fjx7R79279/vvv/1lT//79dfnyZQ0fPlzr169XjRo15O7urmvXrmnt2rU6d+6cGjZs+J99FClSRE2bNtXPP/+s+/fvq1y5cjpy5IiWLFmiWrVqxTmjLT2dn//JJ5/oyJEjypYtmxYtWqRbt25p1KhR//k8lsqbN6/ef/99jRkzRleuXFGtWrWUMWNGhYSEaOPGjWrZsqU6d+78zGODgoJUpkwZ87GFCxfW+vXrE73OflRUlDp27Kj69evr/Pnzmj9/vl577TXVrFkzTjsPDw9VqVJFa9eulbu7e5zlWJ8nIiJCrVu3VqlSpVSlShXlzJlTYWFh2rhxo/744w/VqlVLRYsWlZTw93HsFKBu3bqpdevWevjwoX755Rdly5YtzkXUS5Ys0YIFC1SrVi3lzZtXDx8+1MKFC+Xm5mYO8UFBQQoICNDYsWN15coV+fr6ateuXdq0aZPeeuuteNd6AEj9CPsAktXy5cuVLl26567Z7uDgoOrVq2vFihW6c+eOsmbNqjJlyihXrly6du1avLP6scdMnDhRM2fO1LJly7Rhwwa5urrK29tbHTp0SND0kIoVK2rEiBGaOnWqRo4cKW9vb3344Ye6cuVKnLAvSV988YWyZ8+uVatWacOGDapUqZLGjh2revXqxZkClD17dv3yyy+aOHGiNmzYoAULFihLliwqXLiwPvzwwxfW5OrqqqlTp2rx4sVaunSpJk2apEePHumVV15RQECAvv76a+XIkeOF/QwfPlze3t5asmSJNm7cqOzZs6tr167PvFtx/vz5NXjwYH355Zc6f/68vL29NXbsWFWpUuWFz2OpLl26KH/+/Jo5c6Z53f+cOXMqMDDwuR8Kpae/98mTJ2vkyJFavny5TCaTgoKC1L9//0RNfYq9e/P48eMVFRWlhg0batCgQc+cStOkSRNt2bJF9evXj/O7fh53d3cNHz5cW7du1eLFi3Xjxg05OjqqQIEC+vjjj+OsgpPQ93HBggU1fvx4ffvtt+b3Yps2beTh4RFnXfzy5cvryJEjWr16tW7evKlMmTKpRIkS+vrrr80rCMW+huPHj9fq1au1ePFieXl56eOPPzav2ATAvpgMrrIBgEQ7ceKEgoOD9dVXXyX6RlgpRVBQkF599VVNmTLF1qWkWBs3btS7776refPmqWzZsrYuBwASjTn7APACjx49irdt1qxZcnBwULly5WxQEV6WX375RXny5NFrr71m61IAwCJM4wGAF5g2bZqOHj2qChUqyNHRUdu3b9f27dvVqlWrZ65DjtRv1apVOnXqlLZu3apPPvkkxS5lCgAvQtgHgBcoXbq0du3apUmTJik8PFy5cuVSr1694i0JCvvRt29fZciQQc2bN49392QASE2Ysw8AAADYKebsAwAAAHaKsA8AAADYKbues3/q1CmFh4fLycmuf0wAAACkMVFRUTKZTCpduvR/trPrFBwZGRnv1uEAAABAapfQjGvXYV+SnJ2dVbx4cVuXAQAAAFjNkSNHEtSOOfsAAACAnSLsAwAAAHaKsA8AAADYKcI+AAAAYKcI+wAAAICdIuwDAAAAdoqwDwAAANgpwj4AAABgpwj7AAAAgJ0i7AMAAAB2irAPAAAA2CnCPgAAAGCnCPsAAACAnSLsAwAAAHaKsA8AAADYKcI+AAAAYKcI+0kUE2PYugQg2fE+BwAgdXKydQGpnYODSRMX7NKVv+/ZuhQgWXi9klnvtgm0dRkAAMAChH0ruPL3PV24csfWZQAAAABxMI0HAAAAsFOEfQAAAMBOEfYBAAAAO0XYBwAAAOwUYR8AAACwU4R9AAAAwE4R9gEAAAA7RdgHAAAA7BRhHwAAALBThH0AAADAThH2AQAAADtF2AcAAADsFGEfAAAAsFOEfQAAAMBOEfYBAAAAO0XYBwAAAOwUYR8AAACwU4R9AAAAwE4R9gEAAAA7RdgHAAAA7BRhHwAAALBThH0AAADAThH2AQAAADtF2AcAAADsFGEfAAAAsFOEfQAAAMBOEfYBAAAAO0XYBwAAAOwUYR8AAACwU4R9AAAAwE4R9gEAAAA7RdgHAAAA7BRhHwAAALBThH0AAADATqWosL948WL5+vrG+/f111/bujQAqVBMjGHrEoBkx/scwH9xsnUBzzJt2jRlypTJ/DhHjhw2rAZAauXgYNLEBbt05e97ti4FSBZer2TWu20CbV0GgBQsRYZ9f39/eXh42LoMAHbgyt/3dOHKHVuXAQCATaSoaTwAAAAArCdFntlv1KiR7ty5o9y5c6tly5Z655135OjoaFFfhmEoPDzcyhU+ZTKZ5Orqmix9AylNRESEDCP1zA1mfCItSW3jE0DSGYYhk8n0wnYpKux7enqqV69eKlmypEwmkzZv3qxvv/1WoaGhGjJkiEV9RkVF6cSJE1au9ClXV1cVLVo0WfoGUprz588rIiLC1mUkGOMTaUlqG58ArMPFxeWFbVJU2K9SpYqqVKlifly5cmWlS5dOs2bNUrdu3fTKK68kuk9nZ2cVLlzYmmWaJeTTFGAvChQokKrOHDI+kZaktvEJIOnOnDmToHYpKuw/S/369TV9+nSdOHHCorBvMpmUIUOGZKgMSFuYEgOkXIxPIO1J6EktLtAFAAAA7FSKD/urV6+Wo6Mjc28BAACAREpR03g6d+6sgIAA+fr6SpI2bdqkhQsX6s0335Snp6eNqwMAAABSlxQV9gsUKKBFixbp+vXriomJUf78+TVw4EB16NDB1qUBAAAAqU6KCvuDBg2ydQkAAACA3Ujxc/YBAAAAWIawDwAAANgpwj4AAABgpwj7AAAAgJ0i7AMAAAB2irAPAAAA2CnCPgAAAGCnCPsAAACAnSLsAwAAAHaKsA8AAADYKcI+AAAAYKcI+wAAAICdIuwDAAAAdoqwDwAAANgpwj4AALCJmBjD1iUAyc7W73Mnmz47AABIsxwcTJq4YJeu/H3P1qUAycLrlcx6t02gTWsg7AMAAJu58vc9Xbhyx9ZlAHaLaTwAAACAnbL4zP6ZM2d05swZ3blzRyaTSVmzZlWhQoVUuHBha9YHAAAAwEKJCvt79+7VkiVLtGXLFt2/f1+GEfeCA5PJpEyZMqlGjRpq1qyZAgICrFosAAAAgIRLUNjfvn27xo0bp2PHjunVV19V06ZN5e/vrzx58sjd3V2GYej+/fsKCQnRsWPHtGvXLi1btkxFixZVnz59VKVKleT+OQAAAAD8S4LCfu/evdW8eXN9+eWXKlSo0HPblS5dWo0bN5YknT17Vj/99JN69+6tP//80zrVAgAAAEiwBIX9LVu2KEuWLInquFChQvrkk0/07rvvWlIXAAAAgCRK0Go8iQ361joWAAAAgOVYehMAAACwUxYvvXny5EnNnTtXx48fV1hYmGJiYuLsN5lM2rhxY5ILBAAAAGAZi87s7927Vy1atNDWrVv1yiuv6PLly8qTJ49eeeUVXb16VRkyZFC5cuWsXSsAAACARLAo7I8fP1558uTR2rVrNXLkSElS165dtWDBAv30008KDQ1VvXr1rFooAAAAgMSxKOwfP35czZs3l5ubmxwdHSXJPI2nZMmSatWqlcaNG2e9KgEAAAAkmkVh39HRURkzZpQkubu7y8nJSbdu3TLvz5Mnj86ePWudCgEAAABYxKKwnzdvXl24cEHS0wtxCxYsGOdi3K1btyp79uxWKRAAAACAZSwK+9WqVdOqVasUHR0tSXr77be1fv161alTR3Xq1NHmzZvVqlUrqxYKAAAAIHEsWnqzR48eevPNN83z9Zs2bSoHBwetX79ejo6O6tatm5o1a2bVQgEAAAAkjkVh39nZWVmzZo2zrUmTJmrSpIlVigIAAACQdNxBFwAAALBTCT6zP3z48ER3PmjQoEQfAwAAAMA6Ehz2586dG2+byWSSYRjPbG8ymQj7AAAAgA0lOOyfPHkyzuPbt2+rUqVKmjFjhipWrGj1wgAAAAAkjcVz9k0mkzXrAAAAAGBlXKALAAAA2CnCPgAAAGCnCPsAAACAnUpy2GfuPgAAAJAyJXg1ntKlSz8z2Hfr1k0ODvE/M5hMJu3fvz9p1QEAAACwWILDft26dTmLDwAAAKQiCQ77o0ePTs46AAAAAFhZgufsDxs2TNu3b1dkZGRy1gMAAADAShJ8Zv/gwYNasGCB0qdPr4CAAFWtWlXVq1dX7ty5k7M+AAAAABZKcNhfvHixbty4oW3btmn79u365ptv9Pnnn6tw4cKqVq2aqlevrjJlyjzzYl0AAAAAL1+Cw74keXp6qnnz5mrevLmio6O1b98+bd++XZs3b9a0adPk7u6uwMBAVa9eXVWqVJGHh0dy1Q0AAADgBRIV9uMc6OSkihUrqmLFiurXr59CQkK0detWbd++XUOGDFFUVJSKFSumXr16qUqVKtasGQAAAEACWBz2/83b21vt27dX+/bt9fjxY+3evVvbtm3T9evXLerv4cOHql+/vkJDQ/Xrr7+qePHi1ioVAAAASBOsFvYl6fLly4qMjFShQoVUvXp1Va9e3eK+Jk2apCdPnlivOAAAACCNsehq2tmzZ6tPnz5xtg0YMEB16tRRo0aN1KxZM926dcvios6ePav58+erV69eFvcBAAAApHUWhf1ffvlF2bJlMz/esWOHlixZopYtW2rQoEEKCQnRhAkTLC5q+PDhat26tQoUKGBxHwAAAEBaZ9E0nqtXr6pQoULmx2vWrJG3t7eGDh0qSbp586aWLVtmUUFr167VX3/9pe+++07Hjh2zqA8AAAAAFoZ9wzDiPN61a5dq1qxpfuzl5aWbN28mut+IiAiNHj1affr0kZubmyWlxWMYhsLDw63S17+ZTCa5uromS99AShMRERFv7KdkjE+kJaltfEqMUaQtyTFGDcOQyWR6YTuLwn7+/Pm1ceNGtWnTRjt27NDff/+tqlWrmvdfv35d7u7uie538uTJypYtm9544w1LynqmqKgonThxwmr9/ZOrq6uKFi2aLH0DKc358+cVERFh6zISjPGJtCS1jU+JMYq0JbnGqIuLywvbWBT2O3furA8++EDlypVTRESEChUqpMqVK5v37927V0WKFElUn1euXNH06dM1ceJEhYWFSZL5jHx4eLgePnyojBkzJrpWZ2dnFS5cONHHJURCPk0B9qJAgQKp6swh4xNpSWobnxJjFGlLcozRM2fOJKidRWG/YcOGypIli7Zt2yZ3d3e1bdtWTk5Pu7p7964yZ86sJk2aJKrPkJAQRUVFqUuXLvH2vfnmmypZsqQWLlyY6FpNJpMyZMiQ6OMAxMXX7UDKxfgEUrbkGKMJ/cBs8Tr7gYGBCgwMjLc9S5YsFq3E4+fnp9mzZ8fZduLECY0aNUpDhw7lploAAABAIiXpplqhoaHat2+fbt26pbp16ypnzpx68uSJwsLClClTJjk6Oia4L3d3dwUEBDxzn7+/v/z9/ZNSKgAAAJDmWLwaz+jRozVv3jxFR0fLZDLJx8dHOXPmVHh4uIKCgvTee++pY8eOVi4XAAAAQEJZdFOtadOmafbs2erUqZNmzJgR54KDTJkyqU6dOlq/fn2SiwsICNCpU6eYwgMAAABYwOI76AYHB6tv377PXHXH19dXFy5cSGptAAAAAJLAorB/7do1lS5d+rn7XV1d9eDBA4uLAgAAAJB0FoX9bNmy6dq1a8/df+zYMeXKlcviogAAAAAknUVhv3bt2vrpp590+fJl87bYtT537typJUuWqF69etapEAAAAIBFLFqN57333tPevXvVpEkTlS1bViaTSVOnTtW4ceN08OBB+fn5qVu3btauFQAAAEAiWHRmP1OmTFq4cKHeeecdhYaGKl26dNq3b5/CwsL07rvvav78+dzNDwAAALAxi2+qlT59evXo0UM9evSwZj0AAAAArMSiM/sAAAAAUj6Lz+yfPXtWixYtUkhIiO7duxfnxlrS0wt2Z82aleQCAQAAAFjGorC/dOlSDRw4UE5OTipQoIDc3d3jtfl3+AcAAADwclkU9idMmCA/Pz9NnTpVHh4e1q4JAAAAgBVYNGf/77//1htvvEHQBwAAAFIwi8K+r6+v/v77b2vXAgAAAMCKLAr7/fv316+//qo///zT2vUAAAAAsBKL5uxPnTpVmTJlUrt27VS4cGHlypVLDg5xPzeYTCZNnjzZKkUCAAAASDyLwv5ff/0lScqVK5cePnyoM2fOxGtjMpmSVhkAAACAJLEo7G/evNnadQAAAACwMu6gCwAAANgpi++gK0kPHjzQ1atXdf/+/WfeRKtcuXJJ6R4AAABAElgU9u/cuaPPP/9c69ev15MnT+LtNwxDJpNJJ06cSHKBAAAAACxjUdgfPHiwtmzZog4dOqhs2bJyd3e3dl0AAAAAksiisL9r1y699dZb+vjjj61dDwAAAAArsegC3fTp08vLy8vatQAAAACwIovC/uuvv66NGzdauxYAAAAAVmTRNJ66detq37596ty5s1q1aqWcOXPK0dExXjt/f/8kFwgAAADAMhaF/bZt25r/+7fffou3n9V4AAAAANuzKOyPGjXK2nUAAAAAsDKLwn7Tpk2tXQcAAAAAK0vSHXQl6eHDh7p+/bokKWfOnMqYMWOSiwIAAACQdBaH/cOHD+urr77Sn3/+qZiYGEmSg4ODXnvtNX300UcqXry41YoEAAAAkHgWhf1Dhw6pQ4cOcnZ2VvPmzVWoUCFJ0tmzZ7Vq1Sq1b99ec+bMUYkSJaxaLAAAAICEsyjsjx07Vjly5ND8+fPl6ekZZ1+vXr3Upk0bjR07VjNmzLBKkQAAAAASz6Kbah06dEitWrWKF/QlKXv27GrZsqUOHjyY1NoAAAAAJIFFYd/BwUFPnjx57v6YmBg5OFjUNQAAAAArsSiRly5dWvPmzdOVK1fi7bt69armz5+vMmXKJLk4AAAAAJZL8Jz9mjVrauDAgapZs6b69u2rdu3aqX79+qpdu7by588vSTp//rw2bdokR0dHffDBB8lVMwAAAIAESHDYv3LlisLDwyVJRYsW1S+//KKxY8dq8+bNioiIkCS5urqqSpUqev/991W4cOHkqRgAAABAgli8zn7hwoU1ceJExcTE6Pbt25IkDw8P5uoDAAAAKUSS76Dr4OCg7NmzW6MWAAAAAFaUqLC/cOFC/fbbbwlqazKZNHLkSIuKAgAAAJB0iQr7hw4d0tGjRxPUlrAPAAAA2Faiwv6IESPUuHHj5KoFAAAAgBVxNS0AAABgpwj7AAAAgJ0i7AMAAAB2KsFhf9SoUSpdunRy1gIAAADAihJ0ge61a9fUtGlTi57g2rVrypUrl0XHAgAAALBcgs7s165dWwMGDNDhw4cT3PGff/6pjz/+WHXq1LG4OAAAAACWS9CZ/fnz5+vbb79Vy5YtlTt3blWoUEH+/v7y9vaWu7u7DMPQ/fv3FRISoqNHj2rPnj0KDQ1VQECA5s2bl9w/AwAAAIBnSFDYL1GihKZPn64TJ05o0aJF2rx5sxYvXizp6c2zJMkwDElSrly5VKtWLb3xxhvy8/NLprIBAAAAvEiibqrl5+enQYMGadCgQQoNDdW5c+d09+5dSVKWLFlUsGBB5ciRIznqBAAAAJBIiQr7/5QjRw6CPQAAAJCCWRz2k8O2bds0depUnTlzRg8ePFCOHDlUq1Yt9ezZU5kyZbJ1eQAAAECqkqLC/t27d1WiRAl16NBBWbJk0enTp/Xdd9/p9OnTmj59uq3LAwAAAFKVFBX2mzRpEudxQECAXFxcNHjwYIWGhjJtCAAAAEiEBN9B11ayZMkiSYqKirJtIQAAAEAqk6LO7Md68uSJoqOjdebMGU2cOFFBQUHy9va2dVkAAABAqpIiw36NGjUUGhoqSapSpYrGjBljcV+GYSg8PNxapcVhMpnk6uqaLH0DKU1ERIT5fhqpAeMTaUlqG58SYxRpS3KMUcMwzPe7+i8JCvsTJkxIdAEmk0nvvvtuoo+TpB9++EERERE6c+aMJk+erG7dumnGjBlydHRMdF9RUVE6ceKERXW8iKurq4oWLZosfQMpzfnz5xUREWHrMhKM8Ym0JLWNT4kxirQlucaoi4vLC9tYHPb/fefcf26P/aRhadgvUqSIJKl06dIqXry4mjRpog0bNqhevXqJ7svZ2VmFCxe2qI4XScinKcBeFChQIFWdOWR8Ii1JbeNTYowibUmOMXrmzJkEtUtQ2D958mScx6GhoerSpYteffVVvfXWWypQoIAk6dy5c5o1a5bOnj2rKVOmJLLkZ/P19ZWzs7MuXbpk0fEmk0kZMmSwSi1AWsbX7UDKxfgEUrbkGKMJ/cBs0Wo8Q4cOVb58+fT111+rePHicnNzk5ubm0qUKKExY8Yob968GjZsmCVdx3Po0CFFRUVxgS4AAACQSBZdoLtnzx59+OGHz91foUIFff3114nut2fPnipWrJh8fX2VPn16nTx5Uj/++KN8fX1Vq1YtS0oFAAAA0iyLwn66dOl08OBBtW3b9pn7Dxw4oHTp0iW63xIlSmj16tX64YcfZBiGvLy81KJFC3Xu3DlBFyAAAAAA+D8Whf3GjRtrzpw5cnd3V/v27ZU3b15J0qVLlzRnzhytXLlSHTp0SHS/Xbp0UZcuXSwpCQAAAMC/WBT2P/zwQ925c0dz587VvHnz5ODwdOp/TEyMDMNQw4YN/3OaDwAAAIDkZ1HYd3Fx0VdffaXOnTtr+/btunLliiTJy8tLVatWNS+dCQAAAMB2knQH3SJFihDsAQAAgBTKoqU3AQAAAKR8CTqzX6RIkUTf6c5kMun48eMWFQUAAAAg6RIU9t99911uaw0AAACkMgkK+7169UruOgAAAABYGXP2AQAAADtlcdi/evWqhgwZorp166pcuXLat2+fJOn27dsaPnw48/UBAAAAG7Mo7J85c0ZNmzbVmjVr5O3trQcPHig6OlqS5OHhof3792vu3LlWLRQAAABA4li0zv5XX32lTJkyaeHChZKkSpUqxdlfrVo1rVmzJunVAQAAALCYRWf29+3bpzZt2sjDw+OZq/Tkzp1boaGhSS4OAAAAgOUsCvuGYSh9+vTP3X/79m25uLhYXBQAAACApLMo7BctWlTbtm175r7o6GitWrVKJUuWTFJhAAAAAJLGorDfpUsX7dixQ59++qlOnz4tSbp165Z+++03derUSefOnVOXLl2sWigAAACAxLHoAt1q1app1KhRGjlypPki3Y8++kiGYcjNzU1ffPGFypUrZ9VCAQAAACSORWFfkoKDg1WnTh3t2rVLFy9eVExMjPLmzavKlSvLzc3NmjUCAAAAsIDFYV+SMmTIoNq1a1urFgAAAABWlKCwf/XqVUlPl9T85+MXiW0PAAAA4OVLUNgPCgqSyWTSoUOH5OLiYn78IidOnEhygQAAAAAsk6CwP3LkSJlMJjk7O8d5DAAAACDlSlDYb9asmbZt22YO+M2aNUvWogAAAAAkXYLX2e/atav69u2rmzdvJmc9AAAAAKwkwWG/b9++2rJlixo0aGBeWx8AAABAypXgsN+lSxetXLlSZcqU0ZAhQ9SuXTudPXs2OWsDAAAAkASJWmffy8tL33//vTZs2KARI0YoODhYnTp1kr+//zPb16lTxypFAgAAAEg8i26qVbt2bRUpUkTNmzfXlClTntnGZDKx9CYAAABgQxaF/V9++UVff/21IiMj9dFHH6l48eLWrgsAAABAEiUq7J89e1ZDhgzR/v37Vb16dQ0ZMoS75AIAAAApVILD/tixYzV9+nRlyZJF3377rerVq5ecdQEAAABIogSH/R9++EGtWrXShx9+KDc3t+SsCQAAAIAVJDjsL1iwQKVKlUrGUgAAAABYU4LX2SfoAwAAAKlLgsM+AAAAgNSFsA8AAADYKcI+AAAAYKcI+wAAAICdsugOurEiIyN17Ngx3bp1S2XKlJGHh4e16gIAAACQRBaf2Z89e7YqV66stm3bqlevXjp16pQk6fbt2woICNCvv/5qtSIBAAAAJJ5FYX/RokUaOXKkqlSpohEjRsgwDPM+Dw8PVahQQatXr7ZakQAAAAASz6KwP2PGDNWsWVNjxoxRjRo14u339/fX6dOnk1wcAAAAAMtZFPYvXryoqlWrPnd/lixZdPfuXUtrAgAAAGAFFoV9d3d33blz57n7z5w5I09PT4uLAgAAAJB0FoX9qlWrauHChbp//368fadPn9Yvv/yioKCgJBcHAAAAwHIWLb35/vvvq2XLlmrUqJFq1Kghk8mkpUuXatGiRVq/fr08PT3Vo0cPa9cKAAAAIBEsOrOfI0cOLV68WFWqVNGaNWtkGIaWLVumLVu2qGHDhlq4cCFr7gMAAAA2ZvFNtbJly6YRI0ZoxIgRun37tmJiYuTh4SEHB27KCwAAAKQESbqDbizO4gMAAAApj0Vhf8KECf+532QyKV26dMqZM6fKlSunHDlyWFQcAAAAAMtZHPZNJpMkxbl7rqR42x0dHdWiRQsNGTKEKT4AAADAS2RR2N+2bZu6du0qPz8/dejQQXnz5pX09GZbc+fO1alTpzR27FiFh4dr1qxZ+vnnn/XKK6+wQg8AAADwEll0qn3o0KEqWLCgRo0apaJFi8rNzU1ubm7y9/fXqFGjlC9fPo0ZM0Z+fn4aPXq0KleurGXLllm7dgAAAAD/waKwv2fPHpUrV+65+8uVK6ddu3aZH1erVk1Xr159Yb9r1qxR9+7dVbVqVZUqVUpNmjTRr7/+Gm+qEAAAAIAXsyjsu7i46PDhw8/df+jQITk7O5sfR0dHK0OGDC/sd+bMmXJ1dVX//v01efJkVa1aVYMHD9bEiRMtKRMAAABI0yyas9+oUSPNmzdPWbJkUZs2beTt7S1JCgkJ0fz587V8+XK1a9fO3H7v3r0qXLjwC/udPHlynGU8K1asqLt372rGjBnq0aMHF/gCAAAAiWBR2P/oo4908+ZNzZgxQzNnzjSH8JiYGBmGoTp16uijjz6SJD1+/Fj+/v4qU6bMC/t91nr9fn5+WrhwocLDw+Xm5mZJuQAAAECaZFHYT5cunb799lsdP35cO3bs0JUrVyRJXl5eqly5svz9/eO07dmzp8UF7t+/Xzly5CDoAwAAAImUpDvoFi1aVEWLFrVWLfH88ccfWr16tfr162dxH4ZhKDw83IpV/R+TySRXV9dk6RtIaSIiIlLVxfKMT6QlqW18SoxRpC3JMUYNwzDf3+q/JCnsJ6fr16+rT58+CggI0JtvvmlxP1FRUTpx4oQVK/s/rq6uyfphB0hJzp8/r4iICFuXkWCMT6QlqW18SoxRpC3JNUZdXFxe2MbisL9t2zbNnDlTx48fV1hY2DM/rVgasu/fv6///e9/ypIli7777rskXZjr7OycoIuDLZGQT1OAvShQoECqOnPI+ERaktrGp8QYRdqSHGP0zJkzCWpnUdhft26d3n//fRUuXFgNGjTQggUL1KhRIxmGoc2bNytfvnyqVauWJV3r0aNH6tq1q8LCwvTzzz8rU6ZMFvUTy2QyJWjZTwD/ja/bgZSL8QmkbMkxRhP6gdmisD9lyhSVKFFC8+fP171797RgwQK98cYbqlixokJCQtSqVSvzcpyJER0drffff1/nzp3TvHnzlCNHDkvKAwAAACALb6p19uxZNWjQQI6OjnJyevp5ITo6WpLk7e2tNm3aaOrUqYnud+jQodqyZYu6deumBw8e6ODBg+Z/kZGRlpQKAAAApFkWndlPnz69+Q657u7ucnFx0Y0bN8z7s2fPrpCQkET3u2vXLknS6NGj4+3btGmTRd8WAAAAAGmVRWG/QIECOnv2rPmxn5+fli1bptdff11PnjzRypUrlStXrkT3u3nzZkvKAQAAAPAMFk3jqV27tjZt2mSeWtOtWzf9/vvvKleunCpUqKA//vhDXbp0sWqhAAAAABLHojP7nTt3VufOnc2Pa9SooTlz5mj9+vVydHRUtWrVVKFCBasVCQAAACDxEh32IyMjtWPHDnl5ealIkSLm7WXLllXZsmWtWhwAAAAAyyV6Go+zs7N69+6tAwcOJEc9AAAAAKwk0WHfZDIpf/78unPnTnLUAwAAAMBKLLpAt2vXrpo3b57OnTtn7XoAAAAAWIlFF+geOnRIWbJkUePGjVW+fHl5eXkpffr08doNGjQoyQUCAAAAsIxFYX/u3Lnm/969e/cz25hMJsI+AAAAYEMWhf2TJ09auw4AAAAAVmbRnH0AAAAAKZ9FZ/ZjHTx4UHv37tWtW7fUtm1b5c+fXxERETp37pzy58+vjBkzWqtOAAAAAIlkUdiPjIxU3759tWnTJhmGIZPJpBo1aih//vxycHBQp06d1LFjR3Xv3t3a9QIAAABIIIum8YwbN05bt27VZ599prVr18owDPO+dOnSqV69etq0aZPVigQAAACQeBaF/VWrVql169Zq1aqVMmfOHG9/oUKFdPny5SQXBwAAAMByFoX9W7duydfX97n7HR0d9ejRI4uLAgAAAJB0FoX9XLly/efdc//880/lzZvX4qIAAAAAJJ1FYb9Ro0b66aefdODAAfM2k8kkSVq4cKHWrFmj4OBgqxQIAAAAwDIWrcbTrVs3HTp0SO3bt1fBggVlMpk0atQo3bt3T9evX1e1atXUsWNHK5cKAAAAIDEsCvsuLi6aNm2ali9frnXr1ikmJkaRkZHy9fXV+++/ryZNmpjP9AMAAACwDYtvqmUymdSkSRM1adLEmvUAAAAAsBKL5ux/+eWXOn78uLVrAQAAAGBFFoX9uXPn6o033lCdOnX07bff6tSpU9auCwAAAEASWRT2f/vtN40aNUr58+fXtGnTFBwcrIYNG2rixIn/uSQnAAAAgJfHojn7bm5uCg4OVnBwsO7fv69169Zp7dq1mjx5siZMmCAfHx81bNhQXbp0sXa9AAAAABLIojP7/+Tu7q4WLVroxx9/1I4dO9SvXz+FhIRo7Nix1qgPAAAAgIUsXo3nn6KiorR9+3atXr1aW7ZsUXh4uHLlymWNrgEAAABYyOKwHx0drV27dmn16tXatGmTHjx4IE9PTzVr1kwNGjRQmTJlrFknAAAAgESyKOwPHDhQmzZt0r1795Q1a1Y1bNhQDRs2VLly5biZFgAAAJBCWBT2N23apFq1aqlBgwaqUKGCHB0d47W5d++eMmfOnOQCAQAAAFjGorC/a9cuOTnFPzQyMlKbNm3SihUrtGPHDh05ciTJBQIAAACwjEVh/59B3zAM7d69WytWrNCGDRv04MEDeXh4qFGjRlYrEgAAAEDiWXyB7tGjR7VixQqtWrVKN2/elMlkUoMGDdS+fXuVKlWKufsAAACAjSUq7F++fFnLly/XihUrdPHiReXIkUONGzdWiRIl1KdPH9WtW1elS5dOrloBAAAAJEKCw36rVq10+PBhZc2aVXXr1tXw4cNVtmxZSdKlS5eSrUAAAAAAlklw2D906JC8vb3Vv39/Va9e/ZkX6AIAAABIORwS2nDw4MHy9PRUz549FRgYqCFDhmjPnj0yDCM56wMAAABgoQSfnm/Xrp3atWuny5cva8WKFVq5cqUWLlyo7NmzKyAgQCaTiYtyAQAAgBQkwWf2Y+XJk0c9evTQ6tWr9euvv6phw4b6/fffZRiGhg4dqsGDB2vLli16/PhxctQLAAAAIIGSNPG+WLFiKlasmPr166c9e/Zo+fLlWr16tX755Re5urrqwIED1qoTAAAAQCJZ5SpbBwcHVapUSZUqVdLQoUPNd9EFAAAAYDtWX1InXbp0atCggRo0aGDtrgEAAAAkQqLn7AMAAABIHQj7AAAAgJ0i7AMAAAB2irAPAAAA2CnCPgAAAGCnCPsAAACAnSLsAwAAAHaKsA8AAADYKcI+AAAAYKcI+wAAAICdIuwDAAAAdsrJ1gX808WLF/Xjjz/q0KFDOn36tAoWLKiVK1fauiwAAAAgVUpRYf/06dPatm2bSpYsqZiYGBmGYeuSAAAAgFQrRU3jCQoK0rZt2zR+/Hj5+/vbuhwAAAAgVUtRYd/BIUWVAwAAAKRqpGsAAADATqWoOfvJwTAMhYeHJ0vfJpNJrq6uydI3kNJERESkqutoGJ9IS1Lb+JQYo0hbkmOMGoYhk8n0wnZ2H/ajoqJ04sSJZOnb1dVVRYsWTZa+gZTm/PnzioiIsHUZCcb4RFqS2sanxBhF2pJcY9TFxeWFbew+7Ds7O6tw4cLJ0ndCPk0B9qJAgQKp6swh4xNpSWobnxJjFGlLcozRM2fOJKid3Yd9k8mkDBky2LoMINXj63Yg5WJ8AilbcozRhH5g5gJdAAAAwE6lqDP7ERER2rZtmyTpypUrevDggdauXStJKl++vDw8PGxZHgAAAJCqpKiwf+vWLfXu3TvOttjHs2fPVkBAgC3KAgAAAFKlFBX2vb29derUKVuXAQAAANgF5uwDAAAAdoqwDwAAANgpwj4AAABgpwj7AAAAgJ0i7AMAAAB2irAPAAAA2CnCPgAAAGCnCPsAAACAnSLsAwAAAHaKsA8AAADYKcI+AAAAYKcI+wAAAICdIuwDAAAAdoqwDwAAANgpwj4AAABgpwj7AAAAgJ0i7AMAAAB2irAPAAAA2CnCPgAAAGCnCPsAAACAnSLsAwAAAHaKsA8AAADYKcI+AAAAYKcI+wAAAICdIuwDAAAAdoqwDwAAANgpwj4AAABgpwj7AAAAgJ0i7AMAAAB2irAPAAAA2CnCPgAAAGCnCPsAAACAnSLsAwAAAHaKsA8AAADYKcI+AAAAYKcI+wAAAICdIuwDAAAAdoqwDwAAANgpwj4AAABgpwj7AAAAgJ0i7AMAAAB2irAPAAAA2CnCPgAAAGCnCPsAAACAnSLsAwAAAHaKsA8AAADYKcI+AAAAYKcI+wAAAICdIuwDAAAAdoqwDwAAANgpwj4AAABgpwj7AAAAgJ1KcWH/7Nmzevvtt1WqVCkFBgbqyy+/VGRkpK3LAgAAAFIdJ1sX8E/37t3TW2+9pfz58+u7775TaGioRo8erUePHmnIkCG2Lg8AAABIVVJU2P/pp5/08OFDTZgwQVmyZJEkPXnyREOHDlXXrl2VI0cO2xYIAAAApCIpahrP9u3bVbFiRXPQl6T69esrJiZGu3btsl1hAAAAQCqUosL+uXPnVLBgwTjb3N3d5enpqXPnztmoKgAAACB1SlHTeO7fvy93d/d42zNnzqx79+5Z1GdUVJQOHz6c1NKey2QyqWF5Tz2JyZZszwHYkqODg44cOSLDMGxdSqIxPmHvUvP4lBijsH/JOUajoqJkMple2C5FhX1rc3FxUXR0dIJeiKRwd0ufrP0DKUFyj6PkwvhEWpBax6fEGEXakBxj1GQypb6w7+7urrCwsHjb7927p8yZMye6P19fX2uUBQAAAKRKKWrOfsGCBePNzQ8LC9ONGzfizeUHAAAA8N9SVNivWrWqfvvtN92/f9+8be3atXJwcFBgYKANKwMAAABSH5ORgq7quXfvnho2bKgCBQqoa9eu5ptqNW7cmJtqAQAAAImUosK+JJ09e1aff/65Dhw4oIwZM6pJkybq06ePXFxcbF0aAAAAkKqkuLAPAAAAwDpS1Jx9AAAAANZD2AcAAADsFGEfAAAAsFOEfQAAAMBOEfYBAAAAO0XYBwAAAOwUYR9pypMnT2xdAgAAwEtD2EeacPPmTX344YfauXOnrUsBAAB4aQj7sHu//fab3njjDZ09e1be3t6KiYmxdUlAmnX69GlblwDgOY4ePar33nuPcWpnCPuwe3/++afSp0+vJUuWqFChQuapPNw8Gni5Fi1apNatWys0NNTWpQB4BgcHB61fv15btmzRo0ePbF0OrISwD7tz8eJFRUZGSpIiIyMVHR0twzC0fPly1axZUyNGjJAkmUwmW5YJpDk1atTQL7/8ohw5cti6FAD/EhkZqaJFi6pVq1aaPXu2Tp48aeuSYCWEfdiVQ4cOqW7dujp69KgMw5CLi4uKFSumsLAw9e/fXyVLllSHDh04qw/YgIeHhwoWLKglS5Zo+/btti4HgJ5+yx3791KSPvroIz1+/FgrVqzQ7du3bVwdrMHJ1gUA1vTqq69qyZIl8vPzk/R09Z2BAwdKkjw9PRUUFKRChQoR9oGXIHac/fNbtAcPHmjOnDmKiIhQyZIllTlzZluVB6RJDx8+VMaMGWUYhkwmk3l87t69W5MmTVKFChXk4uKiTZs2KTAwUEFBQTauGEnFmX3YhSdPnsgwDGXIkEF+fn7au3ev5s2bJ0dHRy1evFhTpkxR7ty5tWTJEj18+FAmk4kLdQEru3Hjho4dOybp6ZiMDRL/HGsZM2ZU//79de3aNS1dutRGlQJpi2EYevz4sd577z398MMP5qAfa8WKFeratavy5cun7NmzKzAwUPfv39fChQt17do1G1YOayDswy44OjrKZDLp+vXr+vvvv7Vu3Tp9/vnnOn/+vLy9vVW6dGnVrl1bly9f1k8//SSJOfuAtTVt2lQjR47UtWvX5OjoKMMwNGnSJH322WdavHixQkNDZTKZVLJkSTVu3FhTp07V5cuXbV02YPdMJpPSpUsnHx8fNWjQIM7fP8MwtGrVKpUoUUL9+vVTq1atNHr0aA0cOFBbt27Vjh07FB0dbcPqkVSEfaRa/56KM3LkSDVu3Fh//fWX2rVrJ29vb02bNs18sW6TJk1UoEABrVmzRhcvXuTsPmAlsStcffTRRzp48KB27typc+fOqXnz5vr11191+PBhjRw5Uv/73/906dIlpUuXTm+//bZiYmI0c+ZMxiGQzGLHWM+ePeXr66sjR44oLCxM0tOpdXfu3FGePHmUKVMm8zHNmzdXYGCg5s6dq3PnztmkblgHYR+pVuyZiU2bNun333/X1atXNWjQIJUqVUr58+fXW2+9paVLl+rgwYOSpGzZsqlx48Z6+PCh5s2bJ+npMmMAksbR0VHS0w/URYsW1fLly7Vy5UrlzJlTc+fO1ezZszVr1izduXNHw4YN08WLF1WwYEF17NhRCxcu1KFDh2z8EwD27Z9/6xYsWKC2bdtq3bp1kiRXV1dFRUXpwYMH5gtyY0+mtWnTRqdPn9bmzZv14MGDl184rIKkg1Rt8+bNGjhwoHr27KkMGTKofv36cnNzk6Ojoxo0aCB/f39NmDDB/D+p+vXrq3Tp0tq9e7d2794tSZxVBCz0z7ET+zX/Z599pn379mnOnDmqXr26cufOLXd3d/n7++vLL7/Ub7/9Zr6TddOmTVWoUCFNmTKFNb0BK4v9xi1W7Bht3Lix8ubNq82bN+v8+fNycnJSo0aNtGvXLv3111+KiYkxf4CPnY63ZMkSPpSnYoR9pAr//p9WbMgoW7asgoKCFB4ersDAQLm4uJin7WTLlk3dunXTvn37tH79ehmGIUdHRzVp0kT37t3TmjVrJHF2H0is2PH4z7Hj5OQkwzDk7++vtm3bKiwszPwhO3Zpv4oVKyogIEBr166V9HSMdu3aVVu3btWmTZte/g8C2JHYv4uxoT42sB87dkzh4eHmb8Pd3Nz01ltv6cCBA+Zx1759e2XJkkVTpkzRX3/9JUl6/Pixjh07pubNm+vWrVu6e/fuS/6JYC0mgzUIkYLFxMTECRS7du1Svnz55OnpqXTp0pm3ffLJJ8qbN69mz54tSeaVBh4+fKhBgwbp5MmTmjlzpvlmPrt371bFihVf/g8EpHL/XMVjy5YtOnjwoLy9veXj46OSJUtKejoHOHbJvk8++UTZs2dXZGSkXFxcNH/+fI0bN05r1qyRh4eH7t+/r/nz56tp06bcbAuwwMaNG7VixQp17txZJUqUMG9fs2aNJk6cqKioKMXExKh06dIaPXq0+W9q+/btFRkZqQEDBqh06dLau3evPvjgAzk4OCgoKEiPHz/Wjh07NH78ePn7+5v/5iL14ZQmUrTY/yktXbpUNWvW1ODBg/XGG2/onXfe0fHjxyVJgYGBatiwoc6dO6eNGzdK+r8zjxkzZtQ777yj8+fPx7kQkKAPvNj9+/f18OHDONtMJpMuXbqkt956S/369dOxY8c0Y8YMde3a1Twm3dzc9O6772rDhg3atm2bJJlv2HP48GFly5bNfNbR3d1d3bp1I+gDiXTixAm1bNlSPXv21Lp168x/Lx88eKBRo0Zp1KhRqlq1qoYPH65PPvlEq1ev1pQpU8zz8t99911dunRJ69ev1+PHjxUQEKBvv/1WVapU0bFjx3T8+HENGzZMZcqUIeinctxUCylaeHi4pkyZolWrVumNN95Q/fr1lSFDBgUHB2vKlCnq1auXChcurPr16+vAgQOaPn26goKC5OTkZP5W4NVXX9XgwYNVrFgxpuwACfDw4UN988032r9/vxwdHVWjRg01bdpUXl5eCgkJ0ciRI5U5c2bNnj1bRYoU0ZkzZ9SiRQt98cUX+vrrr+Xp6akuXbpo4cKFGjZsmGJiYlS4cGHdv39fv//+u6pXr87NtAALPXz4UJ9++qlWrlyp4OBgBQQEaNGiRXJycjLvP3/+vAYPHqzatWsrPDxcI0eOVHR0tObOnavixYsrMDBQFStWVNWqVbVlyxaVL19eNWrUUNmyZVW2bFndvn1bHh4eNv5JYS0kH6QY/56XL0mRkZG6cuWK+vfvrx49eihjxowaN26c7ty5o3379mnDhg2SpGLFiql27dq6evWq5syZI+n/VhNwcXFRu3btzFMMADzflClTVKFCBR09elQBAQHKmDGjJkyYoLFjx+rx48fKmjWrihUrpt69e6tIkSKaMWOGmjVrpty5c2vfvn1atmyZec7wp59+qsePH2v8+PH65ptv9Pnnn6tMmTL6+OOPbfxTAqnTpEmTVKlSJV24cEE//PCDRo8eLS8vL4WHhyt37tySpBw5cujdd99V7dq1tXTpUlWvXl0nTpzQ999/Lzc3N82bN0/Xr1+XJPXq1UuPHz/WwoULdevWLfPzEPTtjAHYyMKFC41z584ZhmEYUVFR5u0xMTFx2h09etQwDMNYsmSJUb58eaNNmzbG0aNHjVatWhn16tUz/vjjD8MwDOPq1atGjx49jAoVKhjXr19/ST8FYB8ePnxo9O3b1/D19TVWrlxp3L171zwu+/TpY5QsWdJYv369YRiG8eDBAyMyMtJ4//33jcDAQGPBggXG33//bfTv39+oXLmycfbsWXO/rVu3NgIDA419+/YxLgELRUdHG59//rlRrFgxY8GCBcb9+/fN+z7//HOjRo0aRmRkZJy/padPnzbq169vfPHFF8atW7cMwzCM7777zvD39zeWLVtmPHr0yDAMwxg9erTRu3dv4969ey/3h8JLwzQevHRHjhzR2bNnNXbsWFWsWFFjxoyRk5OTVq9erblz5ypXrlyqUKGCWrRoIUny9/fXzZs3NX36dDVp0kT/+9//5OnpqXfeecc8V7FIkSLKlSuXatSooWzZsjG/EEgkV1dX5cuXT+nTp9crr7yizJkzm1e2+uCDD7R69WpFRERIenotzPbt27Vv3z599tlnqlatmpydnVWgQAEtWbJES5cuVbdu3ZQhQwaNHj1ap0+fVtmyZW354wGpmqOjozp27Kj//e9/5utbYqeq3rx5U5kzZ5aTk1OcO+Pu3LlTly9f1ltvvWU+U+/o6Kjo6GjNnz9fvr6+8vX11ccff8wd5e0c03jwUhj/f0rNV199pe7du6ts2bJ6/fXX9eeff2r37t3avn27RowYoVy5cunChQsaPHiwfvnlF3PYiF3/t02bNvL09JT0dD5/unTptHPnTq1fv16S1KxZMw0bNkxZsmSxyc8JpFYmk0nt2rVTkSJFNGrUKEkyX/sSGRmpzJkzK2vWrJKehoxTp07JMAwVLVpUzs7Okp7OFc6cObN++OEH88W6+fLlU61atWzzQwF2xNvb+5kXsl+5ckX58+ePd1d4BwcHeXp6mi/IvX37ti5cuKDWrVvr5MmT5ovvCfr2j7CPZBUb8mP/Z7Jjxw4FBQXJ29tbderUkaenpyZNmqQlS5bo448/1pgxYzR37ly1bNlS48aN09GjRyVJXl5eMplMCg0NlfQ0VBw6dEjBwcEymUzKnj27JNbMB5IiW7Zsat++vc6ePasFCxbIwcFBDg4Omj9/vqKjo3XgwAEdPnxYDg4O5jG5Zs0ahYWF6ejRozpy5IiGDRumfv36qUiRIrb+cQC75uDgoLCwMD169Eju7u7mbbGB39/fX5kyZdIHH3ygOXPm6Msvv9SJEyfUrVs37d27V2XKlLFl+XiJWGcfySo8PFwZMmSQJF28eFEtW7bUp59+qgYNGkiSJk+erEWLFsnR0VGLFy9WxowZJT1dOqxWrVqqXr26Bg0apIcPH2rw4MHatWuXmjdvrtu3b+vIkSOaP3++cuTIYV7GD0DSREREqF+/fjp48KCGDh2q0aNH6+7du8qZM6fOnz+v6OhotW3bVh9++KE++OAD7dmzR97e3rp+/brKlCmjESNGcHEf8JJERkaqevXqat++vXr06BHv3jSrVq3S4sWLdfbsWXl4eOjTTz9lsYo0iDn7SBYRERF67733FB0drRkzZkh6ehe/qKgo+fr6mts1atRI+/bt0/79+xUZGamMGTMqMjJSbm5u6t27t4YPH65atWqpVq1aGjZsmMaOHatTp04pXbp0mjx5snn1AQDW4erqqjfffFMnT55U9+7d1aVLF73xxhvKkiWLoqKiNHr0aM2dO1fXr19XqVKl1LZtW61bt06dO3fW66+/buvygTQlNDRUd+/eVb58+ST937fb4eHh2rt3r65cuaIff/xRFy5cUP78+W1YKWyJOQ9IFunTp1eJEiX0559/6rfffpMkbd26VV5eXsqXL595ek+ePHn0+uuvK1OmTJo2bZokmdcKbtOmjV599VXNmzdPly9fVs6cOTVy5Eh9//33mjVrlvz8/GzzwwF2rnTp0qpZs6ZcXFwUHBysfPnyKVOmTMqePbuGDx+uH3/8UcePH9fYsWPl5+enYcOGEfQBGwgLC5Mk8zSemJgYHT58WO+99566d++u8PBwSSLop3GEfSQLk8mktm3bys/PT998842kp3f7CwwMlJOTkwzDMM8rrFWrlgIDA7Vu3TqdOnVKDg4O5gtzBwwYoN27d2vnzp2KiYmRo6MjF98CyczR0VGtW7eWt7e3vvjiC0n/d92Ni4uLAgMDNW3aNG3bto0pO4ANxJ4wCw0NlYODg3Lnzq1r165pxIgRatu2raKjo7Vhwwa9//77ti0UKQJhH8km9mK/M2fOaNiwYXJ0dIzzVWPshURubm5q0KCBXF1dNWXKFElPA0VMTIwCAgI0ePBgNWzYkItvgZcoX758atmypXbv3q1t27bJZDIpOjraPA4LFixoXhkLwMsV++H7zp07ypgxo3766Se1atVKW7du1aRJkzRz5kzlyZPHxlUipeACXSSriIgIDRo0SKtWrZL09K58FSpUUNWqVVW+fHnznPuYmBiNHTtWK1as0IABA1S3bl1FR0ebp/QAePnu3bunHj166OzZs9qzZ4+tywHwL3PnztXw4cOVKVMmdevWTZ07d7Z1SUiBSFJIVq6urmrVqpV5ek7r1q01ffp0rV69Wo6Ojipbtqxq1qypevXqqXbt2tq6dauWLVumunXrEvQBG8ucObPefPNNHTt2TDExMTKZTKzJDaQgRYsWVd++fdWxY0e5uLjYuhykUJzZR7J78uSJvvrqK82fP19btmxRtmzZdOTIEe3fv1+bNm3SH3/8Yb45zzvvvGNelhOA7RmGQcAHUijGJxKCsI+X4tKlS+rataty586tH3/8Mc6+kJAQ7du3TxUqVFCuXLlsVCEAAID94YpHvBR58+ZVq1attG/fPm3fvl2SzCvueHt7q2nTpgR9AAAAK+PMPl4aLvYDAAB4ubgCEi8NF/sBAAC8XJzZx0vFxUQAAAAvD3P28VIR9AEAAF4ewj4AAABgpwj7AAAAgJ0i7AMAAAB2irAPAAAA2CnCPgAAAGCnCPsAAACAnSLsAwAAAHaKsA8AAADYKSdbFwAASD6nTp3SxIkTdeTIEd28eVNZsmRR4cKFFRQUpA4dOti6PABAMjMZhmHYuggAgPX9+eefevPNN5U7d24FBwfL09NT165d06FDh3Tp0iVt2LDB1iUCAJIZZ/YBwE59//33ypQpk3799Ve5u7vH2Xfr1i0bVQUAeJmYsw8AdurSpUsqXLhwvKAvSdmyZYvzeNmyZWrWrJlKlCih8uXLq0+fPrp27VqcNn/88Yfee+89Va9eXcWKFVO1atU0cuRIPXr0KE67GzduaMCAAapataqKFSumypUrq3v37goJCYnTbt68eWrYsKG5zdChQ3X//v04bTp06KBGjRrpzJkz6tChg0qWLKkqVapo6tSpSXlpACDN4Mw+ANgpLy8vHThwQH/99Zd8fHye227y5MkaN26c6tevr+bNm+v27duaO3eu2rVrp6VLl5o/LKxdu1aPHj1SmzZtlCVLFh0+fFhz587V9evXNX78eHN/vXr10pkzZ9S+fXt5eXnp9u3b2rVrl65duyZvb29J0nfffacJEyaoUqVKatOmjc6fP68FCxboyJEjWrBggZydnc393bt3T++8845q166t+vXra926dfr666/l4+OjatWqJdOrBwB2wgAA2KWdO3cafn5+hp+fn9GqVSvjyy+/NHbs2GFERkaa24SEhBh+fn7G5MmT4xx76tQpo2jRonG2R0RExHuOKVOmGL6+vsaVK1cMwzCMe/fuGT4+Psa0adOeW9etW7cMf39/o1OnTsaTJ0/M2+fOnWv4+PgYv/76q3lb+/btDR8fH2PJkiXmbY8fPzYCAwONXr16JfzFAIA0imk8AGCnAgMD9dNPPykoKEgnT57UtGnT1LlzZ1WtWlWbNm2SJG3YsEExMTGqX7++bt++bf6XPXt25cuXT3v37jX3lz59evN/h4eH6/bt2ypdurQMw9Dx48fNbZydnfX777/r3r17z6zrt99+U1RUlN588005OPzfn6EWLVrIzc1N27Zti9M+Q4YMatKkifmxi4uLihcvrsuXLyf9RQIAO8c0HgCwYyVKlNCECRMUGRmpkydPauPGjZo5c6Z69+6tpUuX6sKFCzIMQ3Xq1Hnm8U5O//dn4urVqxo/frw2b94cL8g/ePBA0tMg/uGHH+qLL75QYGCgSpYsqerVq5tXA4rtR5IKFiwYpw8XFxflyZNHV65cibM9Z86cMplMcbZlzpxZp06dsuAVAYC0hbAPAGmAi4uLSpQooRIlSih//vwaMGCA1q5dq5iYGJlMJk2dOlWOjo7xjsuQIYMk6cmTJ3r77bfN8+cLFiyoDBkyKDQ0VP3791dMTIz5mI4dOyooKEgbN27Uzp07NW7cOP3www+aNWuWihYtmujan1UXACBhCPsAkMYUK1ZMkvT3338rb968MgxD3t7eKlCgwHOP+euvv3ThwgV98cUXCg4ONm/ftWvXM9vnzZtXnTp1UqdOnXThwgUFBwdr+vTp+vrrr5U7d25J0rlz55QnTx7zMZGRkQoJCVGlSpWs8FMCACSW3gQAu7Vnzx4Zz7hvYuyc+IIFC6pOnTpydHTUhAkT4rU1DEN37tyRJPPc+n+2MQxDs2fPjnNMRESEHj9+HGdb3rx5lTFjRkVGRkqSKlWqJGdnZ82ZMydOf7/++qvCwsJYYQcArIgz+wBgp4YPH66IiAjVrl1bBQsWVFRUlP7880+tWbNGXl5eatasmdzd3fX+++9rzJgxunLlimrVqqWMGTMqJCREGzduVMuWLdW5c2cVLFhQefPm1RdffKHQ0FC5ublp3bp18dbFv3Dhgjp27Kh69eqpcOHCcnR01MaNG3Xz5k01bNhQkuTh4aGuXbtqwoQJeueddxQUFKTz589r/vz5Kl68uF5//XVbvFwAYJcI+wBgpz7++GOtXbtW27Zt088//6yoqCjlzp1bbdu2Vffu3c3r53fp0kX58+fXzJkzNXHiRElPL4oNDAxUUFCQJMnZ2Vnff/+9hg8frilTpihdunSqXbu22rVrF2elnJw5c6phw4bavXu3li9fLkdHRxUsWFDffvut6tata27Xq1cveXh4aO7cuRo1apQyZ86sli1bqm/fvnHW2AcAJI3JeNZ3vAAAAABSPebsAwAAAHaKsA8AAADYKcI+AAAAYKcI+wAAAICdIuwDAAAAdoqwDwAAANgpwj4AAABgpwj7AAAAgJ0i7AMAAAB2irAPAAAA2CnCPgAAAGCnCPsAAACAnfp/vUuIUrRE/e8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9" name="AutoShape 5" descr="data:image/png;base64,iVBORw0KGgoAAAANSUhEUgAAAvsAAAHzCAYAAAC+OtK+AAAAOnRFWHRTb2Z0d2FyZQBNYXRwbG90bGliIHZlcnNpb24zLjEwLjAsIGh0dHBzOi8vbWF0cGxvdGxpYi5vcmcvlHJYcgAAAAlwSFlzAAAPYQAAD2EBqD+naQAAV5FJREFUeJzt3Xd8jff///HnySJEEFIjsTURsYsgZuxVofZolX6sUqXDKFpqdahSo0rt0WrtvXdRVXvVJkZqCwlJ5Pr94ZfzbRoqOTlxkpPH/XZzu/Vc1/t6n1dOzrt5nuu8r/dlMgzDEAAAAAC742DrAgAAAAAkD8I+AAAAYKcI+wAAAICdIuwDAAAAdoqwDwAAANgpwj4AAABgpwj7AAAAgJ0i7AMAAAB2irAPAAAA2CnCPgAg2Xz33Xfy9fW16Nj+/fsrKCjohe1CQkLk6+urxYsX/2e7xYsXy9fXV0eOHLGoHgBIjQj7AF6qefPmydfXVy1atLB1KSnSkydPtGjRInXo0EHly5dXsWLFFBQUpAEDBqSYkLpq1Sr5+vrqp59+eub+Tz/9VP7+/jp58uRLrizl2Lx5s9q3b6+KFSuqZMmSqlmzpnr37q3t27fbujQAaQxhH8BLtWLFCnl5eenw4cO6ePGirctJUR49eqSuXbtq4MCBMgxDXbt21WeffaYmTZrowIEDatGiha5fv27rMtWwYUNVqVJFY8aM0c2bN+PsO3z4sBYuXKi33npLRYoUUffu3XX48GEbVWobP/74o7p37y6TyaSuXbtqwIABqlOnji5evKjVq1fbujwAaYyTrQsAkHZcvnxZBw4c0IQJEzRkyBCtWLFCPXv2fKk1xMTEKCoqSunSpXupz5sQX375pXbs2KEBAwaoY8eOcfb17NlTM2fO/M/jw8PDlSFDhuQr8B8+++wzNWrUSKNGjdKYMWMkPf1WYsiQIcqVK5d69eolSXJycpKTU9r5UxMdHa1JkyYpMDBQ06dPj7f/1q1bNqgKQFrGmX0AL82KFSuUOXNmVatWTXXr1tWKFSvM+6KiolS+fHkNGDAg3nEPHjxQ8eLF9cUXX5i3RUZGavz48apdu7aKFSumatWq6csvv1RkZGScY319fTVs2DAtX75cDRs2VPHixbVjxw5JT8/Atm7dWgEBASpRooSaNWumtWvXxnv+R48eafjw4QoICFDp0qXVrVs3hYaGytfXV999912ctqGhoRowYIAqVaqkYsWKqWHDhvr1119f+Npcv35dP//8swIDA+MFfUlydHRU586dlTNnTkn/Nxf+zJkz+uCDD1SuXDm1bdtW0tPAOXHiRNWqVcs8Deibb76J99oEBQWpa9eu2rlzp5o0aaLixYurQYMGWr9+/Qvr9fb2Vs+ePbVy5Urt2rVLkjRnzhydOHFCn332mVxdXePU+W/Lli1Ts2bNVKJECZUvX159+vTRtWvXXvi89+/fV//+/fXaa6+pbNmy6tevn8LCwl543D89evRIQ4YMUUBAgMqUKaOPP/5Y9+7dM+/v16+fAgICFBUVFe/YTp06qW7dus/t+86dO3rw4IHKlCnzzP3ZsmWL8zih7+NFixbpzTffVMWKFVWsWDE1aNBA8+fPj9f/kSNH1LlzZ/N7OnYK2D+Fh4dr9OjRqlatmooVK6a6devqxx9/lGEYcdrFjp2NGzeqUaNG5vczU5GA1CXtnG4BYHMrVqxQ7dq15eLiokaNGmnBggU6fPiwSpQoIWdnZ9WqVUsbNmzQ0KFD5eLiYj5u48aNioyMVIMGDSQ9PTvfvXt37d+/Xy1btlShQoX0119/adasWbpw4YImTZoU53n37NmjNWvWqF27dsqaNau8vLwkSbNnz1ZQUJAaN26sqKgorVq1Sr1799aUKVNUvXp18/H9+/fXmjVr1KRJE5UsWVL79u1Tly5d4v18N2/eVMuWLWUymdSuXTt5eHho+/bt+uSTT/TgwYNnhvhY27dvV3R0tF5//fVEvaa9e/dWvnz51KdPH3NYGzRokJYsWaK6devq7bff1uHDhzVlyhSdPXtWEydOjHP8hQsX1KdPH7Vu3VpNmzbVokWL1Lt3b02bNk2BgYH/+dwdO3bUihUr9Nlnn2natGkaN26cGjZsqKpVq/7ncZMnT9a4ceNUv359NW/eXLdv39bcuXPVrl07LV26VO7u7s88zjAM9ejRQ/v371fr1q1VqFAhbdiwQf369UvEKyYNGzZM7u7u6tmzp86fP68FCxbo6tWrmjNnjkwmk5o0aaKlS5dq586dqlGjhvm4GzduaM+ePXr33Xef23e2bNmUPn1685z9LFmyPLdtYt7HCxYs0KuvvqqgoCA5OTlpy5YtGjp0qAzDULt27SQ9/dagc+fOypo1q7p06SJ3d3eFhIRow4YNcV7D7t27a+/evWrevLn8/Py0Y8cOffnllwoNDdXAgQPj1Lh//36tX79ebdu2VcaMGTVnzhy999572rJli7JmzZqo1x2AjRgA8BIcOXLE8PHxMXbt2mUYhmHExMQYVatWNYYPH25us2PHDsPHx8fYvHlznGP/97//GTVr1jQ/Xrp0qVGkSBFj3759cdotWLDA8PHxMfbv32/e5uPjYxQpUsQ4ffp0vJoiIiLiPI6MjDQaNWpkvPnmm+ZtR48eNXx8fIwRI0bEadu/f3/Dx8fHGD9+vHnbwIEDjcDAQOP27dtx2vbp08d47bXX4j3fP40cOdLw8fExjh8//tw2/zR+/HjDx8fH6Nu3b5ztJ06cMHx8fIxPPvkkzvbRo0cbPj4+xu7du83batSoYfj4+Bjr1q0zbwsLCzMCAwON4ODgBNVx6NAho0iRIkb58uWNsmXLGjdu3HhmnbFCQkIMPz8/Y/LkyXHanTp1yihatGic7f369TNq1KhhfrxhwwbDx8fHmDp1qnlbdHS00bZtW8PHx8dYtGjRf9a6aNEiw8fHx2jatKkRGRlp3j516lTDx8fH2Lhxo2EYhvHkyROjatWqxvvvvx/n+BkzZhi+vr7GpUuX/vN5xo0bZ/j4+BilSpUy3nnnHWPy5MnG0aNH47VLzPv4We+dTp06xRkXsa/P4cOHn1tbbJtJkybF2d6rVy/D19fXuHjxonmbj4+P4e/vH2db7Ptrzpw5//EKAEhJmMYD4KVYsWKFsmfProCAAEmSyWRSgwYNtHr1aj158kSSVKFCBWXNmjXORYz37t3Tb7/9Zj6rL0lr165VoUKFVLBgQd2+fdv8r0KFCpKkvXv3xnnucuXKqXDhwvFqSp8+fZznCQsL02uvvabjx4+bt8dO+YmdIhOrffv2cR4bhqH169crKChIhmHEqaty5coKCwvTsWPHnvv6PHjwQJKUMWPG57Z5ltatW8d5vG3bNknS22+/HWd7p06d4uyP9corr6h27drmx25ubgoODtbx48d148aNFz5/iRIl1Lp1a929e1d9+/ZV9uzZ/7P9hg0bFBMTo/r168d5jbJnz658+fLF+9390/bt2+Xk5KQ2bdqYtzk6Osb7XbxIq1at5OzsbH7cpk0bOTk5mV8bBwcHNW7cWJs3bzb/XiRp+fLlKl26tPLkyfOf/b/33nsaM2aM/Pz8tHPnTo0dO1bNmjVT06ZNdfbsWXO7xLyP//leDQsL0+3bt1W+fHldvnzZPI0pU6ZMkqStW7c+cwqS9PQ1dHR0VIcOHeJs79SpkwzDiDdFp1KlSsqbN6/5cZEiReTm5qbLly//52sAIOVgGg+AZPfkyROtWrVKAQEBCgkJMW8vUaKEpk+frt27d6ty5cpycnJSnTp1tHLlSkVGRsrFxUXr169XVFRUnLB/8eJFnT17VhUrVnzm8/37Ikhvb+9nttuyZYsmT56sEydOxJkjbTKZzP999epVOTg4xOsjX758cR7fvn1b9+/f188//6yff/75mc93+/btZ26XnoZsSXr48OFz2zzLv+u6cuWKHBwc4gQ0SfL09JS7u7uuXLkSZ3u+fPni/LySlD9/fnNfnp6eL6yhePHikqRixYq9sO2FCxdkGIbq1KnzzP3/dTFvbD3//kBUoECBFz7vP/37d5cxY0Z5enrGeW2Cg4M1depUbdy4UcHBwTp37pyOHTumoUOHJug5GjVqpEaNGunBgwc6dOiQFi9erJUrV6pbt25auXKl0qVLl6j38f79+/Xdd9/p4MGDioiIiNMuLCxMmTJlUvny5VW3bl1NmDBBM2fOVPny5VWrVi01btzYPC3uypUreuWVV8zvt1iFChUy7/+nXLlyxasrc+bMun//foJeBwC2R9gHkOz27NmjGzduaNWqVVq1alW8/StWrFDlypUlPV3W8eeff9b27dtVq1YtrV27VgULFlSRIkXM7WNiYuTj4/PMi3klmS9ijfXPs6Kx/vjjD3Xv3l3lypXTp59+Kk9PTzk7O2vRokVauXJlon/GmJgYSdLrr7+upk2bPrPNf91cqmDBgpKkU6dOyc/PL8HP+7xVhf4d4FOKmJgYmUwmTZ06VY6OjvH2v6zVhF6kcOHC8vf31/LlyxUcHKzly5fL2dlZ9evXT1Q/bm5uCgwMVGBgoJydnbVkyRIdOnRI5cuXT/D7+NKlS+rYsaMKFiyo/v37K1euXHJ2dta2bds0c+ZM83vPZDJp/PjxOnjwoLZs2aIdO3Zo4MCBmjFjhn7++edEf2sk6Zm/I0nxLuYFkHIR9gEkuxUrVihbtmwaMmRIvH0bNmwwX5SbPn16lStXTp6enlq9erXKlCmjPXv2qFu3bnGOyZs3r06ePKmKFStaHGrXrVundOnS6ccff4xzMfCiRYvitMudO7diYmIUEhJiPuMtKd49Ajw8PJQxY0bFxMSoUqVKia6natWqcnR01IoVKxQcHJzo42N5eXkpJiZGFy9eNJ+tlZ5ePHz//n3zxcmxLl68KMMw4ryOFy5cMPdlbXnz5pVhGPL29k70GXkvLy/t2bNHDx8+jBNcz58/n6h+Ll68aJ4qIz39NuXGjRvxLiwODg7W6NGj9ffff2vlypWqXr26MmfOnKjn+qdixYppyZIl5ulRCX0fb968WZGRkZo8ebJy585t3v68KU+lSpVSqVKl1KdPH61YsUIffvihVq9erRYtWsjLy0u7d+/WgwcP4pzdP3funKTk+Z0DsC3m7ANIVo8ePdL69etVvXp11atXL96/du3a6eHDh9q8ebOkp/Ol69Wrpy1btmj58uWKjo6OM4VHkurXr6/Q0FAtXLjwmc8XHh7+wrocHR1lMpnM1wtIUkhIiDZt2hSnXew3Dv9e5nDu3Lnx+qtbt67WrVunv/76K97z/dcUHunpdIkWLVpo586dmjNnTrz9MTExmj59+gtvqlWtWjVJ0qxZs+JsnzFjRpz9sf7+++84q7U8ePBAS5culZ+fX4Km8CRWnTp15OjoqAkTJsQ7O2wYhu7cufPcY6tWraro6GgtWLDAvO3Jkyfxfhcv8vPPP8eZ075gwQJFR0fHC/uNGjWSyWTSiBEjdPny5QStlBQREaEDBw48c1/sfPjYDzkJfR/Hnl3/5+sVFhYW74PpvXv34r2msd8SxU5Tq1q1qp48eaJ58+bFaTdz5kyZTKYXrqQEIPXhzD6AZLV582Y9fPhQQUFBz9xfqlQpeXh4aPny5eZQX79+fc2ZM0fjx4+Xj49PnDPUktSkSROtWbNGn376qfbu3asyZcroyZMnOnfunNauXatp06aZ55E/T7Vq1TRjxgy98847atSokW7duqX58+crb968OnXqlLld7Drks2bN0t27d81Lb8ae/f7nGdkPPvhAe/fuVcuWLdWiRQsVLlxY9+7d07Fjx7R79279/vvv/1lT//79dfnyZQ0fPlzr169XjRo15O7urmvXrmnt2rU6d+6cGjZs+J99FClSRE2bNtXPP/+s+/fvq1y5cjpy5IiWLFmiWrVqxTmjLT2dn//JJ5/oyJEjypYtmxYtWqRbt25p1KhR//k8lsqbN6/ef/99jRkzRleuXFGtWrWUMWNGhYSEaOPGjWrZsqU6d+78zGODgoJUpkwZ87GFCxfW+vXrE73OflRUlDp27Kj69evr/Pnzmj9/vl577TXVrFkzTjsPDw9VqVJFa9eulbu7e5zlWJ8nIiJCrVu3VqlSpVSlShXlzJlTYWFh2rhxo/744w/VqlVLRYsWlZTw93HsFKBu3bqpdevWevjwoX755Rdly5YtzkXUS5Ys0YIFC1SrVi3lzZtXDx8+1MKFC+Xm5mYO8UFBQQoICNDYsWN15coV+fr6ateuXdq0aZPeeuuteNd6AEj9CPsAktXy5cuVLl26567Z7uDgoOrVq2vFihW6c+eOsmbNqjJlyihXrly6du1avLP6scdMnDhRM2fO1LJly7Rhwwa5urrK29tbHTp0SND0kIoVK2rEiBGaOnWqRo4cKW9vb3344Ye6cuVKnLAvSV988YWyZ8+uVatWacOGDapUqZLGjh2revXqxZkClD17dv3yyy+aOHGiNmzYoAULFihLliwqXLiwPvzwwxfW5OrqqqlTp2rx4sVaunSpJk2apEePHumVV15RQECAvv76a+XIkeOF/QwfPlze3t5asmSJNm7cqOzZs6tr167PvFtx/vz5NXjwYH355Zc6f/68vL29NXbsWFWpUuWFz2OpLl26KH/+/Jo5c6Z53f+cOXMqMDDwuR8Kpae/98mTJ2vkyJFavny5TCaTgoKC1L9//0RNfYq9e/P48eMVFRWlhg0batCgQc+cStOkSRNt2bJF9evXj/O7fh53d3cNHz5cW7du1eLFi3Xjxg05OjqqQIEC+vjjj+OsgpPQ93HBggU1fvx4ffvtt+b3Yps2beTh4RFnXfzy5cvryJEjWr16tW7evKlMmTKpRIkS+vrrr80rCMW+huPHj9fq1au1ePFieXl56eOPPzav2ATAvpgMrrIBgEQ7ceKEgoOD9dVXXyX6RlgpRVBQkF599VVNmTLF1qWkWBs3btS7776refPmqWzZsrYuBwASjTn7APACjx49irdt1qxZcnBwULly5WxQEV6WX375RXny5NFrr71m61IAwCJM4wGAF5g2bZqOHj2qChUqyNHRUdu3b9f27dvVqlWrZ65DjtRv1apVOnXqlLZu3apPPvkkxS5lCgAvQtgHgBcoXbq0du3apUmTJik8PFy5cuVSr1694i0JCvvRt29fZciQQc2bN49392QASE2Ysw8AAADYKebsAwAAAHaKsA8AAADYKbues3/q1CmFh4fLycmuf0wAAACkMVFRUTKZTCpduvR/trPrFBwZGRnv1uEAAABAapfQjGvXYV+SnJ2dVbx4cVuXAQAAAFjNkSNHEtSOOfsAAACAnSLsAwAAAHaKsA8AAADYKcI+AAAAYKcI+wAAAICdIuwDAAAAdoqwDwAAANgpwj4AAABgpwj7AAAAgJ0i7AMAAAB2irAPAAAA2CnCPgAAAGCnCPsAAACAnSLsAwAAAHaKsA8AAADYKcI+AAAAYKcI+0kUE2PYugQg2fE+BwAgdXKydQGpnYODSRMX7NKVv+/ZuhQgWXi9klnvtgm0dRkAAMAChH0ruPL3PV24csfWZQAAAABxMI0HAAAAsFOEfQAAAMBOEfYBAAAAO0XYBwAAAOwUYR8AAACwU4R9AAAAwE4R9gEAAAA7RdgHAAAA7BRhHwAAALBThH0AAADAThH2AQAAADtF2AcAAADsFGEfAAAAsFOEfQAAAMBOEfYBAAAAO0XYBwAAAOwUYR8AAACwU4R9AAAAwE4R9gEAAAA7RdgHAAAA7BRhHwAAALBThH0AAADAThH2AQAAADtF2AcAAADsFGEfAAAAsFOEfQAAAMBOEfYBAAAAO0XYBwAAAOwUYR8AAACwU4R9AAAAwE4R9gEAAAA7RdgHAAAA7BRhHwAAALBThH0AAADATqWosL948WL5+vrG+/f111/bujQAqVBMjGHrEoBkx/scwH9xsnUBzzJt2jRlypTJ/DhHjhw2rAZAauXgYNLEBbt05e97ti4FSBZer2TWu20CbV0GgBQsRYZ9f39/eXh42LoMAHbgyt/3dOHKHVuXAQCATaSoaTwAAAAArCdFntlv1KiR7ty5o9y5c6tly5Z655135OjoaFFfhmEoPDzcyhU+ZTKZ5Orqmix9AylNRESEDCP1zA1mfCItSW3jE0DSGYYhk8n0wnYpKux7enqqV69eKlmypEwmkzZv3qxvv/1WoaGhGjJkiEV9RkVF6cSJE1au9ClXV1cVLVo0WfoGUprz588rIiLC1mUkGOMTaUlqG58ArMPFxeWFbVJU2K9SpYqqVKlifly5cmWlS5dOs2bNUrdu3fTKK68kuk9nZ2cVLlzYmmWaJeTTFGAvChQokKrOHDI+kZaktvEJIOnOnDmToHYpKuw/S/369TV9+nSdOHHCorBvMpmUIUOGZKgMSFuYEgOkXIxPIO1J6EktLtAFAAAA7FSKD/urV6+Wo6Mjc28BAACAREpR03g6d+6sgIAA+fr6SpI2bdqkhQsX6s0335Snp6eNqwMAAABSlxQV9gsUKKBFixbp+vXriomJUf78+TVw4EB16NDB1qUBAAAAqU6KCvuDBg2ydQkAAACA3Ujxc/YBAAAAWIawDwAAANgpwj4AAABgpwj7AAAAgJ0i7AMAAAB2irAPAAAA2CnCPgAAAGCnCPsAAACAnSLsAwAAAHaKsA8AAADYKcI+AAAAYKcI+wAAAICdIuwDAAAAdoqwDwAAANgpwj4AALCJmBjD1iUAyc7W73Mnmz47AABIsxwcTJq4YJeu/H3P1qUAycLrlcx6t02gTWsg7AMAAJu58vc9Xbhyx9ZlAHaLaTwAAACAnbL4zP6ZM2d05swZ3blzRyaTSVmzZlWhQoVUuHBha9YHAAAAwEKJCvt79+7VkiVLtGXLFt2/f1+GEfeCA5PJpEyZMqlGjRpq1qyZAgICrFosAAAAgIRLUNjfvn27xo0bp2PHjunVV19V06ZN5e/vrzx58sjd3V2GYej+/fsKCQnRsWPHtGvXLi1btkxFixZVnz59VKVKleT+OQAAAAD8S4LCfu/evdW8eXN9+eWXKlSo0HPblS5dWo0bN5YknT17Vj/99JN69+6tP//80zrVAgAAAEiwBIX9LVu2KEuWLInquFChQvrkk0/07rvvWlIXAAAAgCRK0Go8iQ361joWAAAAgOVYehMAAACwUxYvvXny5EnNnTtXx48fV1hYmGJiYuLsN5lM2rhxY5ILBAAAAGAZi87s7927Vy1atNDWrVv1yiuv6PLly8qTJ49eeeUVXb16VRkyZFC5cuWsXSsAAACARLAo7I8fP1558uTR2rVrNXLkSElS165dtWDBAv30008KDQ1VvXr1rFooAAAAgMSxKOwfP35czZs3l5ubmxwdHSXJPI2nZMmSatWqlcaNG2e9KgEAAAAkmkVh39HRURkzZpQkubu7y8nJSbdu3TLvz5Mnj86ePWudCgEAAABYxKKwnzdvXl24cEHS0wtxCxYsGOdi3K1btyp79uxWKRAAAACAZSwK+9WqVdOqVasUHR0tSXr77be1fv161alTR3Xq1NHmzZvVqlUrqxYKAAAAIHEsWnqzR48eevPNN83z9Zs2bSoHBwetX79ejo6O6tatm5o1a2bVQgEAAAAkjkVh39nZWVmzZo2zrUmTJmrSpIlVigIAAACQdNxBFwAAALBTCT6zP3z48ER3PmjQoEQfAwAAAMA6Ehz2586dG2+byWSSYRjPbG8ymQj7AAAAgA0lOOyfPHkyzuPbt2+rUqVKmjFjhipWrGj1wgAAAAAkjcVz9k0mkzXrAAAAAGBlXKALAAAA2CnCPgAAAGCnCPsAAACAnUpy2GfuPgAAAJAyJXg1ntKlSz8z2Hfr1k0ODvE/M5hMJu3fvz9p1QEAAACwWILDft26dTmLDwAAAKQiCQ77o0ePTs46AAAAAFhZgufsDxs2TNu3b1dkZGRy1gMAAADAShJ8Zv/gwYNasGCB0qdPr4CAAFWtWlXVq1dX7ty5k7M+AAAAABZKcNhfvHixbty4oW3btmn79u365ptv9Pnnn6tw4cKqVq2aqlevrjJlyjzzYl0AAAAAL1+Cw74keXp6qnnz5mrevLmio6O1b98+bd++XZs3b9a0adPk7u6uwMBAVa9eXVWqVJGHh0dy1Q0AAADgBRIV9uMc6OSkihUrqmLFiurXr59CQkK0detWbd++XUOGDFFUVJSKFSumXr16qUqVKtasGQAAAEACWBz2/83b21vt27dX+/bt9fjxY+3evVvbtm3T9evXLerv4cOHql+/vkJDQ/Xrr7+qePHi1ioVAAAASBOsFvYl6fLly4qMjFShQoVUvXp1Va9e3eK+Jk2apCdPnlivOAAAACCNsehq2tmzZ6tPnz5xtg0YMEB16tRRo0aN1KxZM926dcvios6ePav58+erV69eFvcBAAAApHUWhf1ffvlF2bJlMz/esWOHlixZopYtW2rQoEEKCQnRhAkTLC5q+PDhat26tQoUKGBxHwAAAEBaZ9E0nqtXr6pQoULmx2vWrJG3t7eGDh0qSbp586aWLVtmUUFr167VX3/9pe+++07Hjh2zqA8AAAAAFoZ9wzDiPN61a5dq1qxpfuzl5aWbN28mut+IiAiNHj1affr0kZubmyWlxWMYhsLDw63S17+ZTCa5uromS99AShMRERFv7KdkjE+kJaltfEqMUaQtyTFGDcOQyWR6YTuLwn7+/Pm1ceNGtWnTRjt27NDff/+tqlWrmvdfv35d7u7uie538uTJypYtm9544w1LynqmqKgonThxwmr9/ZOrq6uKFi2aLH0DKc358+cVERFh6zISjPGJtCS1jU+JMYq0JbnGqIuLywvbWBT2O3furA8++EDlypVTRESEChUqpMqVK5v37927V0WKFElUn1euXNH06dM1ceJEhYWFSZL5jHx4eLgePnyojBkzJrpWZ2dnFS5cONHHJURCPk0B9qJAgQKp6swh4xNpSWobnxJjFGlLcozRM2fOJKidRWG/YcOGypIli7Zt2yZ3d3e1bdtWTk5Pu7p7964yZ86sJk2aJKrPkJAQRUVFqUuXLvH2vfnmmypZsqQWLlyY6FpNJpMyZMiQ6OMAxMXX7UDKxfgEUrbkGKMJ/cBs8Tr7gYGBCgwMjLc9S5YsFq3E4+fnp9mzZ8fZduLECY0aNUpDhw7lploAAABAIiXpplqhoaHat2+fbt26pbp16ypnzpx68uSJwsLClClTJjk6Oia4L3d3dwUEBDxzn7+/v/z9/ZNSKgAAAJDmWLwaz+jRozVv3jxFR0fLZDLJx8dHOXPmVHh4uIKCgvTee++pY8eOVi4XAAAAQEJZdFOtadOmafbs2erUqZNmzJgR54KDTJkyqU6dOlq/fn2SiwsICNCpU6eYwgMAAABYwOI76AYHB6tv377PXHXH19dXFy5cSGptAAAAAJLAorB/7do1lS5d+rn7XV1d9eDBA4uLAgAAAJB0FoX9bNmy6dq1a8/df+zYMeXKlcviogAAAAAknUVhv3bt2vrpp590+fJl87bYtT537typJUuWqF69etapEAAAAIBFLFqN57333tPevXvVpEkTlS1bViaTSVOnTtW4ceN08OBB+fn5qVu3btauFQAAAEAiWHRmP1OmTFq4cKHeeecdhYaGKl26dNq3b5/CwsL07rvvav78+dzNDwAAALAxi2+qlT59evXo0UM9evSwZj0AAAAArMSiM/sAAAAAUj6Lz+yfPXtWixYtUkhIiO7duxfnxlrS0wt2Z82aleQCAQAAAFjGorC/dOlSDRw4UE5OTipQoIDc3d3jtfl3+AcAAADwclkU9idMmCA/Pz9NnTpVHh4e1q4JAAAAgBVYNGf/77//1htvvEHQBwAAAFIwi8K+r6+v/v77b2vXAgAAAMCKLAr7/fv316+//qo///zT2vUAAAAAsBKL5uxPnTpVmTJlUrt27VS4cGHlypVLDg5xPzeYTCZNnjzZKkUCAAAASDyLwv5ff/0lScqVK5cePnyoM2fOxGtjMpmSVhkAAACAJLEo7G/evNnadQAAAACwMu6gCwAAANgpi++gK0kPHjzQ1atXdf/+/WfeRKtcuXJJ6R4AAABAElgU9u/cuaPPP/9c69ev15MnT+LtNwxDJpNJJ06cSHKBAAAAACxjUdgfPHiwtmzZog4dOqhs2bJyd3e3dl0AAAAAksiisL9r1y699dZb+vjjj61dDwAAAAArsegC3fTp08vLy8vatQAAAACwIovC/uuvv66NGzdauxYAAAAAVmTRNJ66detq37596ty5s1q1aqWcOXPK0dExXjt/f/8kFwgAAADAMhaF/bZt25r/+7fffou3n9V4AAAAANuzKOyPGjXK2nUAAAAAsDKLwn7Tpk2tXQcAAAAAK0vSHXQl6eHDh7p+/bokKWfOnMqYMWOSiwIAAACQdBaH/cOHD+urr77Sn3/+qZiYGEmSg4ODXnvtNX300UcqXry41YoEAAAAkHgWhf1Dhw6pQ4cOcnZ2VvPmzVWoUCFJ0tmzZ7Vq1Sq1b99ec+bMUYkSJaxaLAAAAICEsyjsjx07Vjly5ND8+fPl6ekZZ1+vXr3Upk0bjR07VjNmzLBKkQAAAAASz6Kbah06dEitWrWKF/QlKXv27GrZsqUOHjyY1NoAAAAAJIFFYd/BwUFPnjx57v6YmBg5OFjUNQAAAAArsSiRly5dWvPmzdOVK1fi7bt69armz5+vMmXKJLk4AAAAAJZL8Jz9mjVrauDAgapZs6b69u2rdu3aqX79+qpdu7by588vSTp//rw2bdokR0dHffDBB8lVMwAAAIAESHDYv3LlisLDwyVJRYsW1S+//KKxY8dq8+bNioiIkCS5urqqSpUqev/991W4cOHkqRgAAABAgli8zn7hwoU1ceJExcTE6Pbt25IkDw8P5uoDAAAAKUSS76Dr4OCg7NmzW6MWAAAAAFaUqLC/cOFC/fbbbwlqazKZNHLkSIuKAgAAAJB0iQr7hw4d0tGjRxPUlrAPAAAA2Faiwv6IESPUuHHj5KoFAAAAgBVxNS0AAABgpwj7AAAAgJ0i7AMAAAB2KsFhf9SoUSpdunRy1gIAAADAihJ0ge61a9fUtGlTi57g2rVrypUrl0XHAgAAALBcgs7s165dWwMGDNDhw4cT3PGff/6pjz/+WHXq1LG4OAAAAACWS9CZ/fnz5+vbb79Vy5YtlTt3blWoUEH+/v7y9vaWu7u7DMPQ/fv3FRISoqNHj2rPnj0KDQ1VQECA5s2bl9w/AwAAAIBnSFDYL1GihKZPn64TJ05o0aJF2rx5sxYvXizp6c2zJMkwDElSrly5VKtWLb3xxhvy8/NLprIBAAAAvEiibqrl5+enQYMGadCgQQoNDdW5c+d09+5dSVKWLFlUsGBB5ciRIznqBAAAAJBIiQr7/5QjRw6CPQAAAJCCWRz2k8O2bds0depUnTlzRg8ePFCOHDlUq1Yt9ezZU5kyZbJ1eQAAAECqkqLC/t27d1WiRAl16NBBWbJk0enTp/Xdd9/p9OnTmj59uq3LAwAAAFKVFBX2mzRpEudxQECAXFxcNHjwYIWGhjJtCAAAAEiEBN9B11ayZMkiSYqKirJtIQAAAEAqk6LO7Md68uSJoqOjdebMGU2cOFFBQUHy9va2dVkAAABAqpIiw36NGjUUGhoqSapSpYrGjBljcV+GYSg8PNxapcVhMpnk6uqaLH0DKU1ERIT5fhqpAeMTaUlqG58SYxRpS3KMUcMwzPe7+i8JCvsTJkxIdAEmk0nvvvtuoo+TpB9++EERERE6c+aMJk+erG7dumnGjBlydHRMdF9RUVE6ceKERXW8iKurq4oWLZosfQMpzfnz5xUREWHrMhKM8Ym0JLWNT4kxirQlucaoi4vLC9tYHPb/fefcf26P/aRhadgvUqSIJKl06dIqXry4mjRpog0bNqhevXqJ7svZ2VmFCxe2qI4XScinKcBeFChQIFWdOWR8Ii1JbeNTYowibUmOMXrmzJkEtUtQ2D958mScx6GhoerSpYteffVVvfXWWypQoIAk6dy5c5o1a5bOnj2rKVOmJLLkZ/P19ZWzs7MuXbpk0fEmk0kZMmSwSi1AWsbX7UDKxfgEUrbkGKMJ/cBs0Wo8Q4cOVb58+fT111+rePHicnNzk5ubm0qUKKExY8Yob968GjZsmCVdx3Po0CFFRUVxgS4AAACQSBZdoLtnzx59+OGHz91foUIFff3114nut2fPnipWrJh8fX2VPn16nTx5Uj/++KN8fX1Vq1YtS0oFAAAA0iyLwn66dOl08OBBtW3b9pn7Dxw4oHTp0iW63xIlSmj16tX64YcfZBiGvLy81KJFC3Xu3DlBFyAAAAAA+D8Whf3GjRtrzpw5cnd3V/v27ZU3b15J0qVLlzRnzhytXLlSHTp0SHS/Xbp0UZcuXSwpCQAAAMC/WBT2P/zwQ925c0dz587VvHnz5ODwdOp/TEyMDMNQw4YN/3OaDwAAAIDkZ1HYd3Fx0VdffaXOnTtr+/btunLliiTJy8tLVatWNS+dCQAAAMB2knQH3SJFihDsAQAAgBTKoqU3AQAAAKR8CTqzX6RIkUTf6c5kMun48eMWFQUAAAAg6RIU9t99911uaw0AAACkMgkK+7169UruOgAAAABYGXP2AQAAADtlcdi/evWqhgwZorp166pcuXLat2+fJOn27dsaPnw48/UBAAAAG7Mo7J85c0ZNmzbVmjVr5O3trQcPHig6OlqS5OHhof3792vu3LlWLRQAAABA4li0zv5XX32lTJkyaeHChZKkSpUqxdlfrVo1rVmzJunVAQAAALCYRWf29+3bpzZt2sjDw+OZq/Tkzp1boaGhSS4OAAAAgOUsCvuGYSh9+vTP3X/79m25uLhYXBQAAACApLMo7BctWlTbtm175r7o6GitWrVKJUuWTFJhAAAAAJLGorDfpUsX7dixQ59++qlOnz4tSbp165Z+++03derUSefOnVOXLl2sWigAAACAxLHoAt1q1app1KhRGjlypPki3Y8++kiGYcjNzU1ffPGFypUrZ9VCAQAAACSORWFfkoKDg1WnTh3t2rVLFy9eVExMjPLmzavKlSvLzc3NmjUCAAAAsIDFYV+SMmTIoNq1a1urFgAAAABWlKCwf/XqVUlPl9T85+MXiW0PAAAA4OVLUNgPCgqSyWTSoUOH5OLiYn78IidOnEhygQAAAAAsk6CwP3LkSJlMJjk7O8d5DAAAACDlSlDYb9asmbZt22YO+M2aNUvWogAAAAAkXYLX2e/atav69u2rmzdvJmc9AAAAAKwkwWG/b9++2rJlixo0aGBeWx8AAABAypXgsN+lSxetXLlSZcqU0ZAhQ9SuXTudPXs2OWsDAAAAkASJWmffy8tL33//vTZs2KARI0YoODhYnTp1kr+//zPb16lTxypFAgAAAEg8i26qVbt2bRUpUkTNmzfXlClTntnGZDKx9CYAAABgQxaF/V9++UVff/21IiMj9dFHH6l48eLWrgsAAABAEiUq7J89e1ZDhgzR/v37Vb16dQ0ZMoS75AIAAAApVILD/tixYzV9+nRlyZJF3377rerVq5ecdQEAAABIogSH/R9++EGtWrXShx9+KDc3t+SsCQAAAIAVJDjsL1iwQKVKlUrGUgAAAABYU4LX2SfoAwAAAKlLgsM+AAAAgNSFsA8AAADYKcI+AAAAYKcI+wAAAICdsugOurEiIyN17Ngx3bp1S2XKlJGHh4e16gIAAACQRBaf2Z89e7YqV66stm3bqlevXjp16pQk6fbt2woICNCvv/5qtSIBAAAAJJ5FYX/RokUaOXKkqlSpohEjRsgwDPM+Dw8PVahQQatXr7ZakQAAAAASz6KwP2PGDNWsWVNjxoxRjRo14u339/fX6dOnk1wcAAAAAMtZFPYvXryoqlWrPnd/lixZdPfuXUtrAgAAAGAFFoV9d3d33blz57n7z5w5I09PT4uLAgAAAJB0FoX9qlWrauHChbp//368fadPn9Yvv/yioKCgJBcHAAAAwHIWLb35/vvvq2XLlmrUqJFq1Kghk8mkpUuXatGiRVq/fr08PT3Vo0cPa9cKAAAAIBEsOrOfI0cOLV68WFWqVNGaNWtkGIaWLVumLVu2qGHDhlq4cCFr7gMAAAA2ZvFNtbJly6YRI0ZoxIgRun37tmJiYuTh4SEHB27KCwAAAKQESbqDbizO4gMAAAApj0Vhf8KECf+532QyKV26dMqZM6fKlSunHDlyWFQcAAAAAMtZHPZNJpMkxbl7rqR42x0dHdWiRQsNGTKEKT4AAADAS2RR2N+2bZu6du0qPz8/dejQQXnz5pX09GZbc+fO1alTpzR27FiFh4dr1qxZ+vnnn/XKK6+wQg8AAADwEll0qn3o0KEqWLCgRo0apaJFi8rNzU1ubm7y9/fXqFGjlC9fPo0ZM0Z+fn4aPXq0KleurGXLllm7dgAAAAD/waKwv2fPHpUrV+65+8uVK6ddu3aZH1erVk1Xr159Yb9r1qxR9+7dVbVqVZUqVUpNmjTRr7/+Gm+qEAAAAIAXsyjsu7i46PDhw8/df+jQITk7O5sfR0dHK0OGDC/sd+bMmXJ1dVX//v01efJkVa1aVYMHD9bEiRMtKRMAAABI0yyas9+oUSPNmzdPWbJkUZs2beTt7S1JCgkJ0fz587V8+XK1a9fO3H7v3r0qXLjwC/udPHlynGU8K1asqLt372rGjBnq0aMHF/gCAAAAiWBR2P/oo4908+ZNzZgxQzNnzjSH8JiYGBmGoTp16uijjz6SJD1+/Fj+/v4qU6bMC/t91nr9fn5+WrhwocLDw+Xm5mZJuQAAAECaZFHYT5cunb799lsdP35cO3bs0JUrVyRJXl5eqly5svz9/eO07dmzp8UF7t+/Xzly5CDoAwAAAImUpDvoFi1aVEWLFrVWLfH88ccfWr16tfr162dxH4ZhKDw83IpV/R+TySRXV9dk6RtIaSIiIlLVxfKMT6QlqW18SoxRpC3JMUYNwzDf3+q/JCnsJ6fr16+rT58+CggI0JtvvmlxP1FRUTpx4oQVK/s/rq6uyfphB0hJzp8/r4iICFuXkWCMT6QlqW18SoxRpC3JNUZdXFxe2MbisL9t2zbNnDlTx48fV1hY2DM/rVgasu/fv6///e9/ypIli7777rskXZjr7OycoIuDLZGQT1OAvShQoECqOnPI+ERaktrGp8QYRdqSHGP0zJkzCWpnUdhft26d3n//fRUuXFgNGjTQggUL1KhRIxmGoc2bNytfvnyqVauWJV3r0aNH6tq1q8LCwvTzzz8rU6ZMFvUTy2QyJWjZTwD/ja/bgZSL8QmkbMkxRhP6gdmisD9lyhSVKFFC8+fP171797RgwQK98cYbqlixokJCQtSqVSvzcpyJER0drffff1/nzp3TvHnzlCNHDkvKAwAAACALb6p19uxZNWjQQI6OjnJyevp5ITo6WpLk7e2tNm3aaOrUqYnud+jQodqyZYu6deumBw8e6ODBg+Z/kZGRlpQKAAAApFkWndlPnz69+Q657u7ucnFx0Y0bN8z7s2fPrpCQkET3u2vXLknS6NGj4+3btGmTRd8WAAAAAGmVRWG/QIECOnv2rPmxn5+fli1bptdff11PnjzRypUrlStXrkT3u3nzZkvKAQAAAPAMFk3jqV27tjZt2mSeWtOtWzf9/vvvKleunCpUqKA//vhDXbp0sWqhAAAAABLHojP7nTt3VufOnc2Pa9SooTlz5mj9+vVydHRUtWrVVKFCBasVCQAAACDxEh32IyMjtWPHDnl5ealIkSLm7WXLllXZsmWtWhwAAAAAyyV6Go+zs7N69+6tAwcOJEc9AAAAAKwk0WHfZDIpf/78unPnTnLUAwAAAMBKLLpAt2vXrpo3b57OnTtn7XoAAAAAWIlFF+geOnRIWbJkUePGjVW+fHl5eXkpffr08doNGjQoyQUCAAAAsIxFYX/u3Lnm/969e/cz25hMJsI+AAAAYEMWhf2TJ09auw4AAAAAVmbRnH0AAAAAKZ9FZ/ZjHTx4UHv37tWtW7fUtm1b5c+fXxERETp37pzy58+vjBkzWqtOAAAAAIlkUdiPjIxU3759tWnTJhmGIZPJpBo1aih//vxycHBQp06d1LFjR3Xv3t3a9QIAAABIIIum8YwbN05bt27VZ599prVr18owDPO+dOnSqV69etq0aZPVigQAAACQeBaF/VWrVql169Zq1aqVMmfOHG9/oUKFdPny5SQXBwAAAMByFoX9W7duydfX97n7HR0d9ejRI4uLAgAAAJB0FoX9XLly/efdc//880/lzZvX4qIAAAAAJJ1FYb9Ro0b66aefdODAAfM2k8kkSVq4cKHWrFmj4OBgqxQIAAAAwDIWrcbTrVs3HTp0SO3bt1fBggVlMpk0atQo3bt3T9evX1e1atXUsWNHK5cKAAAAIDEsCvsuLi6aNm2ali9frnXr1ikmJkaRkZHy9fXV+++/ryZNmpjP9AMAAACwDYtvqmUymdSkSRM1adLEmvUAAAAAsBKL5ux/+eWXOn78uLVrAQAAAGBFFoX9uXPn6o033lCdOnX07bff6tSpU9auCwAAAEASWRT2f/vtN40aNUr58+fXtGnTFBwcrIYNG2rixIn/uSQnAAAAgJfHojn7bm5uCg4OVnBwsO7fv69169Zp7dq1mjx5siZMmCAfHx81bNhQXbp0sXa9AAAAABLIojP7/+Tu7q4WLVroxx9/1I4dO9SvXz+FhIRo7Nix1qgPAAAAgIUsXo3nn6KiorR9+3atXr1aW7ZsUXh4uHLlymWNrgEAAABYyOKwHx0drV27dmn16tXatGmTHjx4IE9PTzVr1kwNGjRQmTJlrFknAAAAgESyKOwPHDhQmzZt0r1795Q1a1Y1bNhQDRs2VLly5biZFgAAAJBCWBT2N23apFq1aqlBgwaqUKGCHB0d47W5d++eMmfOnOQCAQAAAFjGorC/a9cuOTnFPzQyMlKbNm3SihUrtGPHDh05ciTJBQIAAACwjEVh/59B3zAM7d69WytWrNCGDRv04MEDeXh4qFGjRlYrEgAAAEDiWXyB7tGjR7VixQqtWrVKN2/elMlkUoMGDdS+fXuVKlWKufsAAACAjSUq7F++fFnLly/XihUrdPHiReXIkUONGzdWiRIl1KdPH9WtW1elS5dOrloBAAAAJEKCw36rVq10+PBhZc2aVXXr1tXw4cNVtmxZSdKlS5eSrUAAAAAAlklw2D906JC8vb3Vv39/Va9e/ZkX6AIAAABIORwS2nDw4MHy9PRUz549FRgYqCFDhmjPnj0yDCM56wMAAABgoQSfnm/Xrp3atWuny5cva8WKFVq5cqUWLlyo7NmzKyAgQCaTiYtyAQAAgBQkwWf2Y+XJk0c9evTQ6tWr9euvv6phw4b6/fffZRiGhg4dqsGDB2vLli16/PhxctQLAAAAIIGSNPG+WLFiKlasmPr166c9e/Zo+fLlWr16tX755Re5urrqwIED1qoTAAAAQCJZ5SpbBwcHVapUSZUqVdLQoUPNd9EFAAAAYDtWX1InXbp0atCggRo0aGDtrgEAAAAkQqLn7AMAAABIHQj7AAAAgJ0i7AMAAAB2irAPAAAA2CnCPgAAAGCnCPsAAACAnSLsAwAAAHaKsA8AAADYKcI+AAAAYKcI+wAAAICdIuwDAAAAdsrJ1gX808WLF/Xjjz/q0KFDOn36tAoWLKiVK1fauiwAAAAgVUpRYf/06dPatm2bSpYsqZiYGBmGYeuSAAAAgFQrRU3jCQoK0rZt2zR+/Hj5+/vbuhwAAAAgVUtRYd/BIUWVAwAAAKRqpGsAAADATqWoOfvJwTAMhYeHJ0vfJpNJrq6uydI3kNJERESkqutoGJ9IS1Lb+JQYo0hbkmOMGoYhk8n0wnZ2H/ajoqJ04sSJZOnb1dVVRYsWTZa+gZTm/PnzioiIsHUZCcb4RFqS2sanxBhF2pJcY9TFxeWFbew+7Ds7O6tw4cLJ0ndCPk0B9qJAgQKp6swh4xNpSWobnxJjFGlLcozRM2fOJKid3Yd9k8mkDBky2LoMINXj63Yg5WJ8AilbcozRhH5g5gJdAAAAwE6lqDP7ERER2rZtmyTpypUrevDggdauXStJKl++vDw8PGxZHgAAAJCqpKiwf+vWLfXu3TvOttjHs2fPVkBAgC3KAgAAAFKlFBX2vb29derUKVuXAQAAANgF5uwDAAAAdoqwDwAAANgpwj4AAABgpwj7AAAAgJ0i7AMAAAB2irAPAAAA2CnCPgAAAGCnCPsAAACAnSLsAwAAAHaKsA8AAADYKcI+AAAAYKcI+wAAAICdIuwDAAAAdoqwDwAAANgpwj4AAABgpwj7AAAAgJ0i7AMAAAB2irAPAAAA2CnCPgAAAGCnCPsAAACAnSLsAwAAAHaKsA8AAADYKcI+AAAAYKcI+wAAAICdIuwDAAAAdoqwDwAAANgpwj4AAABgpwj7AAAAgJ0i7AMAAAB2irAPAAAA2CnCPgAAAGCnCPsAAACAnSLsAwAAAHaKsA8AAADYKcI+AAAAYKcI+wAAAICdIuwDAAAAdoqwDwAAANgpwj4AAABgpwj7AAAAgJ0i7AMAAAB2irAPAAAA2CnCPgAAAGCnCPsAAACAnSLsAwAAAHaKsA8AAADYKcI+AAAAYKcI+wAAAICdIuwDAAAAdoqwDwAAANgpwj4AAABgpwj7AAAAgJ1KcWH/7Nmzevvtt1WqVCkFBgbqyy+/VGRkpK3LAgAAAFIdJ1sX8E/37t3TW2+9pfz58+u7775TaGioRo8erUePHmnIkCG2Lg8AAABIVVJU2P/pp5/08OFDTZgwQVmyZJEkPXnyREOHDlXXrl2VI0cO2xYIAAAApCIpahrP9u3bVbFiRXPQl6T69esrJiZGu3btsl1hAAAAQCqUosL+uXPnVLBgwTjb3N3d5enpqXPnztmoKgAAACB1SlHTeO7fvy93d/d42zNnzqx79+5Z1GdUVJQOHz6c1NKey2QyqWF5Tz2JyZZszwHYkqODg44cOSLDMGxdSqIxPmHvUvP4lBijsH/JOUajoqJkMple2C5FhX1rc3FxUXR0dIJeiKRwd0ufrP0DKUFyj6PkwvhEWpBax6fEGEXakBxj1GQypb6w7+7urrCwsHjb7927p8yZMye6P19fX2uUBQAAAKRKKWrOfsGCBePNzQ8LC9ONGzfizeUHAAAA8N9SVNivWrWqfvvtN92/f9+8be3atXJwcFBgYKANKwMAAABSH5ORgq7quXfvnho2bKgCBQqoa9eu5ptqNW7cmJtqAQAAAImUosK+JJ09e1aff/65Dhw4oIwZM6pJkybq06ePXFxcbF0aAAAAkKqkuLAPAAAAwDpS1Jx9AAAAANZD2AcAAADsFGEfAAAAsFOEfQAAAMBOEfYBAAAAO0XYBwAAAOwUYR9pypMnT2xdAgAAwEtD2EeacPPmTX344YfauXOnrUsBAAB4aQj7sHu//fab3njjDZ09e1be3t6KiYmxdUlAmnX69GlblwDgOY4ePar33nuPcWpnCPuwe3/++afSp0+vJUuWqFChQuapPNw8Gni5Fi1apNatWys0NNTWpQB4BgcHB61fv15btmzRo0ePbF0OrISwD7tz8eJFRUZGSpIiIyMVHR0twzC0fPly1axZUyNGjJAkmUwmW5YJpDk1atTQL7/8ohw5cti6FAD/EhkZqaJFi6pVq1aaPXu2Tp48aeuSYCWEfdiVQ4cOqW7dujp69KgMw5CLi4uKFSumsLAw9e/fXyVLllSHDh04qw/YgIeHhwoWLKglS5Zo+/btti4HgJ5+yx3791KSPvroIz1+/FgrVqzQ7du3bVwdrMHJ1gUA1vTqq69qyZIl8vPzk/R09Z2BAwdKkjw9PRUUFKRChQoR9oGXIHac/fNbtAcPHmjOnDmKiIhQyZIllTlzZluVB6RJDx8+VMaMGWUYhkwmk3l87t69W5MmTVKFChXk4uKiTZs2KTAwUEFBQTauGEnFmX3YhSdPnsgwDGXIkEF+fn7au3ev5s2bJ0dHRy1evFhTpkxR7ty5tWTJEj18+FAmk4kLdQEru3Hjho4dOybp6ZiMDRL/HGsZM2ZU//79de3aNS1dutRGlQJpi2EYevz4sd577z398MMP5qAfa8WKFeratavy5cun7NmzKzAwUPfv39fChQt17do1G1YOayDswy44OjrKZDLp+vXr+vvvv7Vu3Tp9/vnnOn/+vLy9vVW6dGnVrl1bly9f1k8//SSJOfuAtTVt2lQjR47UtWvX5OjoKMMwNGnSJH322WdavHixQkNDZTKZVLJkSTVu3FhTp07V5cuXbV02YPdMJpPSpUsnHx8fNWjQIM7fP8MwtGrVKpUoUUL9+vVTq1atNHr0aA0cOFBbt27Vjh07FB0dbcPqkVSEfaRa/56KM3LkSDVu3Fh//fWX2rVrJ29vb02bNs18sW6TJk1UoEABrVmzRhcvXuTsPmAlsStcffTRRzp48KB27typc+fOqXnz5vr11191+PBhjRw5Uv/73/906dIlpUuXTm+//bZiYmI0c+ZMxiGQzGLHWM+ePeXr66sjR44oLCxM0tOpdXfu3FGePHmUKVMm8zHNmzdXYGCg5s6dq3PnztmkblgHYR+pVuyZiU2bNun333/X1atXNWjQIJUqVUr58+fXW2+9paVLl+rgwYOSpGzZsqlx48Z6+PCh5s2bJ+npMmMAksbR0VHS0w/URYsW1fLly7Vy5UrlzJlTc+fO1ezZszVr1izduXNHw4YN08WLF1WwYEF17NhRCxcu1KFDh2z8EwD27Z9/6xYsWKC2bdtq3bp1kiRXV1dFRUXpwYMH5gtyY0+mtWnTRqdPn9bmzZv14MGDl184rIKkg1Rt8+bNGjhwoHr27KkMGTKofv36cnNzk6Ojoxo0aCB/f39NmDDB/D+p+vXrq3Tp0tq9e7d2794tSZxVBCz0z7ET+zX/Z599pn379mnOnDmqXr26cufOLXd3d/n7++vLL7/Ub7/9Zr6TddOmTVWoUCFNmTKFNb0BK4v9xi1W7Bht3Lix8ubNq82bN+v8+fNycnJSo0aNtGvXLv3111+KiYkxf4CPnY63ZMkSPpSnYoR9pAr//p9WbMgoW7asgoKCFB4ersDAQLm4uJin7WTLlk3dunXTvn37tH79ehmGIUdHRzVp0kT37t3TmjVrJHF2H0is2PH4z7Hj5OQkwzDk7++vtm3bKiwszPwhO3Zpv4oVKyogIEBr166V9HSMdu3aVVu3btWmTZte/g8C2JHYv4uxoT42sB87dkzh4eHmb8Pd3Nz01ltv6cCBA+Zx1759e2XJkkVTpkzRX3/9JUl6/Pixjh07pubNm+vWrVu6e/fuS/6JYC0mgzUIkYLFxMTECRS7du1Svnz55OnpqXTp0pm3ffLJJ8qbN69mz54tSeaVBh4+fKhBgwbp5MmTmjlzpvlmPrt371bFihVf/g8EpHL/XMVjy5YtOnjwoLy9veXj46OSJUtKejoHOHbJvk8++UTZs2dXZGSkXFxcNH/+fI0bN05r1qyRh4eH7t+/r/nz56tp06bcbAuwwMaNG7VixQp17txZJUqUMG9fs2aNJk6cqKioKMXExKh06dIaPXq0+W9q+/btFRkZqQEDBqh06dLau3evPvjgAzk4OCgoKEiPHz/Wjh07NH78ePn7+5v/5iL14ZQmUrTY/yktXbpUNWvW1ODBg/XGG2/onXfe0fHjxyVJgYGBatiwoc6dO6eNGzdK+r8zjxkzZtQ777yj8+fPx7kQkKAPvNj9+/f18OHDONtMJpMuXbqkt956S/369dOxY8c0Y8YMde3a1Twm3dzc9O6772rDhg3atm2bJJlv2HP48GFly5bNfNbR3d1d3bp1I+gDiXTixAm1bNlSPXv21Lp168x/Lx88eKBRo0Zp1KhRqlq1qoYPH65PPvlEq1ev1pQpU8zz8t99911dunRJ69ev1+PHjxUQEKBvv/1WVapU0bFjx3T8+HENGzZMZcqUIeinctxUCylaeHi4pkyZolWrVumNN95Q/fr1lSFDBgUHB2vKlCnq1auXChcurPr16+vAgQOaPn26goKC5OTkZP5W4NVXX9XgwYNVrFgxpuwACfDw4UN988032r9/vxwdHVWjRg01bdpUXl5eCgkJ0ciRI5U5c2bNnj1bRYoU0ZkzZ9SiRQt98cUX+vrrr+Xp6akuXbpo4cKFGjZsmGJiYlS4cGHdv39fv//+u6pXr87NtAALPXz4UJ9++qlWrlyp4OBgBQQEaNGiRXJycjLvP3/+vAYPHqzatWsrPDxcI0eOVHR0tObOnavixYsrMDBQFStWVNWqVbVlyxaVL19eNWrUUNmyZVW2bFndvn1bHh4eNv5JYS0kH6QY/56XL0mRkZG6cuWK+vfvrx49eihjxowaN26c7ty5o3379mnDhg2SpGLFiql27dq6evWq5syZI+n/VhNwcXFRu3btzFMMADzflClTVKFCBR09elQBAQHKmDGjJkyYoLFjx+rx48fKmjWrihUrpt69e6tIkSKaMWOGmjVrpty5c2vfvn1atmyZec7wp59+qsePH2v8+PH65ptv9Pnnn6tMmTL6+OOPbfxTAqnTpEmTVKlSJV24cEE//PCDRo8eLS8vL4WHhyt37tySpBw5cujdd99V7dq1tXTpUlWvXl0nTpzQ999/Lzc3N82bN0/Xr1+XJPXq1UuPHz/WwoULdevWLfPzEPTtjAHYyMKFC41z584ZhmEYUVFR5u0xMTFx2h09etQwDMNYsmSJUb58eaNNmzbG0aNHjVatWhn16tUz/vjjD8MwDOPq1atGjx49jAoVKhjXr19/ST8FYB8ePnxo9O3b1/D19TVWrlxp3L171zwu+/TpY5QsWdJYv369YRiG8eDBAyMyMtJ4//33jcDAQGPBggXG33//bfTv39+oXLmycfbsWXO/rVu3NgIDA419+/YxLgELRUdHG59//rlRrFgxY8GCBcb9+/fN+z7//HOjRo0aRmRkZJy/padPnzbq169vfPHFF8atW7cMwzCM7777zvD39zeWLVtmPHr0yDAMwxg9erTRu3dv4969ey/3h8JLwzQevHRHjhzR2bNnNXbsWFWsWFFjxoyRk5OTVq9erblz5ypXrlyqUKGCWrRoIUny9/fXzZs3NX36dDVp0kT/+9//5OnpqXfeecc8V7FIkSLKlSuXatSooWzZsjG/EEgkV1dX5cuXT+nTp9crr7yizJkzm1e2+uCDD7R69WpFRERIenotzPbt27Vv3z599tlnqlatmpydnVWgQAEtWbJES5cuVbdu3ZQhQwaNHj1ap0+fVtmyZW354wGpmqOjozp27Kj//e9/5utbYqeq3rx5U5kzZ5aTk1OcO+Pu3LlTly9f1ltvvWU+U+/o6Kjo6GjNnz9fvr6+8vX11ccff8wd5e0c03jwUhj/f0rNV199pe7du6ts2bJ6/fXX9eeff2r37t3avn27RowYoVy5cunChQsaPHiwfvnlF3PYiF3/t02bNvL09JT0dD5/unTptHPnTq1fv16S1KxZMw0bNkxZsmSxyc8JpFYmk0nt2rVTkSJFNGrUKEkyX/sSGRmpzJkzK2vWrJKehoxTp07JMAwVLVpUzs7Okp7OFc6cObN++OEH88W6+fLlU61atWzzQwF2xNvb+5kXsl+5ckX58+ePd1d4BwcHeXp6mi/IvX37ti5cuKDWrVvr5MmT5ovvCfr2j7CPZBUb8mP/Z7Jjxw4FBQXJ29tbderUkaenpyZNmqQlS5bo448/1pgxYzR37ly1bNlS48aN09GjRyVJXl5eMplMCg0NlfQ0VBw6dEjBwcEymUzKnj27JNbMB5IiW7Zsat++vc6ePasFCxbIwcFBDg4Omj9/vqKjo3XgwAEdPnxYDg4O5jG5Zs0ahYWF6ejRozpy5IiGDRumfv36qUiRIrb+cQC75uDgoLCwMD169Eju7u7mbbGB39/fX5kyZdIHH3ygOXPm6Msvv9SJEyfUrVs37d27V2XKlLFl+XiJWGcfySo8PFwZMmSQJF28eFEtW7bUp59+qgYNGkiSJk+erEWLFsnR0VGLFy9WxowZJT1dOqxWrVqqXr26Bg0apIcPH2rw4MHatWuXmjdvrtu3b+vIkSOaP3++cuTIYV7GD0DSREREqF+/fjp48KCGDh2q0aNH6+7du8qZM6fOnz+v6OhotW3bVh9++KE++OAD7dmzR97e3rp+/brKlCmjESNGcHEf8JJERkaqevXqat++vXr06BHv3jSrVq3S4sWLdfbsWXl4eOjTTz9lsYo0iDn7SBYRERF67733FB0drRkzZkh6ehe/qKgo+fr6mts1atRI+/bt0/79+xUZGamMGTMqMjJSbm5u6t27t4YPH65atWqpVq1aGjZsmMaOHatTp04pXbp0mjx5snn1AQDW4erqqjfffFMnT55U9+7d1aVLF73xxhvKkiWLoqKiNHr0aM2dO1fXr19XqVKl1LZtW61bt06dO3fW66+/buvygTQlNDRUd+/eVb58+ST937fb4eHh2rt3r65cuaIff/xRFy5cUP78+W1YKWyJOQ9IFunTp1eJEiX0559/6rfffpMkbd26VV5eXsqXL595ek+ePHn0+uuvK1OmTJo2bZokmdcKbtOmjV599VXNmzdPly9fVs6cOTVy5Eh9//33mjVrlvz8/GzzwwF2rnTp0qpZs6ZcXFwUHBysfPnyKVOmTMqePbuGDx+uH3/8UcePH9fYsWPl5+enYcOGEfQBGwgLC5Mk8zSemJgYHT58WO+99566d++u8PBwSSLop3GEfSQLk8mktm3bys/PT998842kp3f7CwwMlJOTkwzDMM8rrFWrlgIDA7Vu3TqdOnVKDg4O5gtzBwwYoN27d2vnzp2KiYmRo6MjF98CyczR0VGtW7eWt7e3vvjiC0n/d92Ni4uLAgMDNW3aNG3bto0pO4ANxJ4wCw0NlYODg3Lnzq1r165pxIgRatu2raKjo7Vhwwa9//77ti0UKQJhH8km9mK/M2fOaNiwYXJ0dIzzVWPshURubm5q0KCBXF1dNWXKFElPA0VMTIwCAgI0ePBgNWzYkItvgZcoX758atmypXbv3q1t27bJZDIpOjraPA4LFixoXhkLwMsV++H7zp07ypgxo3766Se1atVKW7du1aRJkzRz5kzlyZPHxlUipeACXSSriIgIDRo0SKtWrZL09K58FSpUUNWqVVW+fHnznPuYmBiNHTtWK1as0IABA1S3bl1FR0ebp/QAePnu3bunHj166OzZs9qzZ4+tywHwL3PnztXw4cOVKVMmdevWTZ07d7Z1SUiBSFJIVq6urmrVqpV5ek7r1q01ffp0rV69Wo6Ojipbtqxq1qypevXqqXbt2tq6dauWLVumunXrEvQBG8ucObPefPNNHTt2TDExMTKZTKzJDaQgRYsWVd++fdWxY0e5uLjYuhykUJzZR7J78uSJvvrqK82fP19btmxRtmzZdOTIEe3fv1+bNm3SH3/8Yb45zzvvvGNelhOA7RmGQcAHUijGJxKCsI+X4tKlS+rataty586tH3/8Mc6+kJAQ7du3TxUqVFCuXLlsVCEAAID94YpHvBR58+ZVq1attG/fPm3fvl2SzCvueHt7q2nTpgR9AAAAK+PMPl4aLvYDAAB4ubgCEi8NF/sBAAC8XJzZx0vFxUQAAAAvD3P28VIR9AEAAF4ewj4AAABgpwj7AAAAgJ0i7AMAAAB2irAPAAAA2CnCPgAAAGCnCPsAAACAnSLsAwAAAHaKsA8AAADYKSdbFwAASD6nTp3SxIkTdeTIEd28eVNZsmRR4cKFFRQUpA4dOti6PABAMjMZhmHYuggAgPX9+eefevPNN5U7d24FBwfL09NT165d06FDh3Tp0iVt2LDB1iUCAJIZZ/YBwE59//33ypQpk3799Ve5u7vH2Xfr1i0bVQUAeJmYsw8AdurSpUsqXLhwvKAvSdmyZYvzeNmyZWrWrJlKlCih8uXLq0+fPrp27VqcNn/88Yfee+89Va9eXcWKFVO1atU0cuRIPXr0KE67GzduaMCAAapataqKFSumypUrq3v37goJCYnTbt68eWrYsKG5zdChQ3X//v04bTp06KBGjRrpzJkz6tChg0qWLKkqVapo6tSpSXlpACDN4Mw+ANgpLy8vHThwQH/99Zd8fHye227y5MkaN26c6tevr+bNm+v27duaO3eu2rVrp6VLl5o/LKxdu1aPHj1SmzZtlCVLFh0+fFhz587V9evXNX78eHN/vXr10pkzZ9S+fXt5eXnp9u3b2rVrl65duyZvb29J0nfffacJEyaoUqVKatOmjc6fP68FCxboyJEjWrBggZydnc393bt3T++8845q166t+vXra926dfr666/l4+OjatWqJdOrBwB2wgAA2KWdO3cafn5+hp+fn9GqVSvjyy+/NHbs2GFERkaa24SEhBh+fn7G5MmT4xx76tQpo2jRonG2R0RExHuOKVOmGL6+vsaVK1cMwzCMe/fuGT4+Psa0adOeW9etW7cMf39/o1OnTsaTJ0/M2+fOnWv4+PgYv/76q3lb+/btDR8fH2PJkiXmbY8fPzYCAwONXr16JfzFAIA0imk8AGCnAgMD9dNPPykoKEgnT57UtGnT1LlzZ1WtWlWbNm2SJG3YsEExMTGqX7++bt++bf6XPXt25cuXT3v37jX3lz59evN/h4eH6/bt2ypdurQMw9Dx48fNbZydnfX777/r3r17z6zrt99+U1RUlN588005OPzfn6EWLVrIzc1N27Zti9M+Q4YMatKkifmxi4uLihcvrsuXLyf9RQIAO8c0HgCwYyVKlNCECRMUGRmpkydPauPGjZo5c6Z69+6tpUuX6sKFCzIMQ3Xq1Hnm8U5O//dn4urVqxo/frw2b94cL8g/ePBA0tMg/uGHH+qLL75QYGCgSpYsqerVq5tXA4rtR5IKFiwYpw8XFxflyZNHV65cibM9Z86cMplMcbZlzpxZp06dsuAVAYC0hbAPAGmAi4uLSpQooRIlSih//vwaMGCA1q5dq5iYGJlMJk2dOlWOjo7xjsuQIYMk6cmTJ3r77bfN8+cLFiyoDBkyKDQ0VP3791dMTIz5mI4dOyooKEgbN27Uzp07NW7cOP3www+aNWuWihYtmujan1UXACBhCPsAkMYUK1ZMkvT3338rb968MgxD3t7eKlCgwHOP+euvv3ThwgV98cUXCg4ONm/ftWvXM9vnzZtXnTp1UqdOnXThwgUFBwdr+vTp+vrrr5U7d25J0rlz55QnTx7zMZGRkQoJCVGlSpWs8FMCACSW3gQAu7Vnzx4Zz7hvYuyc+IIFC6pOnTpydHTUhAkT4rU1DEN37tyRJPPc+n+2MQxDs2fPjnNMRESEHj9+HGdb3rx5lTFjRkVGRkqSKlWqJGdnZ82ZMydOf7/++qvCwsJYYQcArIgz+wBgp4YPH66IiAjVrl1bBQsWVFRUlP7880+tWbNGXl5eatasmdzd3fX+++9rzJgxunLlimrVqqWMGTMqJCREGzduVMuWLdW5c2cVLFhQefPm1RdffKHQ0FC5ublp3bp18dbFv3Dhgjp27Kh69eqpcOHCcnR01MaNG3Xz5k01bNhQkuTh4aGuXbtqwoQJeueddxQUFKTz589r/vz5Kl68uF5//XVbvFwAYJcI+wBgpz7++GOtXbtW27Zt088//6yoqCjlzp1bbdu2Vffu3c3r53fp0kX58+fXzJkzNXHiRElPL4oNDAxUUFCQJMnZ2Vnff/+9hg8frilTpihdunSqXbu22rVrF2elnJw5c6phw4bavXu3li9fLkdHRxUsWFDffvut6tata27Xq1cveXh4aO7cuRo1apQyZ86sli1bqm/fvnHW2AcAJI3JeNZ3vAAAAABSPebsAwAAAHaKsA8AAADYKcI+AAAAYKcI+wAAAICdIuwDAAAAdoqwDwAAANgpwj4AAABgpwj7AAAAgJ0i7AMAAAB2irAPAAAA2CnCPgAAAGCnCPsAAACAnfp/vUuIUrRE/e8AAAAASUVORK5CYII="/>
          <p:cNvSpPr>
            <a:spLocks noChangeAspect="1" noChangeArrowheads="1"/>
          </p:cNvSpPr>
          <p:nvPr/>
        </p:nvSpPr>
        <p:spPr bwMode="auto">
          <a:xfrm>
            <a:off x="1733761" y="3496204"/>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1" name="AutoShape 7" descr="data:image/png;base64,iVBORw0KGgoAAAANSUhEUgAAAvsAAAHzCAYAAAC+OtK+AAAAOnRFWHRTb2Z0d2FyZQBNYXRwbG90bGliIHZlcnNpb24zLjEwLjAsIGh0dHBzOi8vbWF0cGxvdGxpYi5vcmcvlHJYcgAAAAlwSFlzAAAPYQAAD2EBqD+naQAAV5FJREFUeJzt3Xd8jff///HnySJEEFIjsTURsYsgZuxVofZolX6sUqXDKFpqdahSo0rt0WrtvXdRVXvVJkZqCwlJ5Pr94ZfzbRoqOTlxkpPH/XZzu/Vc1/t6n1dOzrt5nuu8r/dlMgzDEAAAAAC742DrAgAAAAAkD8I+AAAAYKcI+wAAAICdIuwDAAAAdoqwDwAAANgpwj4AAABgpwj7AAAAgJ0i7AMAAAB2irAPAAAA2CnCPgAg2Xz33Xfy9fW16Nj+/fsrKCjohe1CQkLk6+urxYsX/2e7xYsXy9fXV0eOHLGoHgBIjQj7AF6qefPmydfXVy1atLB1KSnSkydPtGjRInXo0EHly5dXsWLFFBQUpAEDBqSYkLpq1Sr5+vrqp59+eub+Tz/9VP7+/jp58uRLrizl2Lx5s9q3b6+KFSuqZMmSqlmzpnr37q3t27fbujQAaQxhH8BLtWLFCnl5eenw4cO6ePGirctJUR49eqSuXbtq4MCBMgxDXbt21WeffaYmTZrowIEDatGiha5fv27rMtWwYUNVqVJFY8aM0c2bN+PsO3z4sBYuXKi33npLRYoUUffu3XX48GEbVWobP/74o7p37y6TyaSuXbtqwIABqlOnji5evKjVq1fbujwAaYyTrQsAkHZcvnxZBw4c0IQJEzRkyBCtWLFCPXv2fKk1xMTEKCoqSunSpXupz5sQX375pXbs2KEBAwaoY8eOcfb17NlTM2fO/M/jw8PDlSFDhuQr8B8+++wzNWrUSKNGjdKYMWMkPf1WYsiQIcqVK5d69eolSXJycpKTU9r5UxMdHa1JkyYpMDBQ06dPj7f/1q1bNqgKQFrGmX0AL82KFSuUOXNmVatWTXXr1tWKFSvM+6KiolS+fHkNGDAg3nEPHjxQ8eLF9cUXX5i3RUZGavz48apdu7aKFSumatWq6csvv1RkZGScY319fTVs2DAtX75cDRs2VPHixbVjxw5JT8/Atm7dWgEBASpRooSaNWumtWvXxnv+R48eafjw4QoICFDp0qXVrVs3hYaGytfXV999912ctqGhoRowYIAqVaqkYsWKqWHDhvr1119f+Npcv35dP//8swIDA+MFfUlydHRU586dlTNnTkn/Nxf+zJkz+uCDD1SuXDm1bdtW0tPAOXHiRNWqVcs8Deibb76J99oEBQWpa9eu2rlzp5o0aaLixYurQYMGWr9+/Qvr9fb2Vs+ePbVy5Urt2rVLkjRnzhydOHFCn332mVxdXePU+W/Lli1Ts2bNVKJECZUvX159+vTRtWvXXvi89+/fV//+/fXaa6+pbNmy6tevn8LCwl543D89evRIQ4YMUUBAgMqUKaOPP/5Y9+7dM+/v16+fAgICFBUVFe/YTp06qW7dus/t+86dO3rw4IHKlCnzzP3ZsmWL8zih7+NFixbpzTffVMWKFVWsWDE1aNBA8+fPj9f/kSNH1LlzZ/N7OnYK2D+Fh4dr9OjRqlatmooVK6a6devqxx9/lGEYcdrFjp2NGzeqUaNG5vczU5GA1CXtnG4BYHMrVqxQ7dq15eLiokaNGmnBggU6fPiwSpQoIWdnZ9WqVUsbNmzQ0KFD5eLiYj5u48aNioyMVIMGDSQ9PTvfvXt37d+/Xy1btlShQoX0119/adasWbpw4YImTZoU53n37NmjNWvWqF27dsqaNau8vLwkSbNnz1ZQUJAaN26sqKgorVq1Sr1799aUKVNUvXp18/H9+/fXmjVr1KRJE5UsWVL79u1Tly5d4v18N2/eVMuWLWUymdSuXTt5eHho+/bt+uSTT/TgwYNnhvhY27dvV3R0tF5//fVEvaa9e/dWvnz51KdPH3NYGzRokJYsWaK6devq7bff1uHDhzVlyhSdPXtWEydOjHP8hQsX1KdPH7Vu3VpNmzbVokWL1Lt3b02bNk2BgYH/+dwdO3bUihUr9Nlnn2natGkaN26cGjZsqKpVq/7ncZMnT9a4ceNUv359NW/eXLdv39bcuXPVrl07LV26VO7u7s88zjAM9ejRQ/v371fr1q1VqFAhbdiwQf369UvEKyYNGzZM7u7u6tmzp86fP68FCxbo6tWrmjNnjkwmk5o0aaKlS5dq586dqlGjhvm4GzduaM+ePXr33Xef23e2bNmUPn1685z9LFmyPLdtYt7HCxYs0KuvvqqgoCA5OTlpy5YtGjp0qAzDULt27SQ9/dagc+fOypo1q7p06SJ3d3eFhIRow4YNcV7D7t27a+/evWrevLn8/Py0Y8cOffnllwoNDdXAgQPj1Lh//36tX79ebdu2VcaMGTVnzhy999572rJli7JmzZqo1x2AjRgA8BIcOXLE8PHxMXbt2mUYhmHExMQYVatWNYYPH25us2PHDsPHx8fYvHlznGP/97//GTVr1jQ/Xrp0qVGkSBFj3759cdotWLDA8PHxMfbv32/e5uPjYxQpUsQ4ffp0vJoiIiLiPI6MjDQaNWpkvPnmm+ZtR48eNXx8fIwRI0bEadu/f3/Dx8fHGD9+vHnbwIEDjcDAQOP27dtx2vbp08d47bXX4j3fP40cOdLw8fExjh8//tw2/zR+/HjDx8fH6Nu3b5ztJ06cMHx8fIxPPvkkzvbRo0cbPj4+xu7du83batSoYfj4+Bjr1q0zbwsLCzMCAwON4ODgBNVx6NAho0iRIkb58uWNsmXLGjdu3HhmnbFCQkIMPz8/Y/LkyXHanTp1yihatGic7f369TNq1KhhfrxhwwbDx8fHmDp1qnlbdHS00bZtW8PHx8dYtGjRf9a6aNEiw8fHx2jatKkRGRlp3j516lTDx8fH2Lhxo2EYhvHkyROjatWqxvvvvx/n+BkzZhi+vr7GpUuX/vN5xo0bZ/j4+BilSpUy3nnnHWPy5MnG0aNH47VLzPv4We+dTp06xRkXsa/P4cOHn1tbbJtJkybF2d6rVy/D19fXuHjxonmbj4+P4e/vH2db7Ptrzpw5//EKAEhJmMYD4KVYsWKFsmfProCAAEmSyWRSgwYNtHr1aj158kSSVKFCBWXNmjXORYz37t3Tb7/9Zj6rL0lr165VoUKFVLBgQd2+fdv8r0KFCpKkvXv3xnnucuXKqXDhwvFqSp8+fZznCQsL02uvvabjx4+bt8dO+YmdIhOrffv2cR4bhqH169crKChIhmHEqaty5coKCwvTsWPHnvv6PHjwQJKUMWPG57Z5ltatW8d5vG3bNknS22+/HWd7p06d4uyP9corr6h27drmx25ubgoODtbx48d148aNFz5/iRIl1Lp1a929e1d9+/ZV9uzZ/7P9hg0bFBMTo/r168d5jbJnz658+fLF+9390/bt2+Xk5KQ2bdqYtzk6Osb7XbxIq1at5OzsbH7cpk0bOTk5mV8bBwcHNW7cWJs3bzb/XiRp+fLlKl26tPLkyfOf/b/33nsaM2aM/Pz8tHPnTo0dO1bNmjVT06ZNdfbsWXO7xLyP//leDQsL0+3bt1W+fHldvnzZPI0pU6ZMkqStW7c+cwqS9PQ1dHR0VIcOHeJs79SpkwzDiDdFp1KlSsqbN6/5cZEiReTm5qbLly//52sAIOVgGg+AZPfkyROtWrVKAQEBCgkJMW8vUaKEpk+frt27d6ty5cpycnJSnTp1tHLlSkVGRsrFxUXr169XVFRUnLB/8eJFnT17VhUrVnzm8/37Ikhvb+9nttuyZYsmT56sEydOxJkjbTKZzP999epVOTg4xOsjX758cR7fvn1b9+/f188//6yff/75mc93+/btZ26XnoZsSXr48OFz2zzLv+u6cuWKHBwc4gQ0SfL09JS7u7uuXLkSZ3u+fPni/LySlD9/fnNfnp6eL6yhePHikqRixYq9sO2FCxdkGIbq1KnzzP3/dTFvbD3//kBUoECBFz7vP/37d5cxY0Z5enrGeW2Cg4M1depUbdy4UcHBwTp37pyOHTumoUOHJug5GjVqpEaNGunBgwc6dOiQFi9erJUrV6pbt25auXKl0qVLl6j38f79+/Xdd9/p4MGDioiIiNMuLCxMmTJlUvny5VW3bl1NmDBBM2fOVPny5VWrVi01btzYPC3uypUreuWVV8zvt1iFChUy7/+nXLlyxasrc+bMun//foJeBwC2R9gHkOz27NmjGzduaNWqVVq1alW8/StWrFDlypUlPV3W8eeff9b27dtVq1YtrV27VgULFlSRIkXM7WNiYuTj4/PMi3klmS9ijfXPs6Kx/vjjD3Xv3l3lypXTp59+Kk9PTzk7O2vRokVauXJlon/GmJgYSdLrr7+upk2bPrPNf91cqmDBgpKkU6dOyc/PL8HP+7xVhf4d4FOKmJgYmUwmTZ06VY6OjvH2v6zVhF6kcOHC8vf31/LlyxUcHKzly5fL2dlZ9evXT1Q/bm5uCgwMVGBgoJydnbVkyRIdOnRI5cuXT/D7+NKlS+rYsaMKFiyo/v37K1euXHJ2dta2bds0c+ZM83vPZDJp/PjxOnjwoLZs2aIdO3Zo4MCBmjFjhn7++edEf2sk6Zm/I0nxLuYFkHIR9gEkuxUrVihbtmwaMmRIvH0bNmwwX5SbPn16lStXTp6enlq9erXKlCmjPXv2qFu3bnGOyZs3r06ePKmKFStaHGrXrVundOnS6ccff4xzMfCiRYvitMudO7diYmIUEhJiPuMtKd49Ajw8PJQxY0bFxMSoUqVKia6natWqcnR01IoVKxQcHJzo42N5eXkpJiZGFy9eNJ+tlZ5ePHz//n3zxcmxLl68KMMw4ryOFy5cMPdlbXnz5pVhGPL29k70GXkvLy/t2bNHDx8+jBNcz58/n6h+Ll68aJ4qIz39NuXGjRvxLiwODg7W6NGj9ffff2vlypWqXr26MmfOnKjn+qdixYppyZIl5ulRCX0fb968WZGRkZo8ebJy585t3v68KU+lSpVSqVKl1KdPH61YsUIffvihVq9erRYtWsjLy0u7d+/WgwcP4pzdP3funKTk+Z0DsC3m7ANIVo8ePdL69etVvXp11atXL96/du3a6eHDh9q8ebOkp/Ol69Wrpy1btmj58uWKjo6OM4VHkurXr6/Q0FAtXLjwmc8XHh7+wrocHR1lMpnM1wtIUkhIiDZt2hSnXew3Dv9e5nDu3Lnx+qtbt67WrVunv/76K97z/dcUHunpdIkWLVpo586dmjNnTrz9MTExmj59+gtvqlWtWjVJ0qxZs+JsnzFjRpz9sf7+++84q7U8ePBAS5culZ+fX4Km8CRWnTp15OjoqAkTJsQ7O2wYhu7cufPcY6tWraro6GgtWLDAvO3Jkyfxfhcv8vPPP8eZ075gwQJFR0fHC/uNGjWSyWTSiBEjdPny5QStlBQREaEDBw48c1/sfPjYDzkJfR/Hnl3/5+sVFhYW74PpvXv34r2msd8SxU5Tq1q1qp48eaJ58+bFaTdz5kyZTKYXrqQEIPXhzD6AZLV582Y9fPhQQUFBz9xfqlQpeXh4aPny5eZQX79+fc2ZM0fjx4+Xj49PnDPUktSkSROtWbNGn376qfbu3asyZcroyZMnOnfunNauXatp06aZ55E/T7Vq1TRjxgy98847atSokW7duqX58+crb968OnXqlLld7Drks2bN0t27d81Lb8ae/f7nGdkPPvhAe/fuVcuWLdWiRQsVLlxY9+7d07Fjx7R79279/vvv/1lT//79dfnyZQ0fPlzr169XjRo15O7urmvXrmnt2rU6d+6cGjZs+J99FClSRE2bNtXPP/+s+/fvq1y5cjpy5IiWLFmiWrVqxTmjLT2dn//JJ5/oyJEjypYtmxYtWqRbt25p1KhR//k8lsqbN6/ef/99jRkzRleuXFGtWrWUMWNGhYSEaOPGjWrZsqU6d+78zGODgoJUpkwZ87GFCxfW+vXrE73OflRUlDp27Kj69evr/Pnzmj9/vl577TXVrFkzTjsPDw9VqVJFa9eulbu7e5zlWJ8nIiJCrVu3VqlSpVSlShXlzJlTYWFh2rhxo/744w/VqlVLRYsWlZTw93HsFKBu3bqpdevWevjwoX755Rdly5YtzkXUS5Ys0YIFC1SrVi3lzZtXDx8+1MKFC+Xm5mYO8UFBQQoICNDYsWN15coV+fr6ateuXdq0aZPeeuuteNd6AEj9CPsAktXy5cuVLl26567Z7uDgoOrVq2vFihW6c+eOsmbNqjJlyihXrly6du1avLP6scdMnDhRM2fO1LJly7Rhwwa5urrK29tbHTp0SND0kIoVK2rEiBGaOnWqRo4cKW9vb3344Ye6cuVKnLAvSV988YWyZ8+uVatWacOGDapUqZLGjh2revXqxZkClD17dv3yyy+aOHGiNmzYoAULFihLliwqXLiwPvzwwxfW5OrqqqlTp2rx4sVaunSpJk2apEePHumVV15RQECAvv76a+XIkeOF/QwfPlze3t5asmSJNm7cqOzZs6tr167PvFtx/vz5NXjwYH355Zc6f/68vL29NXbsWFWpUuWFz2OpLl26KH/+/Jo5c6Z53f+cOXMqMDDwuR8Kpae/98mTJ2vkyJFavny5TCaTgoKC1L9//0RNfYq9e/P48eMVFRWlhg0batCgQc+cStOkSRNt2bJF9evXj/O7fh53d3cNHz5cW7du1eLFi3Xjxg05OjqqQIEC+vjjj+OsgpPQ93HBggU1fvx4ffvtt+b3Yps2beTh4RFnXfzy5cvryJEjWr16tW7evKlMmTKpRIkS+vrrr80rCMW+huPHj9fq1au1ePFieXl56eOPPzav2ATAvpgMrrIBgEQ7ceKEgoOD9dVXXyX6RlgpRVBQkF599VVNmTLF1qWkWBs3btS7776refPmqWzZsrYuBwASjTn7APACjx49irdt1qxZcnBwULly5WxQEV6WX375RXny5NFrr71m61IAwCJM4wGAF5g2bZqOHj2qChUqyNHRUdu3b9f27dvVqlWrZ65DjtRv1apVOnXqlLZu3apPPvkkxS5lCgAvQtgHgBcoXbq0du3apUmTJik8PFy5cuVSr1694i0JCvvRt29fZciQQc2bN49392QASE2Ysw8AAADYKebsAwAAAHaKsA8AAADYKbues3/q1CmFh4fLycmuf0wAAACkMVFRUTKZTCpduvR/trPrFBwZGRnv1uEAAABAapfQjGvXYV+SnJ2dVbx4cVuXAQAAAFjNkSNHEtSOOfsAAACAnSLsAwAAAHaKsA8AAADYKcI+AAAAYKcI+wAAAICdIuwDAAAAdoqwDwAAANgpwj4AAABgpwj7AAAAgJ0i7AMAAAB2irAPAAAA2CnCPgAAAGCnCPsAAACAnSLsAwAAAHaKsA8AAADYKcI+AAAAYKcI+0kUE2PYugQg2fE+BwAgdXKydQGpnYODSRMX7NKVv+/ZuhQgWXi9klnvtgm0dRkAAMAChH0ruPL3PV24csfWZQAAAABxMI0HAAAAsFOEfQAAAMBOEfYBAAAAO0XYBwAAAOwUYR8AAACwU4R9AAAAwE4R9gEAAAA7RdgHAAAA7BRhHwAAALBThH0AAADAThH2AQAAADtF2AcAAADsFGEfAAAAsFOEfQAAAMBOEfYBAAAAO0XYBwAAAOwUYR8AAACwU4R9AAAAwE4R9gEAAAA7RdgHAAAA7BRhHwAAALBThH0AAADAThH2AQAAADtF2AcAAADsFGEfAAAAsFOEfQAAAMBOEfYBAAAAO0XYBwAAAOwUYR8AAACwU4R9AAAAwE4R9gEAAAA7RdgHAAAA7BRhHwAAALBThH0AAADATqWosL948WL5+vrG+/f111/bujQAqVBMjGHrEoBkx/scwH9xsnUBzzJt2jRlypTJ/DhHjhw2rAZAauXgYNLEBbt05e97ti4FSBZer2TWu20CbV0GgBQsRYZ9f39/eXh42LoMAHbgyt/3dOHKHVuXAQCATaSoaTwAAAAArCdFntlv1KiR7ty5o9y5c6tly5Z655135OjoaFFfhmEoPDzcyhU+ZTKZ5Orqmix9AylNRESEDCP1zA1mfCItSW3jE0DSGYYhk8n0wnYpKux7enqqV69eKlmypEwmkzZv3qxvv/1WoaGhGjJkiEV9RkVF6cSJE1au9ClXV1cVLVo0WfoGUprz588rIiLC1mUkGOMTaUlqG58ArMPFxeWFbVJU2K9SpYqqVKlifly5cmWlS5dOs2bNUrdu3fTKK68kuk9nZ2cVLlzYmmWaJeTTFGAvChQokKrOHDI+kZaktvEJIOnOnDmToHYpKuw/S/369TV9+nSdOHHCorBvMpmUIUOGZKgMSFuYEgOkXIxPIO1J6EktLtAFAAAA7FSKD/urV6+Wo6Mjc28BAACAREpR03g6d+6sgIAA+fr6SpI2bdqkhQsX6s0335Snp6eNqwMAAABSlxQV9gsUKKBFixbp+vXriomJUf78+TVw4EB16NDB1qUBAAAAqU6KCvuDBg2ydQkAAACA3Ujxc/YBAAAAWIawDwAAANgpwj4AAABgpwj7AAAAgJ0i7AMAAAB2irAPAAAA2CnCPgAAAGCnCPsAAACAnSLsAwAAAHaKsA8AAADYKcI+AAAAYKcI+wAAAICdIuwDAAAAdoqwDwAAANgpwj4AALCJmBjD1iUAyc7W73Mnmz47AABIsxwcTJq4YJeu/H3P1qUAycLrlcx6t02gTWsg7AMAAJu58vc9Xbhyx9ZlAHaLaTwAAACAnbL4zP6ZM2d05swZ3blzRyaTSVmzZlWhQoVUuHBha9YHAAAAwEKJCvt79+7VkiVLtGXLFt2/f1+GEfeCA5PJpEyZMqlGjRpq1qyZAgICrFosAAAAgIRLUNjfvn27xo0bp2PHjunVV19V06ZN5e/vrzx58sjd3V2GYej+/fsKCQnRsWPHtGvXLi1btkxFixZVnz59VKVKleT+OQAAAAD8S4LCfu/evdW8eXN9+eWXKlSo0HPblS5dWo0bN5YknT17Vj/99JN69+6tP//80zrVAgAAAEiwBIX9LVu2KEuWLInquFChQvrkk0/07rvvWlIXAAAAgCRK0Go8iQ361joWAAAAgOVYehMAAACwUxYvvXny5EnNnTtXx48fV1hYmGJiYuLsN5lM2rhxY5ILBAAAAGAZi87s7927Vy1atNDWrVv1yiuv6PLly8qTJ49eeeUVXb16VRkyZFC5cuWsXSsAAACARLAo7I8fP1558uTR2rVrNXLkSElS165dtWDBAv30008KDQ1VvXr1rFooAAAAgMSxKOwfP35czZs3l5ubmxwdHSXJPI2nZMmSatWqlcaNG2e9KgEAAAAkmkVh39HRURkzZpQkubu7y8nJSbdu3TLvz5Mnj86ePWudCgEAAABYxKKwnzdvXl24cEHS0wtxCxYsGOdi3K1btyp79uxWKRAAAACAZSwK+9WqVdOqVasUHR0tSXr77be1fv161alTR3Xq1NHmzZvVqlUrqxYKAAAAIHEsWnqzR48eevPNN83z9Zs2bSoHBwetX79ejo6O6tatm5o1a2bVQgEAAAAkjkVh39nZWVmzZo2zrUmTJmrSpIlVigIAAACQdNxBFwAAALBTCT6zP3z48ER3PmjQoEQfAwAAAMA6Ehz2586dG2+byWSSYRjPbG8ymQj7AAAAgA0lOOyfPHkyzuPbt2+rUqVKmjFjhipWrGj1wgAAAAAkjcVz9k0mkzXrAAAAAGBlXKALAAAA2CnCPgAAAGCnCPsAAACAnUpy2GfuPgAAAJAyJXg1ntKlSz8z2Hfr1k0ODvE/M5hMJu3fvz9p1QEAAACwWILDft26dTmLDwAAAKQiCQ77o0ePTs46AAAAAFhZgufsDxs2TNu3b1dkZGRy1gMAAADAShJ8Zv/gwYNasGCB0qdPr4CAAFWtWlXVq1dX7ty5k7M+AAAAABZKcNhfvHixbty4oW3btmn79u365ptv9Pnnn6tw4cKqVq2aqlevrjJlyjzzYl0AAAAAL1+Cw74keXp6qnnz5mrevLmio6O1b98+bd++XZs3b9a0adPk7u6uwMBAVa9eXVWqVJGHh0dy1Q0AAADgBRIV9uMc6OSkihUrqmLFiurXr59CQkK0detWbd++XUOGDFFUVJSKFSumXr16qUqVKtasGQAAAEACWBz2/83b21vt27dX+/bt9fjxY+3evVvbtm3T9evXLerv4cOHql+/vkJDQ/Xrr7+qePHi1ioVAAAASBOsFvYl6fLly4qMjFShQoVUvXp1Va9e3eK+Jk2apCdPnlivOAAAACCNsehq2tmzZ6tPnz5xtg0YMEB16tRRo0aN1KxZM926dcvios6ePav58+erV69eFvcBAAAApHUWhf1ffvlF2bJlMz/esWOHlixZopYtW2rQoEEKCQnRhAkTLC5q+PDhat26tQoUKGBxHwAAAEBaZ9E0nqtXr6pQoULmx2vWrJG3t7eGDh0qSbp586aWLVtmUUFr167VX3/9pe+++07Hjh2zqA8AAAAAFoZ9wzDiPN61a5dq1qxpfuzl5aWbN28mut+IiAiNHj1affr0kZubmyWlxWMYhsLDw63S17+ZTCa5uromS99AShMRERFv7KdkjE+kJaltfEqMUaQtyTFGDcOQyWR6YTuLwn7+/Pm1ceNGtWnTRjt27NDff/+tqlWrmvdfv35d7u7uie538uTJypYtm9544w1LynqmqKgonThxwmr9/ZOrq6uKFi2aLH0DKc358+cVERFh6zISjPGJtCS1jU+JMYq0JbnGqIuLywvbWBT2O3furA8++EDlypVTRESEChUqpMqVK5v37927V0WKFElUn1euXNH06dM1ceJEhYWFSZL5jHx4eLgePnyojBkzJrpWZ2dnFS5cONHHJURCPk0B9qJAgQKp6swh4xNpSWobnxJjFGlLcozRM2fOJKidRWG/YcOGypIli7Zt2yZ3d3e1bdtWTk5Pu7p7964yZ86sJk2aJKrPkJAQRUVFqUuXLvH2vfnmmypZsqQWLlyY6FpNJpMyZMiQ6OMAxMXX7UDKxfgEUrbkGKMJ/cBs8Tr7gYGBCgwMjLc9S5YsFq3E4+fnp9mzZ8fZduLECY0aNUpDhw7lploAAABAIiXpplqhoaHat2+fbt26pbp16ypnzpx68uSJwsLClClTJjk6Oia4L3d3dwUEBDxzn7+/v/z9/ZNSKgAAAJDmWLwaz+jRozVv3jxFR0fLZDLJx8dHOXPmVHh4uIKCgvTee++pY8eOVi4XAAAAQEJZdFOtadOmafbs2erUqZNmzJgR54KDTJkyqU6dOlq/fn2SiwsICNCpU6eYwgMAAABYwOI76AYHB6tv377PXHXH19dXFy5cSGptAAAAAJLAorB/7do1lS5d+rn7XV1d9eDBA4uLAgAAAJB0FoX9bNmy6dq1a8/df+zYMeXKlcviogAAAAAknUVhv3bt2vrpp590+fJl87bYtT537typJUuWqF69etapEAAAAIBFLFqN57333tPevXvVpEkTlS1bViaTSVOnTtW4ceN08OBB+fn5qVu3btauFQAAAEAiWHRmP1OmTFq4cKHeeecdhYaGKl26dNq3b5/CwsL07rvvav78+dzNDwAAALAxi2+qlT59evXo0UM9evSwZj0AAAAArMSiM/sAAAAAUj6Lz+yfPXtWixYtUkhIiO7duxfnxlrS0wt2Z82aleQCAQAAAFjGorC/dOlSDRw4UE5OTipQoIDc3d3jtfl3+AcAAADwclkU9idMmCA/Pz9NnTpVHh4e1q4JAAAAgBVYNGf/77//1htvvEHQBwAAAFIwi8K+r6+v/v77b2vXAgAAAMCKLAr7/fv316+//qo///zT2vUAAAAAsBKL5uxPnTpVmTJlUrt27VS4cGHlypVLDg5xPzeYTCZNnjzZKkUCAAAASDyLwv5ff/0lScqVK5cePnyoM2fOxGtjMpmSVhkAAACAJLEo7G/evNnadQAAAACwMu6gCwAAANgpi++gK0kPHjzQ1atXdf/+/WfeRKtcuXJJ6R4AAABAElgU9u/cuaPPP/9c69ev15MnT+LtNwxDJpNJJ06cSHKBAAAAACxjUdgfPHiwtmzZog4dOqhs2bJyd3e3dl0AAAAAksiisL9r1y699dZb+vjjj61dDwAAAAArsegC3fTp08vLy8vatQAAAACwIovC/uuvv66NGzdauxYAAAAAVmTRNJ66detq37596ty5s1q1aqWcOXPK0dExXjt/f/8kFwgAAADAMhaF/bZt25r/+7fffou3n9V4AAAAANuzKOyPGjXK2nUAAAAAsDKLwn7Tpk2tXQcAAAAAK0vSHXQl6eHDh7p+/bokKWfOnMqYMWOSiwIAAACQdBaH/cOHD+urr77Sn3/+qZiYGEmSg4ODXnvtNX300UcqXry41YoEAAAAkHgWhf1Dhw6pQ4cOcnZ2VvPmzVWoUCFJ0tmzZ7Vq1Sq1b99ec+bMUYkSJaxaLAAAAICEsyjsjx07Vjly5ND8+fPl6ekZZ1+vXr3Upk0bjR07VjNmzLBKkQAAAAASz6Kbah06dEitWrWKF/QlKXv27GrZsqUOHjyY1NoAAAAAJIFFYd/BwUFPnjx57v6YmBg5OFjUNQAAAAArsSiRly5dWvPmzdOVK1fi7bt69armz5+vMmXKJLk4AAAAAJZL8Jz9mjVrauDAgapZs6b69u2rdu3aqX79+qpdu7by588vSTp//rw2bdokR0dHffDBB8lVMwAAAIAESHDYv3LlisLDwyVJRYsW1S+//KKxY8dq8+bNioiIkCS5urqqSpUqev/991W4cOHkqRgAAABAgli8zn7hwoU1ceJExcTE6Pbt25IkDw8P5uoDAAAAKUSS76Dr4OCg7NmzW6MWAAAAAFaUqLC/cOFC/fbbbwlqazKZNHLkSIuKAgAAAJB0iQr7hw4d0tGjRxPUlrAPAAAA2Faiwv6IESPUuHHj5KoFAAAAgBVxNS0AAABgpwj7AAAAgJ0i7AMAAAB2KsFhf9SoUSpdunRy1gIAAADAihJ0ge61a9fUtGlTi57g2rVrypUrl0XHAgAAALBcgs7s165dWwMGDNDhw4cT3PGff/6pjz/+WHXq1LG4OAAAAACWS9CZ/fnz5+vbb79Vy5YtlTt3blWoUEH+/v7y9vaWu7u7DMPQ/fv3FRISoqNHj2rPnj0KDQ1VQECA5s2bl9w/AwAAAIBnSFDYL1GihKZPn64TJ05o0aJF2rx5sxYvXizp6c2zJMkwDElSrly5VKtWLb3xxhvy8/NLprIBAAAAvEiibqrl5+enQYMGadCgQQoNDdW5c+d09+5dSVKWLFlUsGBB5ciRIznqBAAAAJBIiQr7/5QjRw6CPQAAAJCCWRz2k8O2bds0depUnTlzRg8ePFCOHDlUq1Yt9ezZU5kyZbJ1eQAAAECqkqLC/t27d1WiRAl16NBBWbJk0enTp/Xdd9/p9OnTmj59uq3LAwAAAFKVFBX2mzRpEudxQECAXFxcNHjwYIWGhjJtCAAAAEiEBN9B11ayZMkiSYqKirJtIQAAAEAqk6LO7Md68uSJoqOjdebMGU2cOFFBQUHy9va2dVkAAABAqpIiw36NGjUUGhoqSapSpYrGjBljcV+GYSg8PNxapcVhMpnk6uqaLH0DKU1ERIT5fhqpAeMTaUlqG58SYxRpS3KMUcMwzPe7+i8JCvsTJkxIdAEmk0nvvvtuoo+TpB9++EERERE6c+aMJk+erG7dumnGjBlydHRMdF9RUVE6ceKERXW8iKurq4oWLZosfQMpzfnz5xUREWHrMhKM8Ym0JLWNT4kxirQlucaoi4vLC9tYHPb/fefcf26P/aRhadgvUqSIJKl06dIqXry4mjRpog0bNqhevXqJ7svZ2VmFCxe2qI4XScinKcBeFChQIFWdOWR8Ii1JbeNTYowibUmOMXrmzJkEtUtQ2D958mScx6GhoerSpYteffVVvfXWWypQoIAk6dy5c5o1a5bOnj2rKVOmJLLkZ/P19ZWzs7MuXbpk0fEmk0kZMmSwSi1AWsbX7UDKxfgEUrbkGKMJ/cBs0Wo8Q4cOVb58+fT111+rePHicnNzk5ubm0qUKKExY8Yob968GjZsmCVdx3Po0CFFRUVxgS4AAACQSBZdoLtnzx59+OGHz91foUIFff3114nut2fPnipWrJh8fX2VPn16nTx5Uj/++KN8fX1Vq1YtS0oFAAAA0iyLwn66dOl08OBBtW3b9pn7Dxw4oHTp0iW63xIlSmj16tX64YcfZBiGvLy81KJFC3Xu3DlBFyAAAAAA+D8Whf3GjRtrzpw5cnd3V/v27ZU3b15J0qVLlzRnzhytXLlSHTp0SHS/Xbp0UZcuXSwpCQAAAMC/WBT2P/zwQ925c0dz587VvHnz5ODwdOp/TEyMDMNQw4YN/3OaDwAAAIDkZ1HYd3Fx0VdffaXOnTtr+/btunLliiTJy8tLVatWNS+dCQAAAMB2knQH3SJFihDsAQAAgBTKoqU3AQAAAKR8CTqzX6RIkUTf6c5kMun48eMWFQUAAAAg6RIU9t99911uaw0AAACkMgkK+7169UruOgAAAABYGXP2AQAAADtlcdi/evWqhgwZorp166pcuXLat2+fJOn27dsaPnw48/UBAAAAG7Mo7J85c0ZNmzbVmjVr5O3trQcPHig6OlqS5OHhof3792vu3LlWLRQAAABA4li0zv5XX32lTJkyaeHChZKkSpUqxdlfrVo1rVmzJunVAQAAALCYRWf29+3bpzZt2sjDw+OZq/Tkzp1boaGhSS4OAAAAgOUsCvuGYSh9+vTP3X/79m25uLhYXBQAAACApLMo7BctWlTbtm175r7o6GitWrVKJUuWTFJhAAAAAJLGorDfpUsX7dixQ59++qlOnz4tSbp165Z+++03derUSefOnVOXLl2sWigAAACAxLHoAt1q1app1KhRGjlypPki3Y8++kiGYcjNzU1ffPGFypUrZ9VCAQAAACSORWFfkoKDg1WnTh3t2rVLFy9eVExMjPLmzavKlSvLzc3NmjUCAAAAsIDFYV+SMmTIoNq1a1urFgAAAABWlKCwf/XqVUlPl9T85+MXiW0PAAAA4OVLUNgPCgqSyWTSoUOH5OLiYn78IidOnEhygQAAAAAsk6CwP3LkSJlMJjk7O8d5DAAAACDlSlDYb9asmbZt22YO+M2aNUvWogAAAAAkXYLX2e/atav69u2rmzdvJmc9AAAAAKwkwWG/b9++2rJlixo0aGBeWx8AAABAypXgsN+lSxetXLlSZcqU0ZAhQ9SuXTudPXs2OWsDAAAAkASJWmffy8tL33//vTZs2KARI0YoODhYnTp1kr+//zPb16lTxypFAgAAAEg8i26qVbt2bRUpUkTNmzfXlClTntnGZDKx9CYAAABgQxaF/V9++UVff/21IiMj9dFHH6l48eLWrgsAAABAEiUq7J89e1ZDhgzR/v37Vb16dQ0ZMoS75AIAAAApVILD/tixYzV9+nRlyZJF3377rerVq5ecdQEAAABIogSH/R9++EGtWrXShx9+KDc3t+SsCQAAAIAVJDjsL1iwQKVKlUrGUgAAAABYU4LX2SfoAwAAAKlLgsM+AAAAgNSFsA8AAADYKcI+AAAAYKcI+wAAAICdsugOurEiIyN17Ngx3bp1S2XKlJGHh4e16gIAAACQRBaf2Z89e7YqV66stm3bqlevXjp16pQk6fbt2woICNCvv/5qtSIBAAAAJJ5FYX/RokUaOXKkqlSpohEjRsgwDPM+Dw8PVahQQatXr7ZakQAAAAASz6KwP2PGDNWsWVNjxoxRjRo14u339/fX6dOnk1wcAAAAAMtZFPYvXryoqlWrPnd/lixZdPfuXUtrAgAAAGAFFoV9d3d33blz57n7z5w5I09PT4uLAgAAAJB0FoX9qlWrauHChbp//368fadPn9Yvv/yioKCgJBcHAAAAwHIWLb35/vvvq2XLlmrUqJFq1Kghk8mkpUuXatGiRVq/fr08PT3Vo0cPa9cKAAAAIBEsOrOfI0cOLV68WFWqVNGaNWtkGIaWLVumLVu2qGHDhlq4cCFr7gMAAAA2ZvFNtbJly6YRI0ZoxIgRun37tmJiYuTh4SEHB27KCwAAAKQESbqDbizO4gMAAAApj0Vhf8KECf+532QyKV26dMqZM6fKlSunHDlyWFQcAAAAAMtZHPZNJpMkxbl7rqR42x0dHdWiRQsNGTKEKT4AAADAS2RR2N+2bZu6du0qPz8/dejQQXnz5pX09GZbc+fO1alTpzR27FiFh4dr1qxZ+vnnn/XKK6+wQg8AAADwEll0qn3o0KEqWLCgRo0apaJFi8rNzU1ubm7y9/fXqFGjlC9fPo0ZM0Z+fn4aPXq0KleurGXLllm7dgAAAAD/waKwv2fPHpUrV+65+8uVK6ddu3aZH1erVk1Xr159Yb9r1qxR9+7dVbVqVZUqVUpNmjTRr7/+Gm+qEAAAAIAXsyjsu7i46PDhw8/df+jQITk7O5sfR0dHK0OGDC/sd+bMmXJ1dVX//v01efJkVa1aVYMHD9bEiRMtKRMAAABI0yyas9+oUSPNmzdPWbJkUZs2beTt7S1JCgkJ0fz587V8+XK1a9fO3H7v3r0qXLjwC/udPHlynGU8K1asqLt372rGjBnq0aMHF/gCAAAAiWBR2P/oo4908+ZNzZgxQzNnzjSH8JiYGBmGoTp16uijjz6SJD1+/Fj+/v4qU6bMC/t91nr9fn5+WrhwocLDw+Xm5mZJuQAAAECaZFHYT5cunb799lsdP35cO3bs0JUrVyRJXl5eqly5svz9/eO07dmzp8UF7t+/Xzly5CDoAwAAAImUpDvoFi1aVEWLFrVWLfH88ccfWr16tfr162dxH4ZhKDw83IpV/R+TySRXV9dk6RtIaSIiIlLVxfKMT6QlqW18SoxRpC3JMUYNwzDf3+q/JCnsJ6fr16+rT58+CggI0JtvvmlxP1FRUTpx4oQVK/s/rq6uyfphB0hJzp8/r4iICFuXkWCMT6QlqW18SoxRpC3JNUZdXFxe2MbisL9t2zbNnDlTx48fV1hY2DM/rVgasu/fv6///e9/ypIli7777rskXZjr7OycoIuDLZGQT1OAvShQoECqOnPI+ERaktrGp8QYRdqSHGP0zJkzCWpnUdhft26d3n//fRUuXFgNGjTQggUL1KhRIxmGoc2bNytfvnyqVauWJV3r0aNH6tq1q8LCwvTzzz8rU6ZMFvUTy2QyJWjZTwD/ja/bgZSL8QmkbMkxRhP6gdmisD9lyhSVKFFC8+fP171797RgwQK98cYbqlixokJCQtSqVSvzcpyJER0drffff1/nzp3TvHnzlCNHDkvKAwAAACALb6p19uxZNWjQQI6OjnJyevp5ITo6WpLk7e2tNm3aaOrUqYnud+jQodqyZYu6deumBw8e6ODBg+Z/kZGRlpQKAAAApFkWndlPnz69+Q657u7ucnFx0Y0bN8z7s2fPrpCQkET3u2vXLknS6NGj4+3btGmTRd8WAAAAAGmVRWG/QIECOnv2rPmxn5+fli1bptdff11PnjzRypUrlStXrkT3u3nzZkvKAQAAAPAMFk3jqV27tjZt2mSeWtOtWzf9/vvvKleunCpUqKA//vhDXbp0sWqhAAAAABLHojP7nTt3VufOnc2Pa9SooTlz5mj9+vVydHRUtWrVVKFCBasVCQAAACDxEh32IyMjtWPHDnl5ealIkSLm7WXLllXZsmWtWhwAAAAAyyV6Go+zs7N69+6tAwcOJEc9AAAAAKwk0WHfZDIpf/78unPnTnLUAwAAAMBKLLpAt2vXrpo3b57OnTtn7XoAAAAAWIlFF+geOnRIWbJkUePGjVW+fHl5eXkpffr08doNGjQoyQUCAAAAsIxFYX/u3Lnm/969e/cz25hMJsI+AAAAYEMWhf2TJ09auw4AAAAAVmbRnH0AAAAAKZ9FZ/ZjHTx4UHv37tWtW7fUtm1b5c+fXxERETp37pzy58+vjBkzWqtOAAAAAIlkUdiPjIxU3759tWnTJhmGIZPJpBo1aih//vxycHBQp06d1LFjR3Xv3t3a9QIAAABIIIum8YwbN05bt27VZ599prVr18owDPO+dOnSqV69etq0aZPVigQAAACQeBaF/VWrVql169Zq1aqVMmfOHG9/oUKFdPny5SQXBwAAAMByFoX9W7duydfX97n7HR0d9ejRI4uLAgAAAJB0FoX9XLly/efdc//880/lzZvX4qIAAAAAJJ1FYb9Ro0b66aefdODAAfM2k8kkSVq4cKHWrFmj4OBgqxQIAAAAwDIWrcbTrVs3HTp0SO3bt1fBggVlMpk0atQo3bt3T9evX1e1atXUsWNHK5cKAAAAIDEsCvsuLi6aNm2ali9frnXr1ikmJkaRkZHy9fXV+++/ryZNmpjP9AMAAACwDYtvqmUymdSkSRM1adLEmvUAAAAAsBKL5ux/+eWXOn78uLVrAQAAAGBFFoX9uXPn6o033lCdOnX07bff6tSpU9auCwAAAEASWRT2f/vtN40aNUr58+fXtGnTFBwcrIYNG2rixIn/uSQnAAAAgJfHojn7bm5uCg4OVnBwsO7fv69169Zp7dq1mjx5siZMmCAfHx81bNhQXbp0sXa9AAAAABLIojP7/+Tu7q4WLVroxx9/1I4dO9SvXz+FhIRo7Nix1qgPAAAAgIUsXo3nn6KiorR9+3atXr1aW7ZsUXh4uHLlymWNrgEAAABYyOKwHx0drV27dmn16tXatGmTHjx4IE9PTzVr1kwNGjRQmTJlrFknAAAAgESyKOwPHDhQmzZt0r1795Q1a1Y1bNhQDRs2VLly5biZFgAAAJBCWBT2N23apFq1aqlBgwaqUKGCHB0d47W5d++eMmfOnOQCAQAAAFjGorC/a9cuOTnFPzQyMlKbNm3SihUrtGPHDh05ciTJBQIAAACwjEVh/59B3zAM7d69WytWrNCGDRv04MEDeXh4qFGjRlYrEgAAAEDiWXyB7tGjR7VixQqtWrVKN2/elMlkUoMGDdS+fXuVKlWKufsAAACAjSUq7F++fFnLly/XihUrdPHiReXIkUONGzdWiRIl1KdPH9WtW1elS5dOrloBAAAAJEKCw36rVq10+PBhZc2aVXXr1tXw4cNVtmxZSdKlS5eSrUAAAAAAlklw2D906JC8vb3Vv39/Va9e/ZkX6AIAAABIORwS2nDw4MHy9PRUz549FRgYqCFDhmjPnj0yDCM56wMAAABgoQSfnm/Xrp3atWuny5cva8WKFVq5cqUWLlyo7NmzKyAgQCaTiYtyAQAAgBQkwWf2Y+XJk0c9evTQ6tWr9euvv6phw4b6/fffZRiGhg4dqsGDB2vLli16/PhxctQLAAAAIIGSNPG+WLFiKlasmPr166c9e/Zo+fLlWr16tX755Re5urrqwIED1qoTAAAAQCJZ5SpbBwcHVapUSZUqVdLQoUPNd9EFAAAAYDtWX1InXbp0atCggRo0aGDtrgEAAAAkQqLn7AMAAABIHQj7AAAAgJ0i7AMAAAB2irAPAAAA2CnCPgAAAGCnCPsAAACAnSLsAwAAAHaKsA8AAADYKcI+AAAAYKcI+wAAAICdIuwDAAAAdsrJ1gX808WLF/Xjjz/q0KFDOn36tAoWLKiVK1fauiwAAAAgVUpRYf/06dPatm2bSpYsqZiYGBmGYeuSAAAAgFQrRU3jCQoK0rZt2zR+/Hj5+/vbuhwAAAAgVUtRYd/BIUWVAwAAAKRqpGsAAADATqWoOfvJwTAMhYeHJ0vfJpNJrq6uydI3kNJERESkqutoGJ9IS1Lb+JQYo0hbkmOMGoYhk8n0wnZ2H/ajoqJ04sSJZOnb1dVVRYsWTZa+gZTm/PnzioiIsHUZCcb4RFqS2sanxBhF2pJcY9TFxeWFbew+7Ds7O6tw4cLJ0ndCPk0B9qJAgQKp6swh4xNpSWobnxJjFGlLcozRM2fOJKid3Yd9k8mkDBky2LoMINXj63Yg5WJ8AilbcozRhH5g5gJdAAAAwE6lqDP7ERER2rZtmyTpypUrevDggdauXStJKl++vDw8PGxZHgAAAJCqpKiwf+vWLfXu3TvOttjHs2fPVkBAgC3KAgAAAFKlFBX2vb29derUKVuXAQAAANgF5uwDAAAAdoqwDwAAANgpwj4AAABgpwj7AAAAgJ0i7AMAAAB2irAPAAAA2CnCPgAAAGCnCPsAAACAnSLsAwAAAHaKsA8AAADYKcI+AAAAYKcI+wAAAICdIuwDAAAAdoqwDwAAANgpwj4AAABgpwj7AAAAgJ0i7AMAAAB2irAPAAAA2CnCPgAAAGCnCPsAAACAnSLsAwAAAHaKsA8AAADYKcI+AAAAYKcI+wAAAICdIuwDAAAAdoqwDwAAANgpwj4AAABgpwj7AAAAgJ0i7AMAAAB2irAPAAAA2CnCPgAAAGCnCPsAAACAnSLsAwAAAHaKsA8AAADYKcI+AAAAYKcI+wAAAICdIuwDAAAAdoqwDwAAANgpwj4AAABgpwj7AAAAgJ0i7AMAAAB2irAPAAAA2CnCPgAAAGCnCPsAAACAnSLsAwAAAHaKsA8AAADYKcI+AAAAYKcI+wAAAICdIuwDAAAAdoqwDwAAANgpwj4AAABgpwj7AAAAgJ1KcWH/7Nmzevvtt1WqVCkFBgbqyy+/VGRkpK3LAgAAAFIdJ1sX8E/37t3TW2+9pfz58+u7775TaGioRo8erUePHmnIkCG2Lg8AAABIVVJU2P/pp5/08OFDTZgwQVmyZJEkPXnyREOHDlXXrl2VI0cO2xYIAAAApCIpahrP9u3bVbFiRXPQl6T69esrJiZGu3btsl1hAAAAQCqUosL+uXPnVLBgwTjb3N3d5enpqXPnztmoKgAAACB1SlHTeO7fvy93d/d42zNnzqx79+5Z1GdUVJQOHz6c1NKey2QyqWF5Tz2JyZZszwHYkqODg44cOSLDMGxdSqIxPmHvUvP4lBijsH/JOUajoqJkMple2C5FhX1rc3FxUXR0dIJeiKRwd0ufrP0DKUFyj6PkwvhEWpBax6fEGEXakBxj1GQypb6w7+7urrCwsHjb7927p8yZMye6P19fX2uUBQAAAKRKKWrOfsGCBePNzQ8LC9ONGzfizeUHAAAA8N9SVNivWrWqfvvtN92/f9+8be3atXJwcFBgYKANKwMAAABSH5ORgq7quXfvnho2bKgCBQqoa9eu5ptqNW7cmJtqAQAAAImUosK+JJ09e1aff/65Dhw4oIwZM6pJkybq06ePXFxcbF0aAAAAkKqkuLAPAAAAwDpS1Jx9AAAAANZD2AcAAADsFGEfAAAAsFOEfQAAAMBOEfYBAAAAO0XYBwAAAOwUYR9pypMnT2xdAgAAwEtD2EeacPPmTX344YfauXOnrUsBAAB4aQj7sHu//fab3njjDZ09e1be3t6KiYmxdUlAmnX69GlblwDgOY4ePar33nuPcWpnCPuwe3/++afSp0+vJUuWqFChQuapPNw8Gni5Fi1apNatWys0NNTWpQB4BgcHB61fv15btmzRo0ePbF0OrISwD7tz8eJFRUZGSpIiIyMVHR0twzC0fPly1axZUyNGjJAkmUwmW5YJpDk1atTQL7/8ohw5cti6FAD/EhkZqaJFi6pVq1aaPXu2Tp48aeuSYCWEfdiVQ4cOqW7dujp69KgMw5CLi4uKFSumsLAw9e/fXyVLllSHDh04qw/YgIeHhwoWLKglS5Zo+/btti4HgJ5+yx3791KSPvroIz1+/FgrVqzQ7du3bVwdrMHJ1gUA1vTqq69qyZIl8vPzk/R09Z2BAwdKkjw9PRUUFKRChQoR9oGXIHac/fNbtAcPHmjOnDmKiIhQyZIllTlzZluVB6RJDx8+VMaMGWUYhkwmk3l87t69W5MmTVKFChXk4uKiTZs2KTAwUEFBQTauGEnFmX3YhSdPnsgwDGXIkEF+fn7au3ev5s2bJ0dHRy1evFhTpkxR7ty5tWTJEj18+FAmk4kLdQEru3Hjho4dOybp6ZiMDRL/HGsZM2ZU//79de3aNS1dutRGlQJpi2EYevz4sd577z398MMP5qAfa8WKFeratavy5cun7NmzKzAwUPfv39fChQt17do1G1YOayDswy44OjrKZDLp+vXr+vvvv7Vu3Tp9/vnnOn/+vLy9vVW6dGnVrl1bly9f1k8//SSJOfuAtTVt2lQjR47UtWvX5OjoKMMwNGnSJH322WdavHixQkNDZTKZVLJkSTVu3FhTp07V5cuXbV02YPdMJpPSpUsnHx8fNWjQIM7fP8MwtGrVKpUoUUL9+vVTq1atNHr0aA0cOFBbt27Vjh07FB0dbcPqkVSEfaRa/56KM3LkSDVu3Fh//fWX2rVrJ29vb02bNs18sW6TJk1UoEABrVmzRhcvXuTsPmAlsStcffTRRzp48KB27typc+fOqXnz5vr11191+PBhjRw5Uv/73/906dIlpUuXTm+//bZiYmI0c+ZMxiGQzGLHWM+ePeXr66sjR44oLCxM0tOpdXfu3FGePHmUKVMm8zHNmzdXYGCg5s6dq3PnztmkblgHYR+pVuyZiU2bNun333/X1atXNWjQIJUqVUr58+fXW2+9paVLl+rgwYOSpGzZsqlx48Z6+PCh5s2bJ+npMmMAksbR0VHS0w/URYsW1fLly7Vy5UrlzJlTc+fO1ezZszVr1izduXNHw4YN08WLF1WwYEF17NhRCxcu1KFDh2z8EwD27Z9/6xYsWKC2bdtq3bp1kiRXV1dFRUXpwYMH5gtyY0+mtWnTRqdPn9bmzZv14MGDl184rIKkg1Rt8+bNGjhwoHr27KkMGTKofv36cnNzk6Ojoxo0aCB/f39NmDDB/D+p+vXrq3Tp0tq9e7d2794tSZxVBCz0z7ET+zX/Z599pn379mnOnDmqXr26cufOLXd3d/n7++vLL7/Ub7/9Zr6TddOmTVWoUCFNmTKFNb0BK4v9xi1W7Bht3Lix8ubNq82bN+v8+fNycnJSo0aNtGvXLv3111+KiYkxf4CPnY63ZMkSPpSnYoR9pAr//p9WbMgoW7asgoKCFB4ersDAQLm4uJin7WTLlk3dunXTvn37tH79ehmGIUdHRzVp0kT37t3TmjVrJHF2H0is2PH4z7Hj5OQkwzDk7++vtm3bKiwszPwhO3Zpv4oVKyogIEBr166V9HSMdu3aVVu3btWmTZte/g8C2JHYv4uxoT42sB87dkzh4eHmb8Pd3Nz01ltv6cCBA+Zx1759e2XJkkVTpkzRX3/9JUl6/Pixjh07pubNm+vWrVu6e/fuS/6JYC0mgzUIkYLFxMTECRS7du1Svnz55OnpqXTp0pm3ffLJJ8qbN69mz54tSeaVBh4+fKhBgwbp5MmTmjlzpvlmPrt371bFihVf/g8EpHL/XMVjy5YtOnjwoLy9veXj46OSJUtKejoHOHbJvk8++UTZs2dXZGSkXFxcNH/+fI0bN05r1qyRh4eH7t+/r/nz56tp06bcbAuwwMaNG7VixQp17txZJUqUMG9fs2aNJk6cqKioKMXExKh06dIaPXq0+W9q+/btFRkZqQEDBqh06dLau3evPvjgAzk4OCgoKEiPHz/Wjh07NH78ePn7+5v/5iL14ZQmUrTY/yktXbpUNWvW1ODBg/XGG2/onXfe0fHjxyVJgYGBatiwoc6dO6eNGzdK+r8zjxkzZtQ777yj8+fPx7kQkKAPvNj9+/f18OHDONtMJpMuXbqkt956S/369dOxY8c0Y8YMde3a1Twm3dzc9O6772rDhg3atm2bJJlv2HP48GFly5bNfNbR3d1d3bp1I+gDiXTixAm1bNlSPXv21Lp168x/Lx88eKBRo0Zp1KhRqlq1qoYPH65PPvlEq1ev1pQpU8zz8t99911dunRJ69ev1+PHjxUQEKBvv/1WVapU0bFjx3T8+HENGzZMZcqUIeinctxUCylaeHi4pkyZolWrVumNN95Q/fr1lSFDBgUHB2vKlCnq1auXChcurPr16+vAgQOaPn26goKC5OTkZP5W4NVXX9XgwYNVrFgxpuwACfDw4UN988032r9/vxwdHVWjRg01bdpUXl5eCgkJ0ciRI5U5c2bNnj1bRYoU0ZkzZ9SiRQt98cUX+vrrr+Xp6akuXbpo4cKFGjZsmGJiYlS4cGHdv39fv//+u6pXr87NtAALPXz4UJ9++qlWrlyp4OBgBQQEaNGiRXJycjLvP3/+vAYPHqzatWsrPDxcI0eOVHR0tObOnavixYsrMDBQFStWVNWqVbVlyxaVL19eNWrUUNmyZVW2bFndvn1bHh4eNv5JYS0kH6QY/56XL0mRkZG6cuWK+vfvrx49eihjxowaN26c7ty5o3379mnDhg2SpGLFiql27dq6evWq5syZI+n/VhNwcXFRu3btzFMMADzflClTVKFCBR09elQBAQHKmDGjJkyYoLFjx+rx48fKmjWrihUrpt69e6tIkSKaMWOGmjVrpty5c2vfvn1atmyZec7wp59+qsePH2v8+PH65ptv9Pnnn6tMmTL6+OOPbfxTAqnTpEmTVKlSJV24cEE//PCDRo8eLS8vL4WHhyt37tySpBw5cujdd99V7dq1tXTpUlWvXl0nTpzQ999/Lzc3N82bN0/Xr1+XJPXq1UuPHz/WwoULdevWLfPzEPTtjAHYyMKFC41z584ZhmEYUVFR5u0xMTFx2h09etQwDMNYsmSJUb58eaNNmzbG0aNHjVatWhn16tUz/vjjD8MwDOPq1atGjx49jAoVKhjXr19/ST8FYB8ePnxo9O3b1/D19TVWrlxp3L171zwu+/TpY5QsWdJYv369YRiG8eDBAyMyMtJ4//33jcDAQGPBggXG33//bfTv39+oXLmycfbsWXO/rVu3NgIDA419+/YxLgELRUdHG59//rlRrFgxY8GCBcb9+/fN+z7//HOjRo0aRmRkZJy/padPnzbq169vfPHFF8atW7cMwzCM7777zvD39zeWLVtmPHr0yDAMwxg9erTRu3dv4969ey/3h8JLwzQevHRHjhzR2bNnNXbsWFWsWFFjxoyRk5OTVq9erblz5ypXrlyqUKGCWrRoIUny9/fXzZs3NX36dDVp0kT/+9//5OnpqXfeecc8V7FIkSLKlSuXatSooWzZsjG/EEgkV1dX5cuXT+nTp9crr7yizJkzm1e2+uCDD7R69WpFRERIenotzPbt27Vv3z599tlnqlatmpydnVWgQAEtWbJES5cuVbdu3ZQhQwaNHj1ap0+fVtmyZW354wGpmqOjozp27Kj//e9/5utbYqeq3rx5U5kzZ5aTk1OcO+Pu3LlTly9f1ltvvWU+U+/o6Kjo6GjNnz9fvr6+8vX11ccff8wd5e0c03jwUhj/f0rNV199pe7du6ts2bJ6/fXX9eeff2r37t3avn27RowYoVy5cunChQsaPHiwfvnlF3PYiF3/t02bNvL09JT0dD5/unTptHPnTq1fv16S1KxZMw0bNkxZsmSxyc8JpFYmk0nt2rVTkSJFNGrUKEkyX/sSGRmpzJkzK2vWrJKehoxTp07JMAwVLVpUzs7Okp7OFc6cObN++OEH88W6+fLlU61atWzzQwF2xNvb+5kXsl+5ckX58+ePd1d4BwcHeXp6mi/IvX37ti5cuKDWrVvr5MmT5ovvCfr2j7CPZBUb8mP/Z7Jjxw4FBQXJ29tbderUkaenpyZNmqQlS5bo448/1pgxYzR37ly1bNlS48aN09GjRyVJXl5eMplMCg0NlfQ0VBw6dEjBwcEymUzKnj27JNbMB5IiW7Zsat++vc6ePasFCxbIwcFBDg4Omj9/vqKjo3XgwAEdPnxYDg4O5jG5Zs0ahYWF6ejRozpy5IiGDRumfv36qUiRIrb+cQC75uDgoLCwMD169Eju7u7mbbGB39/fX5kyZdIHH3ygOXPm6Msvv9SJEyfUrVs37d27V2XKlLFl+XiJWGcfySo8PFwZMmSQJF28eFEtW7bUp59+qgYNGkiSJk+erEWLFsnR0VGLFy9WxowZJT1dOqxWrVqqXr26Bg0apIcPH2rw4MHatWuXmjdvrtu3b+vIkSOaP3++cuTIYV7GD0DSREREqF+/fjp48KCGDh2q0aNH6+7du8qZM6fOnz+v6OhotW3bVh9++KE++OAD7dmzR97e3rp+/brKlCmjESNGcHEf8JJERkaqevXqat++vXr06BHv3jSrVq3S4sWLdfbsWXl4eOjTTz9lsYo0iDn7SBYRERF67733FB0drRkzZkh6ehe/qKgo+fr6mts1atRI+/bt0/79+xUZGamMGTMqMjJSbm5u6t27t4YPH65atWqpVq1aGjZsmMaOHatTp04pXbp0mjx5snn1AQDW4erqqjfffFMnT55U9+7d1aVLF73xxhvKkiWLoqKiNHr0aM2dO1fXr19XqVKl1LZtW61bt06dO3fW66+/buvygTQlNDRUd+/eVb58+ST937fb4eHh2rt3r65cuaIff/xRFy5cUP78+W1YKWyJOQ9IFunTp1eJEiX0559/6rfffpMkbd26VV5eXsqXL595ek+ePHn0+uuvK1OmTJo2bZokmdcKbtOmjV599VXNmzdPly9fVs6cOTVy5Eh9//33mjVrlvz8/GzzwwF2rnTp0qpZs6ZcXFwUHBysfPnyKVOmTMqePbuGDx+uH3/8UcePH9fYsWPl5+enYcOGEfQBGwgLC5Mk8zSemJgYHT58WO+99566d++u8PBwSSLop3GEfSQLk8mktm3bys/PT998842kp3f7CwwMlJOTkwzDMM8rrFWrlgIDA7Vu3TqdOnVKDg4O5gtzBwwYoN27d2vnzp2KiYmRo6MjF98CyczR0VGtW7eWt7e3vvjiC0n/d92Ni4uLAgMDNW3aNG3bto0pO4ANxJ4wCw0NlYODg3Lnzq1r165pxIgRatu2raKjo7Vhwwa9//77ti0UKQJhH8km9mK/M2fOaNiwYXJ0dIzzVWPshURubm5q0KCBXF1dNWXKFElPA0VMTIwCAgI0ePBgNWzYkItvgZcoX758atmypXbv3q1t27bJZDIpOjraPA4LFixoXhkLwMsV++H7zp07ypgxo3766Se1atVKW7du1aRJkzRz5kzlyZPHxlUipeACXSSriIgIDRo0SKtWrZL09K58FSpUUNWqVVW+fHnznPuYmBiNHTtWK1as0IABA1S3bl1FR0ebp/QAePnu3bunHj166OzZs9qzZ4+tywHwL3PnztXw4cOVKVMmdevWTZ07d7Z1SUiBSFJIVq6urmrVqpV5ek7r1q01ffp0rV69Wo6Ojipbtqxq1qypevXqqXbt2tq6dauWLVumunXrEvQBG8ucObPefPNNHTt2TDExMTKZTKzJDaQgRYsWVd++fdWxY0e5uLjYuhykUJzZR7J78uSJvvrqK82fP19btmxRtmzZdOTIEe3fv1+bNm3SH3/8Yb45zzvvvGNelhOA7RmGQcAHUijGJxKCsI+X4tKlS+rataty586tH3/8Mc6+kJAQ7du3TxUqVFCuXLlsVCEAAID94YpHvBR58+ZVq1attG/fPm3fvl2SzCvueHt7q2nTpgR9AAAAK+PMPl4aLvYDAAB4ubgCEi8NF/sBAAC8XJzZx0vFxUQAAAAvD3P28VIR9AEAAF4ewj4AAABgpwj7AAAAgJ0i7AMAAAB2irAPAAAA2CnCPgAAAGCnCPsAAACAnSLsAwAAAHaKsA8AAADYKSdbFwAASD6nTp3SxIkTdeTIEd28eVNZsmRR4cKFFRQUpA4dOti6PABAMjMZhmHYuggAgPX9+eefevPNN5U7d24FBwfL09NT165d06FDh3Tp0iVt2LDB1iUCAJIZZ/YBwE59//33ypQpk3799Ve5u7vH2Xfr1i0bVQUAeJmYsw8AdurSpUsqXLhwvKAvSdmyZYvzeNmyZWrWrJlKlCih8uXLq0+fPrp27VqcNn/88Yfee+89Va9eXcWKFVO1atU0cuRIPXr0KE67GzduaMCAAapataqKFSumypUrq3v37goJCYnTbt68eWrYsKG5zdChQ3X//v04bTp06KBGjRrpzJkz6tChg0qWLKkqVapo6tSpSXlpACDN4Mw+ANgpLy8vHThwQH/99Zd8fHye227y5MkaN26c6tevr+bNm+v27duaO3eu2rVrp6VLl5o/LKxdu1aPHj1SmzZtlCVLFh0+fFhz587V9evXNX78eHN/vXr10pkzZ9S+fXt5eXnp9u3b2rVrl65duyZvb29J0nfffacJEyaoUqVKatOmjc6fP68FCxboyJEjWrBggZydnc393bt3T++8845q166t+vXra926dfr666/l4+OjatWqJdOrBwB2wgAA2KWdO3cafn5+hp+fn9GqVSvjyy+/NHbs2GFERkaa24SEhBh+fn7G5MmT4xx76tQpo2jRonG2R0RExHuOKVOmGL6+vsaVK1cMwzCMe/fuGT4+Psa0adOeW9etW7cMf39/o1OnTsaTJ0/M2+fOnWv4+PgYv/76q3lb+/btDR8fH2PJkiXmbY8fPzYCAwONXr16JfzFAIA0imk8AGCnAgMD9dNPPykoKEgnT57UtGnT1LlzZ1WtWlWbNm2SJG3YsEExMTGqX7++bt++bf6XPXt25cuXT3v37jX3lz59evN/h4eH6/bt2ypdurQMw9Dx48fNbZydnfX777/r3r17z6zrt99+U1RUlN588005OPzfn6EWLVrIzc1N27Zti9M+Q4YMatKkifmxi4uLihcvrsuXLyf9RQIAO8c0HgCwYyVKlNCECRMUGRmpkydPauPGjZo5c6Z69+6tpUuX6sKFCzIMQ3Xq1Hnm8U5O//dn4urVqxo/frw2b94cL8g/ePBA0tMg/uGHH+qLL75QYGCgSpYsqerVq5tXA4rtR5IKFiwYpw8XFxflyZNHV65cibM9Z86cMplMcbZlzpxZp06dsuAVAYC0hbAPAGmAi4uLSpQooRIlSih//vwaMGCA1q5dq5iYGJlMJk2dOlWOjo7xjsuQIYMk6cmTJ3r77bfN8+cLFiyoDBkyKDQ0VP3791dMTIz5mI4dOyooKEgbN27Uzp07NW7cOP3www+aNWuWihYtmujan1UXACBhCPsAkMYUK1ZMkvT3338rb968MgxD3t7eKlCgwHOP+euvv3ThwgV98cUXCg4ONm/ftWvXM9vnzZtXnTp1UqdOnXThwgUFBwdr+vTp+vrrr5U7d25J0rlz55QnTx7zMZGRkQoJCVGlSpWs8FMCACSW3gQAu7Vnzx4Zz7hvYuyc+IIFC6pOnTpydHTUhAkT4rU1DEN37tyRJPPc+n+2MQxDs2fPjnNMRESEHj9+HGdb3rx5lTFjRkVGRkqSKlWqJGdnZ82ZMydOf7/++qvCwsJYYQcArIgz+wBgp4YPH66IiAjVrl1bBQsWVFRUlP7880+tWbNGXl5eatasmdzd3fX+++9rzJgxunLlimrVqqWMGTMqJCREGzduVMuWLdW5c2cVLFhQefPm1RdffKHQ0FC5ublp3bp18dbFv3Dhgjp27Kh69eqpcOHCcnR01MaNG3Xz5k01bNhQkuTh4aGuXbtqwoQJeueddxQUFKTz589r/vz5Kl68uF5//XVbvFwAYJcI+wBgpz7++GOtXbtW27Zt088//6yoqCjlzp1bbdu2Vffu3c3r53fp0kX58+fXzJkzNXHiRElPL4oNDAxUUFCQJMnZ2Vnff/+9hg8frilTpihdunSqXbu22rVrF2elnJw5c6phw4bavXu3li9fLkdHRxUsWFDffvut6tata27Xq1cveXh4aO7cuRo1apQyZ86sli1bqm/fvnHW2AcAJI3JeNZ3vAAAAABSPebsAwAAAHaKsA8AAADYKcI+AAAAYKcI+wAAAICdIuwDAAAAdoqwDwAAANgpwj4AAABgpwj7AAAAgJ0i7AMAAAB2irAPAAAA2CnCPgAAAGCnCPsAAACAnfp/vUuIUrRE/e8AAAAASUVORK5CYI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2015234"/>
            <a:ext cx="5275803" cy="345036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409257" y="360754"/>
            <a:ext cx="2981643" cy="830997"/>
          </a:xfrm>
        </p:spPr>
        <p:txBody>
          <a:bodyPr>
            <a:normAutofit/>
          </a:bodyPr>
          <a:lstStyle/>
          <a:p>
            <a:r>
              <a:rPr lang="en-GB" sz="44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graphicFrame>
        <p:nvGraphicFramePr>
          <p:cNvPr id="2" name="Table 1"/>
          <p:cNvGraphicFramePr>
            <a:graphicFrameLocks noGrp="1"/>
          </p:cNvGraphicFramePr>
          <p:nvPr>
            <p:extLst>
              <p:ext uri="{D42A27DB-BD31-4B8C-83A1-F6EECF244321}">
                <p14:modId xmlns:p14="http://schemas.microsoft.com/office/powerpoint/2010/main" val="3002003764"/>
              </p:ext>
            </p:extLst>
          </p:nvPr>
        </p:nvGraphicFramePr>
        <p:xfrm>
          <a:off x="6249487" y="2026920"/>
          <a:ext cx="3115493" cy="3775575"/>
        </p:xfrm>
        <a:graphic>
          <a:graphicData uri="http://schemas.openxmlformats.org/drawingml/2006/table">
            <a:tbl>
              <a:tblPr/>
              <a:tblGrid>
                <a:gridCol w="3115493"/>
              </a:tblGrid>
              <a:tr h="3775575">
                <a:tc>
                  <a:txBody>
                    <a:bodyPr/>
                    <a:lstStyle/>
                    <a:p>
                      <a:pPr algn="l" rtl="0" fontAlgn="t"/>
                      <a:endParaRPr lang="en-IN" sz="600" dirty="0">
                        <a:solidFill>
                          <a:srgbClr val="EEFFFF"/>
                        </a:solidFill>
                        <a:effectLst/>
                        <a:latin typeface="Courier New" panose="02070309020205020404" pitchFamily="49" charset="0"/>
                      </a:endParaRPr>
                    </a:p>
                    <a:p>
                      <a:pPr algn="l" rtl="0" fontAlgn="t"/>
                      <a:r>
                        <a:rPr lang="en-IN" sz="600" dirty="0">
                          <a:solidFill>
                            <a:srgbClr val="546E7A"/>
                          </a:solidFill>
                          <a:effectLst/>
                          <a:latin typeface="Courier New" panose="02070309020205020404" pitchFamily="49" charset="0"/>
                        </a:rPr>
                        <a:t># ------------------------------------------------------------</a:t>
                      </a:r>
                      <a:endParaRPr lang="en-IN" sz="600" dirty="0">
                        <a:solidFill>
                          <a:srgbClr val="EEFFFF"/>
                        </a:solidFill>
                        <a:effectLst/>
                        <a:latin typeface="Courier New" panose="02070309020205020404" pitchFamily="49" charset="0"/>
                      </a:endParaRPr>
                    </a:p>
                    <a:p>
                      <a:pPr algn="l" rtl="0" fontAlgn="t"/>
                      <a:r>
                        <a:rPr lang="en-IN" sz="600" dirty="0">
                          <a:solidFill>
                            <a:srgbClr val="546E7A"/>
                          </a:solidFill>
                          <a:effectLst/>
                          <a:latin typeface="Courier New" panose="02070309020205020404" pitchFamily="49" charset="0"/>
                        </a:rPr>
                        <a:t># 74. ACTUAL VS PREDICTED YIELD</a:t>
                      </a:r>
                      <a:endParaRPr lang="en-IN" sz="600" dirty="0">
                        <a:solidFill>
                          <a:srgbClr val="EEFFFF"/>
                        </a:solidFill>
                        <a:effectLst/>
                        <a:latin typeface="Courier New" panose="02070309020205020404" pitchFamily="49" charset="0"/>
                      </a:endParaRPr>
                    </a:p>
                    <a:p>
                      <a:pPr algn="l" rtl="0" fontAlgn="t"/>
                      <a:r>
                        <a:rPr lang="en-IN" sz="600" dirty="0">
                          <a:solidFill>
                            <a:srgbClr val="546E7A"/>
                          </a:solidFill>
                          <a:effectLst/>
                          <a:latin typeface="Courier New" panose="02070309020205020404" pitchFamily="49" charset="0"/>
                        </a:rPr>
                        <a:t># ------------------------------------------------------------</a:t>
                      </a:r>
                      <a:endParaRPr lang="en-IN" sz="600" dirty="0">
                        <a:solidFill>
                          <a:srgbClr val="EEFFFF"/>
                        </a:solidFill>
                        <a:effectLst/>
                        <a:latin typeface="Courier New" panose="02070309020205020404" pitchFamily="49" charset="0"/>
                      </a:endParaRPr>
                    </a:p>
                    <a:p>
                      <a:pPr algn="l" rtl="0" fontAlgn="t"/>
                      <a:r>
                        <a:rPr lang="en-IN" sz="600" dirty="0">
                          <a:solidFill>
                            <a:srgbClr val="EEFFFF"/>
                          </a:solidFill>
                          <a:effectLst/>
                          <a:latin typeface="Courier New" panose="02070309020205020404" pitchFamily="49" charset="0"/>
                        </a:rPr>
                        <a:t>​</a:t>
                      </a:r>
                    </a:p>
                    <a:p>
                      <a:pPr algn="l" rtl="0" fontAlgn="t"/>
                      <a:r>
                        <a:rPr lang="en-IN" sz="600" dirty="0">
                          <a:solidFill>
                            <a:srgbClr val="F07178"/>
                          </a:solidFill>
                          <a:effectLst/>
                          <a:latin typeface="Courier New" panose="02070309020205020404" pitchFamily="49" charset="0"/>
                        </a:rPr>
                        <a:t>plt</a:t>
                      </a:r>
                      <a:r>
                        <a:rPr lang="en-IN" sz="600" dirty="0">
                          <a:solidFill>
                            <a:srgbClr val="EEFFFF"/>
                          </a:solidFill>
                          <a:effectLst/>
                          <a:latin typeface="Courier New" panose="02070309020205020404" pitchFamily="49" charset="0"/>
                        </a:rPr>
                        <a:t>.</a:t>
                      </a:r>
                      <a:r>
                        <a:rPr lang="en-IN" sz="600" dirty="0">
                          <a:solidFill>
                            <a:srgbClr val="C792EA"/>
                          </a:solidFill>
                          <a:effectLst/>
                          <a:latin typeface="Courier New" panose="02070309020205020404" pitchFamily="49" charset="0"/>
                        </a:rPr>
                        <a:t>figure</a:t>
                      </a:r>
                      <a:r>
                        <a:rPr lang="en-IN" sz="600" dirty="0">
                          <a:solidFill>
                            <a:srgbClr val="EEFFFF"/>
                          </a:solidFill>
                          <a:effectLst/>
                          <a:latin typeface="Courier New" panose="02070309020205020404" pitchFamily="49" charset="0"/>
                        </a:rPr>
                        <a:t>(</a:t>
                      </a:r>
                      <a:r>
                        <a:rPr lang="en-IN" sz="600" dirty="0">
                          <a:solidFill>
                            <a:srgbClr val="F07178"/>
                          </a:solidFill>
                          <a:effectLst/>
                          <a:latin typeface="Courier New" panose="02070309020205020404" pitchFamily="49" charset="0"/>
                        </a:rPr>
                        <a:t>figsize</a:t>
                      </a:r>
                      <a:r>
                        <a:rPr lang="en-IN" sz="600" dirty="0">
                          <a:solidFill>
                            <a:srgbClr val="89DDFF"/>
                          </a:solidFill>
                          <a:effectLst/>
                          <a:latin typeface="Courier New" panose="02070309020205020404" pitchFamily="49" charset="0"/>
                        </a:rPr>
                        <a:t>=</a:t>
                      </a:r>
                      <a:r>
                        <a:rPr lang="en-IN" sz="600" dirty="0">
                          <a:solidFill>
                            <a:srgbClr val="EEFFFF"/>
                          </a:solidFill>
                          <a:effectLst/>
                          <a:latin typeface="Courier New" panose="02070309020205020404" pitchFamily="49" charset="0"/>
                        </a:rPr>
                        <a:t>(</a:t>
                      </a:r>
                      <a:r>
                        <a:rPr lang="en-IN" sz="600" dirty="0">
                          <a:solidFill>
                            <a:srgbClr val="FF5370"/>
                          </a:solidFill>
                          <a:effectLst/>
                          <a:latin typeface="Courier New" panose="02070309020205020404" pitchFamily="49" charset="0"/>
                        </a:rPr>
                        <a:t>8</a:t>
                      </a:r>
                      <a:r>
                        <a:rPr lang="en-IN" sz="600" dirty="0">
                          <a:solidFill>
                            <a:srgbClr val="EEFFFF"/>
                          </a:solidFill>
                          <a:effectLst/>
                          <a:latin typeface="Courier New" panose="02070309020205020404" pitchFamily="49" charset="0"/>
                        </a:rPr>
                        <a:t>, </a:t>
                      </a:r>
                      <a:r>
                        <a:rPr lang="en-IN" sz="600" dirty="0">
                          <a:solidFill>
                            <a:srgbClr val="FF5370"/>
                          </a:solidFill>
                          <a:effectLst/>
                          <a:latin typeface="Courier New" panose="02070309020205020404" pitchFamily="49" charset="0"/>
                        </a:rPr>
                        <a:t>6</a:t>
                      </a:r>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a:t>
                      </a:r>
                    </a:p>
                    <a:p>
                      <a:pPr algn="l" rtl="0" fontAlgn="t"/>
                      <a:r>
                        <a:rPr lang="en-IN" sz="600" dirty="0">
                          <a:solidFill>
                            <a:srgbClr val="F07178"/>
                          </a:solidFill>
                          <a:effectLst/>
                          <a:latin typeface="Courier New" panose="02070309020205020404" pitchFamily="49" charset="0"/>
                        </a:rPr>
                        <a:t>plt</a:t>
                      </a:r>
                      <a:r>
                        <a:rPr lang="en-IN" sz="600" dirty="0">
                          <a:solidFill>
                            <a:srgbClr val="EEFFFF"/>
                          </a:solidFill>
                          <a:effectLst/>
                          <a:latin typeface="Courier New" panose="02070309020205020404" pitchFamily="49" charset="0"/>
                        </a:rPr>
                        <a:t>.</a:t>
                      </a:r>
                      <a:r>
                        <a:rPr lang="en-IN" sz="600" dirty="0">
                          <a:solidFill>
                            <a:srgbClr val="C792EA"/>
                          </a:solidFill>
                          <a:effectLst/>
                          <a:latin typeface="Courier New" panose="02070309020205020404" pitchFamily="49" charset="0"/>
                        </a:rPr>
                        <a:t>scatter</a:t>
                      </a:r>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   </a:t>
                      </a:r>
                      <a:r>
                        <a:rPr lang="en-IN" sz="600" dirty="0">
                          <a:solidFill>
                            <a:srgbClr val="F07178"/>
                          </a:solidFill>
                          <a:effectLst/>
                          <a:latin typeface="Courier New" panose="02070309020205020404" pitchFamily="49" charset="0"/>
                        </a:rPr>
                        <a:t>y_test</a:t>
                      </a:r>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   </a:t>
                      </a:r>
                      <a:r>
                        <a:rPr lang="en-IN" sz="600" dirty="0">
                          <a:solidFill>
                            <a:srgbClr val="F07178"/>
                          </a:solidFill>
                          <a:effectLst/>
                          <a:latin typeface="Courier New" panose="02070309020205020404" pitchFamily="49" charset="0"/>
                        </a:rPr>
                        <a:t>rf_predictions</a:t>
                      </a:r>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   </a:t>
                      </a:r>
                      <a:r>
                        <a:rPr lang="en-IN" sz="600" dirty="0">
                          <a:solidFill>
                            <a:srgbClr val="F07178"/>
                          </a:solidFill>
                          <a:effectLst/>
                          <a:latin typeface="Courier New" panose="02070309020205020404" pitchFamily="49" charset="0"/>
                        </a:rPr>
                        <a:t>alpha</a:t>
                      </a:r>
                      <a:r>
                        <a:rPr lang="en-IN" sz="600" dirty="0">
                          <a:solidFill>
                            <a:srgbClr val="89DDFF"/>
                          </a:solidFill>
                          <a:effectLst/>
                          <a:latin typeface="Courier New" panose="02070309020205020404" pitchFamily="49" charset="0"/>
                        </a:rPr>
                        <a:t>=</a:t>
                      </a:r>
                      <a:r>
                        <a:rPr lang="en-IN" sz="600" dirty="0">
                          <a:solidFill>
                            <a:srgbClr val="FF5370"/>
                          </a:solidFill>
                          <a:effectLst/>
                          <a:latin typeface="Courier New" panose="02070309020205020404" pitchFamily="49" charset="0"/>
                        </a:rPr>
                        <a:t>0.6</a:t>
                      </a:r>
                      <a:endParaRPr lang="en-IN" sz="600" dirty="0">
                        <a:solidFill>
                          <a:srgbClr val="EEFFFF"/>
                        </a:solidFill>
                        <a:effectLst/>
                        <a:latin typeface="Courier New" panose="02070309020205020404" pitchFamily="49" charset="0"/>
                      </a:endParaRPr>
                    </a:p>
                    <a:p>
                      <a:pPr algn="l" rtl="0" fontAlgn="t"/>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a:t>
                      </a:r>
                    </a:p>
                    <a:p>
                      <a:pPr algn="l" rtl="0" fontAlgn="t"/>
                      <a:r>
                        <a:rPr lang="en-IN" sz="600" dirty="0">
                          <a:solidFill>
                            <a:srgbClr val="F07178"/>
                          </a:solidFill>
                          <a:effectLst/>
                          <a:latin typeface="Courier New" panose="02070309020205020404" pitchFamily="49" charset="0"/>
                        </a:rPr>
                        <a:t>plt</a:t>
                      </a:r>
                      <a:r>
                        <a:rPr lang="en-IN" sz="600" dirty="0">
                          <a:solidFill>
                            <a:srgbClr val="EEFFFF"/>
                          </a:solidFill>
                          <a:effectLst/>
                          <a:latin typeface="Courier New" panose="02070309020205020404" pitchFamily="49" charset="0"/>
                        </a:rPr>
                        <a:t>.</a:t>
                      </a:r>
                      <a:r>
                        <a:rPr lang="en-IN" sz="600" dirty="0">
                          <a:solidFill>
                            <a:srgbClr val="C792EA"/>
                          </a:solidFill>
                          <a:effectLst/>
                          <a:latin typeface="Courier New" panose="02070309020205020404" pitchFamily="49" charset="0"/>
                        </a:rPr>
                        <a:t>xlabel</a:t>
                      </a:r>
                      <a:r>
                        <a:rPr lang="en-IN" sz="600" dirty="0">
                          <a:solidFill>
                            <a:srgbClr val="EEFFFF"/>
                          </a:solidFill>
                          <a:effectLst/>
                          <a:latin typeface="Courier New" panose="02070309020205020404" pitchFamily="49" charset="0"/>
                        </a:rPr>
                        <a:t>(</a:t>
                      </a:r>
                      <a:r>
                        <a:rPr lang="en-IN" sz="600" dirty="0">
                          <a:solidFill>
                            <a:srgbClr val="C3E88D"/>
                          </a:solidFill>
                          <a:effectLst/>
                          <a:latin typeface="Courier New" panose="02070309020205020404" pitchFamily="49" charset="0"/>
                        </a:rPr>
                        <a:t>"Actual Yield (Tonnes/Ha)"</a:t>
                      </a:r>
                      <a:r>
                        <a:rPr lang="en-IN" sz="600" dirty="0">
                          <a:solidFill>
                            <a:srgbClr val="EEFFFF"/>
                          </a:solidFill>
                          <a:effectLst/>
                          <a:latin typeface="Courier New" panose="02070309020205020404" pitchFamily="49" charset="0"/>
                        </a:rPr>
                        <a:t>)</a:t>
                      </a:r>
                    </a:p>
                    <a:p>
                      <a:pPr algn="l" rtl="0" fontAlgn="t"/>
                      <a:r>
                        <a:rPr lang="en-IN" sz="600" dirty="0">
                          <a:solidFill>
                            <a:srgbClr val="F07178"/>
                          </a:solidFill>
                          <a:effectLst/>
                          <a:latin typeface="Courier New" panose="02070309020205020404" pitchFamily="49" charset="0"/>
                        </a:rPr>
                        <a:t>plt</a:t>
                      </a:r>
                      <a:r>
                        <a:rPr lang="en-IN" sz="600" dirty="0">
                          <a:solidFill>
                            <a:srgbClr val="EEFFFF"/>
                          </a:solidFill>
                          <a:effectLst/>
                          <a:latin typeface="Courier New" panose="02070309020205020404" pitchFamily="49" charset="0"/>
                        </a:rPr>
                        <a:t>.</a:t>
                      </a:r>
                      <a:r>
                        <a:rPr lang="en-IN" sz="600" dirty="0">
                          <a:solidFill>
                            <a:srgbClr val="C792EA"/>
                          </a:solidFill>
                          <a:effectLst/>
                          <a:latin typeface="Courier New" panose="02070309020205020404" pitchFamily="49" charset="0"/>
                        </a:rPr>
                        <a:t>ylabel</a:t>
                      </a:r>
                      <a:r>
                        <a:rPr lang="en-IN" sz="600" dirty="0">
                          <a:solidFill>
                            <a:srgbClr val="EEFFFF"/>
                          </a:solidFill>
                          <a:effectLst/>
                          <a:latin typeface="Courier New" panose="02070309020205020404" pitchFamily="49" charset="0"/>
                        </a:rPr>
                        <a:t>(</a:t>
                      </a:r>
                      <a:r>
                        <a:rPr lang="en-IN" sz="600" dirty="0">
                          <a:solidFill>
                            <a:srgbClr val="C3E88D"/>
                          </a:solidFill>
                          <a:effectLst/>
                          <a:latin typeface="Courier New" panose="02070309020205020404" pitchFamily="49" charset="0"/>
                        </a:rPr>
                        <a:t>"Predicted Yield (Tonnes/Ha)"</a:t>
                      </a:r>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a:t>
                      </a:r>
                    </a:p>
                    <a:p>
                      <a:pPr algn="l" rtl="0" fontAlgn="t"/>
                      <a:r>
                        <a:rPr lang="en-IN" sz="600" dirty="0">
                          <a:solidFill>
                            <a:srgbClr val="F07178"/>
                          </a:solidFill>
                          <a:effectLst/>
                          <a:latin typeface="Courier New" panose="02070309020205020404" pitchFamily="49" charset="0"/>
                        </a:rPr>
                        <a:t>plt</a:t>
                      </a:r>
                      <a:r>
                        <a:rPr lang="en-IN" sz="600" dirty="0">
                          <a:solidFill>
                            <a:srgbClr val="EEFFFF"/>
                          </a:solidFill>
                          <a:effectLst/>
                          <a:latin typeface="Courier New" panose="02070309020205020404" pitchFamily="49" charset="0"/>
                        </a:rPr>
                        <a:t>.</a:t>
                      </a:r>
                      <a:r>
                        <a:rPr lang="en-IN" sz="600" dirty="0">
                          <a:solidFill>
                            <a:srgbClr val="C792EA"/>
                          </a:solidFill>
                          <a:effectLst/>
                          <a:latin typeface="Courier New" panose="02070309020205020404" pitchFamily="49" charset="0"/>
                        </a:rPr>
                        <a:t>title</a:t>
                      </a:r>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   </a:t>
                      </a:r>
                      <a:r>
                        <a:rPr lang="en-IN" sz="600" dirty="0">
                          <a:solidFill>
                            <a:srgbClr val="C3E88D"/>
                          </a:solidFill>
                          <a:effectLst/>
                          <a:latin typeface="Courier New" panose="02070309020205020404" pitchFamily="49" charset="0"/>
                        </a:rPr>
                        <a:t>"Actual vs Predicted Crop Yield - Random Forest"</a:t>
                      </a:r>
                      <a:endParaRPr lang="en-IN" sz="600" dirty="0">
                        <a:solidFill>
                          <a:srgbClr val="EEFFFF"/>
                        </a:solidFill>
                        <a:effectLst/>
                        <a:latin typeface="Courier New" panose="02070309020205020404" pitchFamily="49" charset="0"/>
                      </a:endParaRPr>
                    </a:p>
                    <a:p>
                      <a:pPr algn="l" rtl="0" fontAlgn="t"/>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a:t>
                      </a:r>
                    </a:p>
                    <a:p>
                      <a:pPr algn="l" rtl="0" fontAlgn="t"/>
                      <a:r>
                        <a:rPr lang="en-IN" sz="600" dirty="0">
                          <a:solidFill>
                            <a:srgbClr val="546E7A"/>
                          </a:solidFill>
                          <a:effectLst/>
                          <a:latin typeface="Courier New" panose="02070309020205020404" pitchFamily="49" charset="0"/>
                        </a:rPr>
                        <a:t># Perfect prediction line</a:t>
                      </a:r>
                      <a:endParaRPr lang="en-IN" sz="600" dirty="0">
                        <a:solidFill>
                          <a:srgbClr val="EEFFFF"/>
                        </a:solidFill>
                        <a:effectLst/>
                        <a:latin typeface="Courier New" panose="02070309020205020404" pitchFamily="49" charset="0"/>
                      </a:endParaRPr>
                    </a:p>
                    <a:p>
                      <a:pPr algn="l" rtl="0" fontAlgn="t"/>
                      <a:r>
                        <a:rPr lang="en-IN" sz="600" dirty="0">
                          <a:solidFill>
                            <a:srgbClr val="F07178"/>
                          </a:solidFill>
                          <a:effectLst/>
                          <a:latin typeface="Courier New" panose="02070309020205020404" pitchFamily="49" charset="0"/>
                        </a:rPr>
                        <a:t>minimum</a:t>
                      </a:r>
                      <a:r>
                        <a:rPr lang="en-IN" sz="600" dirty="0">
                          <a:solidFill>
                            <a:srgbClr val="EEFFFF"/>
                          </a:solidFill>
                          <a:effectLst/>
                          <a:latin typeface="Courier New" panose="02070309020205020404" pitchFamily="49" charset="0"/>
                        </a:rPr>
                        <a:t> </a:t>
                      </a:r>
                      <a:r>
                        <a:rPr lang="en-IN" sz="600" dirty="0">
                          <a:solidFill>
                            <a:srgbClr val="89DDFF"/>
                          </a:solidFill>
                          <a:effectLst/>
                          <a:latin typeface="Courier New" panose="02070309020205020404" pitchFamily="49" charset="0"/>
                        </a:rPr>
                        <a:t>=</a:t>
                      </a:r>
                      <a:r>
                        <a:rPr lang="en-IN" sz="600" dirty="0">
                          <a:solidFill>
                            <a:srgbClr val="EEFFFF"/>
                          </a:solidFill>
                          <a:effectLst/>
                          <a:latin typeface="Courier New" panose="02070309020205020404" pitchFamily="49" charset="0"/>
                        </a:rPr>
                        <a:t> </a:t>
                      </a:r>
                      <a:r>
                        <a:rPr lang="en-IN" sz="600" dirty="0">
                          <a:solidFill>
                            <a:srgbClr val="FFCB6B"/>
                          </a:solidFill>
                          <a:effectLst/>
                          <a:latin typeface="Courier New" panose="02070309020205020404" pitchFamily="49" charset="0"/>
                        </a:rPr>
                        <a:t>min</a:t>
                      </a:r>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   </a:t>
                      </a:r>
                      <a:r>
                        <a:rPr lang="en-IN" sz="600" dirty="0">
                          <a:solidFill>
                            <a:srgbClr val="F07178"/>
                          </a:solidFill>
                          <a:effectLst/>
                          <a:latin typeface="Courier New" panose="02070309020205020404" pitchFamily="49" charset="0"/>
                        </a:rPr>
                        <a:t>y_test</a:t>
                      </a:r>
                      <a:r>
                        <a:rPr lang="en-IN" sz="600" dirty="0">
                          <a:solidFill>
                            <a:srgbClr val="EEFFFF"/>
                          </a:solidFill>
                          <a:effectLst/>
                          <a:latin typeface="Courier New" panose="02070309020205020404" pitchFamily="49" charset="0"/>
                        </a:rPr>
                        <a:t>.</a:t>
                      </a:r>
                      <a:r>
                        <a:rPr lang="en-IN" sz="600" dirty="0">
                          <a:solidFill>
                            <a:srgbClr val="C792EA"/>
                          </a:solidFill>
                          <a:effectLst/>
                          <a:latin typeface="Courier New" panose="02070309020205020404" pitchFamily="49" charset="0"/>
                        </a:rPr>
                        <a:t>min</a:t>
                      </a:r>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   </a:t>
                      </a:r>
                      <a:r>
                        <a:rPr lang="en-IN" sz="600" dirty="0">
                          <a:solidFill>
                            <a:srgbClr val="F07178"/>
                          </a:solidFill>
                          <a:effectLst/>
                          <a:latin typeface="Courier New" panose="02070309020205020404" pitchFamily="49" charset="0"/>
                        </a:rPr>
                        <a:t>rf_predictions</a:t>
                      </a:r>
                      <a:r>
                        <a:rPr lang="en-IN" sz="600" dirty="0">
                          <a:solidFill>
                            <a:srgbClr val="EEFFFF"/>
                          </a:solidFill>
                          <a:effectLst/>
                          <a:latin typeface="Courier New" panose="02070309020205020404" pitchFamily="49" charset="0"/>
                        </a:rPr>
                        <a:t>.</a:t>
                      </a:r>
                      <a:r>
                        <a:rPr lang="en-IN" sz="600" dirty="0">
                          <a:solidFill>
                            <a:srgbClr val="C792EA"/>
                          </a:solidFill>
                          <a:effectLst/>
                          <a:latin typeface="Courier New" panose="02070309020205020404" pitchFamily="49" charset="0"/>
                        </a:rPr>
                        <a:t>min</a:t>
                      </a:r>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a:t>
                      </a:r>
                    </a:p>
                    <a:p>
                      <a:pPr algn="l" rtl="0" fontAlgn="t"/>
                      <a:r>
                        <a:rPr lang="en-IN" sz="600" dirty="0">
                          <a:solidFill>
                            <a:srgbClr val="F07178"/>
                          </a:solidFill>
                          <a:effectLst/>
                          <a:latin typeface="Courier New" panose="02070309020205020404" pitchFamily="49" charset="0"/>
                        </a:rPr>
                        <a:t>maximum</a:t>
                      </a:r>
                      <a:r>
                        <a:rPr lang="en-IN" sz="600" dirty="0">
                          <a:solidFill>
                            <a:srgbClr val="EEFFFF"/>
                          </a:solidFill>
                          <a:effectLst/>
                          <a:latin typeface="Courier New" panose="02070309020205020404" pitchFamily="49" charset="0"/>
                        </a:rPr>
                        <a:t> </a:t>
                      </a:r>
                      <a:r>
                        <a:rPr lang="en-IN" sz="600" dirty="0">
                          <a:solidFill>
                            <a:srgbClr val="89DDFF"/>
                          </a:solidFill>
                          <a:effectLst/>
                          <a:latin typeface="Courier New" panose="02070309020205020404" pitchFamily="49" charset="0"/>
                        </a:rPr>
                        <a:t>=</a:t>
                      </a:r>
                      <a:r>
                        <a:rPr lang="en-IN" sz="600" dirty="0">
                          <a:solidFill>
                            <a:srgbClr val="EEFFFF"/>
                          </a:solidFill>
                          <a:effectLst/>
                          <a:latin typeface="Courier New" panose="02070309020205020404" pitchFamily="49" charset="0"/>
                        </a:rPr>
                        <a:t> </a:t>
                      </a:r>
                      <a:r>
                        <a:rPr lang="en-IN" sz="600" dirty="0">
                          <a:solidFill>
                            <a:srgbClr val="FFCB6B"/>
                          </a:solidFill>
                          <a:effectLst/>
                          <a:latin typeface="Courier New" panose="02070309020205020404" pitchFamily="49" charset="0"/>
                        </a:rPr>
                        <a:t>max</a:t>
                      </a:r>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   </a:t>
                      </a:r>
                      <a:r>
                        <a:rPr lang="en-IN" sz="600" dirty="0">
                          <a:solidFill>
                            <a:srgbClr val="F07178"/>
                          </a:solidFill>
                          <a:effectLst/>
                          <a:latin typeface="Courier New" panose="02070309020205020404" pitchFamily="49" charset="0"/>
                        </a:rPr>
                        <a:t>y_test</a:t>
                      </a:r>
                      <a:r>
                        <a:rPr lang="en-IN" sz="600" dirty="0">
                          <a:solidFill>
                            <a:srgbClr val="EEFFFF"/>
                          </a:solidFill>
                          <a:effectLst/>
                          <a:latin typeface="Courier New" panose="02070309020205020404" pitchFamily="49" charset="0"/>
                        </a:rPr>
                        <a:t>.</a:t>
                      </a:r>
                      <a:r>
                        <a:rPr lang="en-IN" sz="600" dirty="0">
                          <a:solidFill>
                            <a:srgbClr val="C792EA"/>
                          </a:solidFill>
                          <a:effectLst/>
                          <a:latin typeface="Courier New" panose="02070309020205020404" pitchFamily="49" charset="0"/>
                        </a:rPr>
                        <a:t>max</a:t>
                      </a:r>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   </a:t>
                      </a:r>
                      <a:r>
                        <a:rPr lang="en-IN" sz="600" dirty="0">
                          <a:solidFill>
                            <a:srgbClr val="F07178"/>
                          </a:solidFill>
                          <a:effectLst/>
                          <a:latin typeface="Courier New" panose="02070309020205020404" pitchFamily="49" charset="0"/>
                        </a:rPr>
                        <a:t>rf_predictions</a:t>
                      </a:r>
                      <a:r>
                        <a:rPr lang="en-IN" sz="600" dirty="0">
                          <a:solidFill>
                            <a:srgbClr val="EEFFFF"/>
                          </a:solidFill>
                          <a:effectLst/>
                          <a:latin typeface="Courier New" panose="02070309020205020404" pitchFamily="49" charset="0"/>
                        </a:rPr>
                        <a:t>.</a:t>
                      </a:r>
                      <a:r>
                        <a:rPr lang="en-IN" sz="600" dirty="0">
                          <a:solidFill>
                            <a:srgbClr val="C792EA"/>
                          </a:solidFill>
                          <a:effectLst/>
                          <a:latin typeface="Courier New" panose="02070309020205020404" pitchFamily="49" charset="0"/>
                        </a:rPr>
                        <a:t>max</a:t>
                      </a:r>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a:t>
                      </a:r>
                    </a:p>
                    <a:p>
                      <a:pPr algn="l" rtl="0" fontAlgn="t"/>
                      <a:r>
                        <a:rPr lang="en-IN" sz="600" dirty="0">
                          <a:solidFill>
                            <a:srgbClr val="F07178"/>
                          </a:solidFill>
                          <a:effectLst/>
                          <a:latin typeface="Courier New" panose="02070309020205020404" pitchFamily="49" charset="0"/>
                        </a:rPr>
                        <a:t>plt</a:t>
                      </a:r>
                      <a:r>
                        <a:rPr lang="en-IN" sz="600" dirty="0">
                          <a:solidFill>
                            <a:srgbClr val="EEFFFF"/>
                          </a:solidFill>
                          <a:effectLst/>
                          <a:latin typeface="Courier New" panose="02070309020205020404" pitchFamily="49" charset="0"/>
                        </a:rPr>
                        <a:t>.</a:t>
                      </a:r>
                      <a:r>
                        <a:rPr lang="en-IN" sz="600" dirty="0">
                          <a:solidFill>
                            <a:srgbClr val="C792EA"/>
                          </a:solidFill>
                          <a:effectLst/>
                          <a:latin typeface="Courier New" panose="02070309020205020404" pitchFamily="49" charset="0"/>
                        </a:rPr>
                        <a:t>plot</a:t>
                      </a:r>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  [</a:t>
                      </a:r>
                      <a:r>
                        <a:rPr lang="en-IN" sz="600" dirty="0">
                          <a:solidFill>
                            <a:srgbClr val="F07178"/>
                          </a:solidFill>
                          <a:effectLst/>
                          <a:latin typeface="Courier New" panose="02070309020205020404" pitchFamily="49" charset="0"/>
                        </a:rPr>
                        <a:t>minimum</a:t>
                      </a:r>
                      <a:r>
                        <a:rPr lang="en-IN" sz="600" dirty="0">
                          <a:solidFill>
                            <a:srgbClr val="EEFFFF"/>
                          </a:solidFill>
                          <a:effectLst/>
                          <a:latin typeface="Courier New" panose="02070309020205020404" pitchFamily="49" charset="0"/>
                        </a:rPr>
                        <a:t>, </a:t>
                      </a:r>
                      <a:r>
                        <a:rPr lang="en-IN" sz="600" dirty="0">
                          <a:solidFill>
                            <a:srgbClr val="F07178"/>
                          </a:solidFill>
                          <a:effectLst/>
                          <a:latin typeface="Courier New" panose="02070309020205020404" pitchFamily="49" charset="0"/>
                        </a:rPr>
                        <a:t>maximum</a:t>
                      </a:r>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  [</a:t>
                      </a:r>
                      <a:r>
                        <a:rPr lang="en-IN" sz="600" dirty="0">
                          <a:solidFill>
                            <a:srgbClr val="F07178"/>
                          </a:solidFill>
                          <a:effectLst/>
                          <a:latin typeface="Courier New" panose="02070309020205020404" pitchFamily="49" charset="0"/>
                        </a:rPr>
                        <a:t>minimum</a:t>
                      </a:r>
                      <a:r>
                        <a:rPr lang="en-IN" sz="600" dirty="0">
                          <a:solidFill>
                            <a:srgbClr val="EEFFFF"/>
                          </a:solidFill>
                          <a:effectLst/>
                          <a:latin typeface="Courier New" panose="02070309020205020404" pitchFamily="49" charset="0"/>
                        </a:rPr>
                        <a:t>, </a:t>
                      </a:r>
                      <a:r>
                        <a:rPr lang="en-IN" sz="600" dirty="0">
                          <a:solidFill>
                            <a:srgbClr val="F07178"/>
                          </a:solidFill>
                          <a:effectLst/>
                          <a:latin typeface="Courier New" panose="02070309020205020404" pitchFamily="49" charset="0"/>
                        </a:rPr>
                        <a:t>maximum</a:t>
                      </a:r>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   </a:t>
                      </a:r>
                      <a:r>
                        <a:rPr lang="en-IN" sz="600" dirty="0">
                          <a:solidFill>
                            <a:srgbClr val="F07178"/>
                          </a:solidFill>
                          <a:effectLst/>
                          <a:latin typeface="Courier New" panose="02070309020205020404" pitchFamily="49" charset="0"/>
                        </a:rPr>
                        <a:t>linestyle</a:t>
                      </a:r>
                      <a:r>
                        <a:rPr lang="en-IN" sz="600" dirty="0">
                          <a:solidFill>
                            <a:srgbClr val="89DDFF"/>
                          </a:solidFill>
                          <a:effectLst/>
                          <a:latin typeface="Courier New" panose="02070309020205020404" pitchFamily="49" charset="0"/>
                        </a:rPr>
                        <a:t>=</a:t>
                      </a:r>
                      <a:r>
                        <a:rPr lang="en-IN" sz="600" dirty="0">
                          <a:solidFill>
                            <a:srgbClr val="C3E88D"/>
                          </a:solidFill>
                          <a:effectLst/>
                          <a:latin typeface="Courier New" panose="02070309020205020404" pitchFamily="49" charset="0"/>
                        </a:rPr>
                        <a:t>"--"</a:t>
                      </a:r>
                      <a:endParaRPr lang="en-IN" sz="600" dirty="0">
                        <a:solidFill>
                          <a:srgbClr val="EEFFFF"/>
                        </a:solidFill>
                        <a:effectLst/>
                        <a:latin typeface="Courier New" panose="02070309020205020404" pitchFamily="49" charset="0"/>
                      </a:endParaRPr>
                    </a:p>
                    <a:p>
                      <a:pPr algn="l" rtl="0" fontAlgn="t"/>
                      <a:r>
                        <a:rPr lang="en-IN" sz="600" dirty="0">
                          <a:solidFill>
                            <a:srgbClr val="EEFFFF"/>
                          </a:solidFill>
                          <a:effectLst/>
                          <a:latin typeface="Courier New" panose="02070309020205020404" pitchFamily="49" charset="0"/>
                        </a:rPr>
                        <a:t>)</a:t>
                      </a:r>
                    </a:p>
                    <a:p>
                      <a:pPr algn="l" rtl="0" fontAlgn="t"/>
                      <a:r>
                        <a:rPr lang="en-IN" sz="600" dirty="0">
                          <a:solidFill>
                            <a:srgbClr val="EEFFFF"/>
                          </a:solidFill>
                          <a:effectLst/>
                          <a:latin typeface="Courier New" panose="02070309020205020404" pitchFamily="49" charset="0"/>
                        </a:rPr>
                        <a:t>​</a:t>
                      </a:r>
                    </a:p>
                    <a:p>
                      <a:pPr algn="l" rtl="0" fontAlgn="t"/>
                      <a:r>
                        <a:rPr lang="en-IN" sz="600" dirty="0">
                          <a:solidFill>
                            <a:srgbClr val="F07178"/>
                          </a:solidFill>
                          <a:effectLst/>
                          <a:latin typeface="Courier New" panose="02070309020205020404" pitchFamily="49" charset="0"/>
                        </a:rPr>
                        <a:t>plt</a:t>
                      </a:r>
                      <a:r>
                        <a:rPr lang="en-IN" sz="600" dirty="0">
                          <a:solidFill>
                            <a:srgbClr val="EEFFFF"/>
                          </a:solidFill>
                          <a:effectLst/>
                          <a:latin typeface="Courier New" panose="02070309020205020404" pitchFamily="49" charset="0"/>
                        </a:rPr>
                        <a:t>.</a:t>
                      </a:r>
                      <a:r>
                        <a:rPr lang="en-IN" sz="600" dirty="0">
                          <a:solidFill>
                            <a:srgbClr val="C792EA"/>
                          </a:solidFill>
                          <a:effectLst/>
                          <a:latin typeface="Courier New" panose="02070309020205020404" pitchFamily="49" charset="0"/>
                        </a:rPr>
                        <a:t>show</a:t>
                      </a:r>
                      <a:r>
                        <a:rPr lang="en-IN" sz="600" dirty="0">
                          <a:solidFill>
                            <a:srgbClr val="EEFFFF"/>
                          </a:solidFill>
                          <a:effectLst/>
                          <a:latin typeface="Courier New" panose="02070309020205020404" pitchFamily="49" charset="0"/>
                        </a:rPr>
                        <a:t>()</a:t>
                      </a:r>
                    </a:p>
                  </a:txBody>
                  <a:tcPr marL="32078" marR="32078" marT="16039" marB="16039">
                    <a:lnL w="12700" cap="flat" cmpd="sng" algn="ctr">
                      <a:solidFill>
                        <a:srgbClr val="DBDBDB"/>
                      </a:solidFill>
                      <a:prstDash val="solid"/>
                      <a:round/>
                      <a:headEnd type="none" w="med" len="med"/>
                      <a:tailEnd type="none" w="med" len="med"/>
                    </a:lnL>
                    <a:lnR w="12700" cap="flat" cmpd="sng" algn="ctr">
                      <a:solidFill>
                        <a:srgbClr val="DBDBDB"/>
                      </a:solidFill>
                      <a:prstDash val="solid"/>
                      <a:round/>
                      <a:headEnd type="none" w="med" len="med"/>
                      <a:tailEnd type="none" w="med" len="med"/>
                    </a:lnR>
                    <a:lnT w="12700" cap="flat" cmpd="sng" algn="ctr">
                      <a:solidFill>
                        <a:srgbClr val="DBDBDB"/>
                      </a:solidFill>
                      <a:prstDash val="solid"/>
                      <a:round/>
                      <a:headEnd type="none" w="med" len="med"/>
                      <a:tailEnd type="none" w="med" len="med"/>
                    </a:lnT>
                    <a:lnB w="12700" cap="flat" cmpd="sng" algn="ctr">
                      <a:solidFill>
                        <a:srgbClr val="DBDBDB"/>
                      </a:solidFill>
                      <a:prstDash val="solid"/>
                      <a:round/>
                      <a:headEnd type="none" w="med" len="med"/>
                      <a:tailEnd type="none" w="med" len="med"/>
                    </a:lnB>
                    <a:solidFill>
                      <a:srgbClr val="263238"/>
                    </a:solidFill>
                  </a:tcPr>
                </a:tc>
              </a:tr>
            </a:tbl>
          </a:graphicData>
        </a:graphic>
      </p:graphicFrame>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934" y="2108688"/>
            <a:ext cx="4670706" cy="368356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398619" y="156087"/>
            <a:ext cx="2981643" cy="830997"/>
          </a:xfrm>
        </p:spPr>
        <p:txBody>
          <a:bodyPr>
            <a:normAutofit/>
          </a:bodyPr>
          <a:lstStyle/>
          <a:p>
            <a:r>
              <a:rPr lang="en-GB" sz="44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graphicFrame>
        <p:nvGraphicFramePr>
          <p:cNvPr id="2" name="Table 1"/>
          <p:cNvGraphicFramePr>
            <a:graphicFrameLocks noGrp="1"/>
          </p:cNvGraphicFramePr>
          <p:nvPr>
            <p:extLst>
              <p:ext uri="{D42A27DB-BD31-4B8C-83A1-F6EECF244321}">
                <p14:modId xmlns:p14="http://schemas.microsoft.com/office/powerpoint/2010/main" val="3049242751"/>
              </p:ext>
            </p:extLst>
          </p:nvPr>
        </p:nvGraphicFramePr>
        <p:xfrm>
          <a:off x="6170556" y="2015234"/>
          <a:ext cx="4101204" cy="3347503"/>
        </p:xfrm>
        <a:graphic>
          <a:graphicData uri="http://schemas.openxmlformats.org/drawingml/2006/table">
            <a:tbl>
              <a:tblPr/>
              <a:tblGrid>
                <a:gridCol w="4101204"/>
              </a:tblGrid>
              <a:tr h="3347503">
                <a:tc>
                  <a:txBody>
                    <a:bodyPr/>
                    <a:lstStyle/>
                    <a:p>
                      <a:pPr algn="l" rtl="0" fontAlgn="t"/>
                      <a:endParaRPr lang="en-IN" sz="500" dirty="0">
                        <a:solidFill>
                          <a:srgbClr val="EEFFFF"/>
                        </a:solidFill>
                        <a:effectLst/>
                        <a:latin typeface="Courier New" panose="02070309020205020404" pitchFamily="49" charset="0"/>
                      </a:endParaRPr>
                    </a:p>
                    <a:p>
                      <a:pPr algn="l" rtl="0" fontAlgn="t"/>
                      <a:r>
                        <a:rPr lang="en-IN" sz="500" dirty="0">
                          <a:solidFill>
                            <a:srgbClr val="546E7A"/>
                          </a:solidFill>
                          <a:effectLst/>
                          <a:latin typeface="Courier New" panose="02070309020205020404" pitchFamily="49" charset="0"/>
                        </a:rPr>
                        <a:t># ------------------------------------------------------------</a:t>
                      </a:r>
                      <a:endParaRPr lang="en-IN" sz="500" dirty="0">
                        <a:solidFill>
                          <a:srgbClr val="EEFFFF"/>
                        </a:solidFill>
                        <a:effectLst/>
                        <a:latin typeface="Courier New" panose="02070309020205020404" pitchFamily="49" charset="0"/>
                      </a:endParaRPr>
                    </a:p>
                    <a:p>
                      <a:pPr algn="l" rtl="0" fontAlgn="t"/>
                      <a:r>
                        <a:rPr lang="en-IN" sz="500" dirty="0">
                          <a:solidFill>
                            <a:srgbClr val="546E7A"/>
                          </a:solidFill>
                          <a:effectLst/>
                          <a:latin typeface="Courier New" panose="02070309020205020404" pitchFamily="49" charset="0"/>
                        </a:rPr>
                        <a:t># 105. INTERACTIVE DASHBOARD FILTERS</a:t>
                      </a:r>
                      <a:endParaRPr lang="en-IN" sz="500" dirty="0">
                        <a:solidFill>
                          <a:srgbClr val="EEFFFF"/>
                        </a:solidFill>
                        <a:effectLst/>
                        <a:latin typeface="Courier New" panose="02070309020205020404" pitchFamily="49" charset="0"/>
                      </a:endParaRPr>
                    </a:p>
                    <a:p>
                      <a:pPr algn="l" rtl="0" fontAlgn="t"/>
                      <a:r>
                        <a:rPr lang="en-IN" sz="500" dirty="0">
                          <a:solidFill>
                            <a:srgbClr val="546E7A"/>
                          </a:solidFill>
                          <a:effectLst/>
                          <a:latin typeface="Courier New" panose="02070309020205020404" pitchFamily="49" charset="0"/>
                        </a:rPr>
                        <a:t># ------------------------------------------------------------</a:t>
                      </a:r>
                      <a:endParaRPr lang="en-IN" sz="500" dirty="0">
                        <a:solidFill>
                          <a:srgbClr val="EEFFFF"/>
                        </a:solidFill>
                        <a:effectLst/>
                        <a:latin typeface="Courier New" panose="02070309020205020404" pitchFamily="49" charset="0"/>
                      </a:endParaRPr>
                    </a:p>
                    <a:p>
                      <a:pPr algn="l" rtl="0" fontAlgn="t"/>
                      <a:r>
                        <a:rPr lang="en-IN" sz="500" dirty="0">
                          <a:solidFill>
                            <a:srgbClr val="EEFFFF"/>
                          </a:solidFill>
                          <a:effectLst/>
                          <a:latin typeface="Courier New" panose="02070309020205020404" pitchFamily="49" charset="0"/>
                        </a:rPr>
                        <a:t>​</a:t>
                      </a:r>
                    </a:p>
                    <a:p>
                      <a:pPr algn="l" rtl="0" fontAlgn="t"/>
                      <a:r>
                        <a:rPr lang="en-IN" sz="500" dirty="0">
                          <a:solidFill>
                            <a:srgbClr val="C792EA"/>
                          </a:solidFill>
                          <a:effectLst/>
                          <a:latin typeface="Courier New" panose="02070309020205020404" pitchFamily="49" charset="0"/>
                        </a:rPr>
                        <a:t>try</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C792EA"/>
                          </a:solidFill>
                          <a:effectLst/>
                          <a:latin typeface="Courier New" panose="02070309020205020404" pitchFamily="49" charset="0"/>
                        </a:rPr>
                        <a:t>import</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ipywidgets</a:t>
                      </a:r>
                      <a:r>
                        <a:rPr lang="en-IN" sz="500" dirty="0">
                          <a:solidFill>
                            <a:srgbClr val="EEFFFF"/>
                          </a:solidFill>
                          <a:effectLst/>
                          <a:latin typeface="Courier New" panose="02070309020205020404" pitchFamily="49" charset="0"/>
                        </a:rPr>
                        <a:t> </a:t>
                      </a:r>
                      <a:r>
                        <a:rPr lang="en-IN" sz="500" dirty="0">
                          <a:solidFill>
                            <a:srgbClr val="C792EA"/>
                          </a:solidFill>
                          <a:effectLst/>
                          <a:latin typeface="Courier New" panose="02070309020205020404" pitchFamily="49" charset="0"/>
                        </a:rPr>
                        <a:t>as</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widgets</a:t>
                      </a:r>
                      <a:endParaRPr lang="en-IN" sz="500" dirty="0">
                        <a:solidFill>
                          <a:srgbClr val="EEFFFF"/>
                        </a:solidFill>
                        <a:effectLst/>
                        <a:latin typeface="Courier New" panose="02070309020205020404" pitchFamily="49" charset="0"/>
                      </a:endParaRPr>
                    </a:p>
                    <a:p>
                      <a:pPr algn="l" rtl="0" fontAlgn="t"/>
                      <a:r>
                        <a:rPr lang="en-IN" sz="500" dirty="0">
                          <a:solidFill>
                            <a:srgbClr val="EEFFFF"/>
                          </a:solidFill>
                          <a:effectLst/>
                          <a:latin typeface="Courier New" panose="02070309020205020404" pitchFamily="49" charset="0"/>
                        </a:rPr>
                        <a:t>   </a:t>
                      </a:r>
                      <a:r>
                        <a:rPr lang="en-IN" sz="500" dirty="0">
                          <a:solidFill>
                            <a:srgbClr val="C792EA"/>
                          </a:solidFill>
                          <a:effectLst/>
                          <a:latin typeface="Courier New" panose="02070309020205020404" pitchFamily="49" charset="0"/>
                        </a:rPr>
                        <a:t>from</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IPython</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display</a:t>
                      </a:r>
                      <a:r>
                        <a:rPr lang="en-IN" sz="500" dirty="0">
                          <a:solidFill>
                            <a:srgbClr val="EEFFFF"/>
                          </a:solidFill>
                          <a:effectLst/>
                          <a:latin typeface="Courier New" panose="02070309020205020404" pitchFamily="49" charset="0"/>
                        </a:rPr>
                        <a:t> </a:t>
                      </a:r>
                      <a:r>
                        <a:rPr lang="en-IN" sz="500" dirty="0">
                          <a:solidFill>
                            <a:srgbClr val="C792EA"/>
                          </a:solidFill>
                          <a:effectLst/>
                          <a:latin typeface="Courier New" panose="02070309020205020404" pitchFamily="49" charset="0"/>
                        </a:rPr>
                        <a:t>import</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display</a:t>
                      </a:r>
                      <a:endParaRPr lang="en-IN" sz="500" dirty="0">
                        <a:solidFill>
                          <a:srgbClr val="EEFFFF"/>
                        </a:solidFill>
                        <a:effectLst/>
                        <a:latin typeface="Courier New" panose="02070309020205020404" pitchFamily="49" charset="0"/>
                      </a:endParaRPr>
                    </a:p>
                    <a:p>
                      <a:pPr algn="l" rtl="0" fontAlgn="t"/>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season_options</a:t>
                      </a:r>
                      <a:r>
                        <a:rPr lang="en-IN" sz="500" dirty="0">
                          <a:solidFill>
                            <a:srgbClr val="EEFFFF"/>
                          </a:solidFill>
                          <a:effectLst/>
                          <a:latin typeface="Courier New" panose="02070309020205020404" pitchFamily="49" charset="0"/>
                        </a:rPr>
                        <a:t> </a:t>
                      </a:r>
                      <a:r>
                        <a:rPr lang="en-IN" sz="500" dirty="0">
                          <a:solidFill>
                            <a:srgbClr val="89DDFF"/>
                          </a:solidFill>
                          <a:effectLst/>
                          <a:latin typeface="Courier New" panose="02070309020205020404" pitchFamily="49" charset="0"/>
                        </a:rPr>
                        <a:t>=</a:t>
                      </a:r>
                      <a:r>
                        <a:rPr lang="en-IN" sz="500" dirty="0">
                          <a:solidFill>
                            <a:srgbClr val="EEFFFF"/>
                          </a:solidFill>
                          <a:effectLst/>
                          <a:latin typeface="Courier New" panose="02070309020205020404" pitchFamily="49" charset="0"/>
                        </a:rPr>
                        <a:t> [</a:t>
                      </a:r>
                      <a:r>
                        <a:rPr lang="en-IN" sz="500" dirty="0">
                          <a:solidFill>
                            <a:srgbClr val="C3E88D"/>
                          </a:solidFill>
                          <a:effectLst/>
                          <a:latin typeface="Courier New" panose="02070309020205020404" pitchFamily="49" charset="0"/>
                        </a:rPr>
                        <a:t>"All"</a:t>
                      </a:r>
                      <a:r>
                        <a:rPr lang="en-IN" sz="500" dirty="0">
                          <a:solidFill>
                            <a:srgbClr val="EEFFFF"/>
                          </a:solidFill>
                          <a:effectLst/>
                          <a:latin typeface="Courier New" panose="02070309020205020404" pitchFamily="49" charset="0"/>
                        </a:rPr>
                        <a:t>] </a:t>
                      </a:r>
                      <a:r>
                        <a:rPr lang="en-IN" sz="500" dirty="0">
                          <a:solidFill>
                            <a:srgbClr val="89DDFF"/>
                          </a:solidFill>
                          <a:effectLst/>
                          <a:latin typeface="Courier New" panose="02070309020205020404" pitchFamily="49" charset="0"/>
                        </a:rPr>
                        <a:t>+</a:t>
                      </a:r>
                      <a:r>
                        <a:rPr lang="en-IN" sz="500" dirty="0">
                          <a:solidFill>
                            <a:srgbClr val="EEFFFF"/>
                          </a:solidFill>
                          <a:effectLst/>
                          <a:latin typeface="Courier New" panose="02070309020205020404" pitchFamily="49" charset="0"/>
                        </a:rPr>
                        <a:t> </a:t>
                      </a:r>
                      <a:r>
                        <a:rPr lang="en-IN" sz="500" dirty="0">
                          <a:solidFill>
                            <a:srgbClr val="FFCB6B"/>
                          </a:solidFill>
                          <a:effectLst/>
                          <a:latin typeface="Courier New" panose="02070309020205020404" pitchFamily="49" charset="0"/>
                        </a:rPr>
                        <a:t>sorted</a:t>
                      </a:r>
                      <a:r>
                        <a:rPr lang="en-IN" sz="500" dirty="0">
                          <a:solidFill>
                            <a:srgbClr val="EEFFFF"/>
                          </a:solidFill>
                          <a:effectLst/>
                          <a:latin typeface="Courier New" panose="02070309020205020404" pitchFamily="49" charset="0"/>
                        </a:rPr>
                        <a:t>(</a:t>
                      </a:r>
                      <a:r>
                        <a:rPr lang="en-IN" sz="500" dirty="0">
                          <a:solidFill>
                            <a:srgbClr val="F07178"/>
                          </a:solidFill>
                          <a:effectLst/>
                          <a:latin typeface="Courier New" panose="02070309020205020404" pitchFamily="49" charset="0"/>
                        </a:rPr>
                        <a:t>df</a:t>
                      </a:r>
                      <a:r>
                        <a:rPr lang="en-IN" sz="500" dirty="0">
                          <a:solidFill>
                            <a:srgbClr val="EEFFFF"/>
                          </a:solidFill>
                          <a:effectLst/>
                          <a:latin typeface="Courier New" panose="02070309020205020404" pitchFamily="49" charset="0"/>
                        </a:rPr>
                        <a:t>[</a:t>
                      </a:r>
                      <a:r>
                        <a:rPr lang="en-IN" sz="500" dirty="0">
                          <a:solidFill>
                            <a:srgbClr val="C3E88D"/>
                          </a:solidFill>
                          <a:effectLst/>
                          <a:latin typeface="Courier New" panose="02070309020205020404" pitchFamily="49" charset="0"/>
                        </a:rPr>
                        <a:t>"Season"</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dropna</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astype</a:t>
                      </a:r>
                      <a:r>
                        <a:rPr lang="en-IN" sz="500" dirty="0">
                          <a:solidFill>
                            <a:srgbClr val="EEFFFF"/>
                          </a:solidFill>
                          <a:effectLst/>
                          <a:latin typeface="Courier New" panose="02070309020205020404" pitchFamily="49" charset="0"/>
                        </a:rPr>
                        <a:t>(</a:t>
                      </a:r>
                      <a:r>
                        <a:rPr lang="en-IN" sz="500" dirty="0">
                          <a:solidFill>
                            <a:srgbClr val="FFCB6B"/>
                          </a:solidFill>
                          <a:effectLst/>
                          <a:latin typeface="Courier New" panose="02070309020205020404" pitchFamily="49" charset="0"/>
                        </a:rPr>
                        <a:t>str</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unique</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tolist</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crop_options</a:t>
                      </a:r>
                      <a:r>
                        <a:rPr lang="en-IN" sz="500" dirty="0">
                          <a:solidFill>
                            <a:srgbClr val="EEFFFF"/>
                          </a:solidFill>
                          <a:effectLst/>
                          <a:latin typeface="Courier New" panose="02070309020205020404" pitchFamily="49" charset="0"/>
                        </a:rPr>
                        <a:t> </a:t>
                      </a:r>
                      <a:r>
                        <a:rPr lang="en-IN" sz="500" dirty="0">
                          <a:solidFill>
                            <a:srgbClr val="89DDFF"/>
                          </a:solidFill>
                          <a:effectLst/>
                          <a:latin typeface="Courier New" panose="02070309020205020404" pitchFamily="49" charset="0"/>
                        </a:rPr>
                        <a:t>=</a:t>
                      </a:r>
                      <a:r>
                        <a:rPr lang="en-IN" sz="500" dirty="0">
                          <a:solidFill>
                            <a:srgbClr val="EEFFFF"/>
                          </a:solidFill>
                          <a:effectLst/>
                          <a:latin typeface="Courier New" panose="02070309020205020404" pitchFamily="49" charset="0"/>
                        </a:rPr>
                        <a:t> [</a:t>
                      </a:r>
                      <a:r>
                        <a:rPr lang="en-IN" sz="500" dirty="0">
                          <a:solidFill>
                            <a:srgbClr val="C3E88D"/>
                          </a:solidFill>
                          <a:effectLst/>
                          <a:latin typeface="Courier New" panose="02070309020205020404" pitchFamily="49" charset="0"/>
                        </a:rPr>
                        <a:t>"All"</a:t>
                      </a:r>
                      <a:r>
                        <a:rPr lang="en-IN" sz="500" dirty="0">
                          <a:solidFill>
                            <a:srgbClr val="EEFFFF"/>
                          </a:solidFill>
                          <a:effectLst/>
                          <a:latin typeface="Courier New" panose="02070309020205020404" pitchFamily="49" charset="0"/>
                        </a:rPr>
                        <a:t>] </a:t>
                      </a:r>
                      <a:r>
                        <a:rPr lang="en-IN" sz="500" dirty="0">
                          <a:solidFill>
                            <a:srgbClr val="89DDFF"/>
                          </a:solidFill>
                          <a:effectLst/>
                          <a:latin typeface="Courier New" panose="02070309020205020404" pitchFamily="49" charset="0"/>
                        </a:rPr>
                        <a:t>+</a:t>
                      </a:r>
                      <a:r>
                        <a:rPr lang="en-IN" sz="500" dirty="0">
                          <a:solidFill>
                            <a:srgbClr val="EEFFFF"/>
                          </a:solidFill>
                          <a:effectLst/>
                          <a:latin typeface="Courier New" panose="02070309020205020404" pitchFamily="49" charset="0"/>
                        </a:rPr>
                        <a:t> </a:t>
                      </a:r>
                      <a:r>
                        <a:rPr lang="en-IN" sz="500" dirty="0">
                          <a:solidFill>
                            <a:srgbClr val="FFCB6B"/>
                          </a:solidFill>
                          <a:effectLst/>
                          <a:latin typeface="Courier New" panose="02070309020205020404" pitchFamily="49" charset="0"/>
                        </a:rPr>
                        <a:t>sorted</a:t>
                      </a:r>
                      <a:r>
                        <a:rPr lang="en-IN" sz="500" dirty="0">
                          <a:solidFill>
                            <a:srgbClr val="EEFFFF"/>
                          </a:solidFill>
                          <a:effectLst/>
                          <a:latin typeface="Courier New" panose="02070309020205020404" pitchFamily="49" charset="0"/>
                        </a:rPr>
                        <a:t>(</a:t>
                      </a:r>
                      <a:r>
                        <a:rPr lang="en-IN" sz="500" dirty="0">
                          <a:solidFill>
                            <a:srgbClr val="F07178"/>
                          </a:solidFill>
                          <a:effectLst/>
                          <a:latin typeface="Courier New" panose="02070309020205020404" pitchFamily="49" charset="0"/>
                        </a:rPr>
                        <a:t>df</a:t>
                      </a:r>
                      <a:r>
                        <a:rPr lang="en-IN" sz="500" dirty="0">
                          <a:solidFill>
                            <a:srgbClr val="EEFFFF"/>
                          </a:solidFill>
                          <a:effectLst/>
                          <a:latin typeface="Courier New" panose="02070309020205020404" pitchFamily="49" charset="0"/>
                        </a:rPr>
                        <a:t>[</a:t>
                      </a:r>
                      <a:r>
                        <a:rPr lang="en-IN" sz="500" dirty="0">
                          <a:solidFill>
                            <a:srgbClr val="C3E88D"/>
                          </a:solidFill>
                          <a:effectLst/>
                          <a:latin typeface="Courier New" panose="02070309020205020404" pitchFamily="49" charset="0"/>
                        </a:rPr>
                        <a:t>"Crop"</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dropna</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astype</a:t>
                      </a:r>
                      <a:r>
                        <a:rPr lang="en-IN" sz="500" dirty="0">
                          <a:solidFill>
                            <a:srgbClr val="EEFFFF"/>
                          </a:solidFill>
                          <a:effectLst/>
                          <a:latin typeface="Courier New" panose="02070309020205020404" pitchFamily="49" charset="0"/>
                        </a:rPr>
                        <a:t>(</a:t>
                      </a:r>
                      <a:r>
                        <a:rPr lang="en-IN" sz="500" dirty="0">
                          <a:solidFill>
                            <a:srgbClr val="FFCB6B"/>
                          </a:solidFill>
                          <a:effectLst/>
                          <a:latin typeface="Courier New" panose="02070309020205020404" pitchFamily="49" charset="0"/>
                        </a:rPr>
                        <a:t>str</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unique</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tolist</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state_options</a:t>
                      </a:r>
                      <a:r>
                        <a:rPr lang="en-IN" sz="500" dirty="0">
                          <a:solidFill>
                            <a:srgbClr val="EEFFFF"/>
                          </a:solidFill>
                          <a:effectLst/>
                          <a:latin typeface="Courier New" panose="02070309020205020404" pitchFamily="49" charset="0"/>
                        </a:rPr>
                        <a:t> </a:t>
                      </a:r>
                      <a:r>
                        <a:rPr lang="en-IN" sz="500" dirty="0">
                          <a:solidFill>
                            <a:srgbClr val="89DDFF"/>
                          </a:solidFill>
                          <a:effectLst/>
                          <a:latin typeface="Courier New" panose="02070309020205020404" pitchFamily="49" charset="0"/>
                        </a:rPr>
                        <a:t>=</a:t>
                      </a:r>
                      <a:r>
                        <a:rPr lang="en-IN" sz="500" dirty="0">
                          <a:solidFill>
                            <a:srgbClr val="EEFFFF"/>
                          </a:solidFill>
                          <a:effectLst/>
                          <a:latin typeface="Courier New" panose="02070309020205020404" pitchFamily="49" charset="0"/>
                        </a:rPr>
                        <a:t> [</a:t>
                      </a:r>
                      <a:r>
                        <a:rPr lang="en-IN" sz="500" dirty="0">
                          <a:solidFill>
                            <a:srgbClr val="C3E88D"/>
                          </a:solidFill>
                          <a:effectLst/>
                          <a:latin typeface="Courier New" panose="02070309020205020404" pitchFamily="49" charset="0"/>
                        </a:rPr>
                        <a:t>"All"</a:t>
                      </a:r>
                      <a:r>
                        <a:rPr lang="en-IN" sz="500" dirty="0">
                          <a:solidFill>
                            <a:srgbClr val="EEFFFF"/>
                          </a:solidFill>
                          <a:effectLst/>
                          <a:latin typeface="Courier New" panose="02070309020205020404" pitchFamily="49" charset="0"/>
                        </a:rPr>
                        <a:t>] </a:t>
                      </a:r>
                      <a:r>
                        <a:rPr lang="en-IN" sz="500" dirty="0">
                          <a:solidFill>
                            <a:srgbClr val="89DDFF"/>
                          </a:solidFill>
                          <a:effectLst/>
                          <a:latin typeface="Courier New" panose="02070309020205020404" pitchFamily="49" charset="0"/>
                        </a:rPr>
                        <a:t>+</a:t>
                      </a:r>
                      <a:r>
                        <a:rPr lang="en-IN" sz="500" dirty="0">
                          <a:solidFill>
                            <a:srgbClr val="EEFFFF"/>
                          </a:solidFill>
                          <a:effectLst/>
                          <a:latin typeface="Courier New" panose="02070309020205020404" pitchFamily="49" charset="0"/>
                        </a:rPr>
                        <a:t> </a:t>
                      </a:r>
                      <a:r>
                        <a:rPr lang="en-IN" sz="500" dirty="0">
                          <a:solidFill>
                            <a:srgbClr val="FFCB6B"/>
                          </a:solidFill>
                          <a:effectLst/>
                          <a:latin typeface="Courier New" panose="02070309020205020404" pitchFamily="49" charset="0"/>
                        </a:rPr>
                        <a:t>sorted</a:t>
                      </a:r>
                      <a:r>
                        <a:rPr lang="en-IN" sz="500" dirty="0">
                          <a:solidFill>
                            <a:srgbClr val="EEFFFF"/>
                          </a:solidFill>
                          <a:effectLst/>
                          <a:latin typeface="Courier New" panose="02070309020205020404" pitchFamily="49" charset="0"/>
                        </a:rPr>
                        <a:t>(</a:t>
                      </a:r>
                      <a:r>
                        <a:rPr lang="en-IN" sz="500" dirty="0">
                          <a:solidFill>
                            <a:srgbClr val="F07178"/>
                          </a:solidFill>
                          <a:effectLst/>
                          <a:latin typeface="Courier New" panose="02070309020205020404" pitchFamily="49" charset="0"/>
                        </a:rPr>
                        <a:t>df</a:t>
                      </a:r>
                      <a:r>
                        <a:rPr lang="en-IN" sz="500" dirty="0">
                          <a:solidFill>
                            <a:srgbClr val="EEFFFF"/>
                          </a:solidFill>
                          <a:effectLst/>
                          <a:latin typeface="Courier New" panose="02070309020205020404" pitchFamily="49" charset="0"/>
                        </a:rPr>
                        <a:t>[</a:t>
                      </a:r>
                      <a:r>
                        <a:rPr lang="en-IN" sz="500" dirty="0">
                          <a:solidFill>
                            <a:srgbClr val="C3E88D"/>
                          </a:solidFill>
                          <a:effectLst/>
                          <a:latin typeface="Courier New" panose="02070309020205020404" pitchFamily="49" charset="0"/>
                        </a:rPr>
                        <a:t>"State"</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dropna</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astype</a:t>
                      </a:r>
                      <a:r>
                        <a:rPr lang="en-IN" sz="500" dirty="0">
                          <a:solidFill>
                            <a:srgbClr val="EEFFFF"/>
                          </a:solidFill>
                          <a:effectLst/>
                          <a:latin typeface="Courier New" panose="02070309020205020404" pitchFamily="49" charset="0"/>
                        </a:rPr>
                        <a:t>(</a:t>
                      </a:r>
                      <a:r>
                        <a:rPr lang="en-IN" sz="500" dirty="0">
                          <a:solidFill>
                            <a:srgbClr val="FFCB6B"/>
                          </a:solidFill>
                          <a:effectLst/>
                          <a:latin typeface="Courier New" panose="02070309020205020404" pitchFamily="49" charset="0"/>
                        </a:rPr>
                        <a:t>str</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unique</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tolist</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irrigation_options</a:t>
                      </a:r>
                      <a:r>
                        <a:rPr lang="en-IN" sz="500" dirty="0">
                          <a:solidFill>
                            <a:srgbClr val="EEFFFF"/>
                          </a:solidFill>
                          <a:effectLst/>
                          <a:latin typeface="Courier New" panose="02070309020205020404" pitchFamily="49" charset="0"/>
                        </a:rPr>
                        <a:t> </a:t>
                      </a:r>
                      <a:r>
                        <a:rPr lang="en-IN" sz="500" dirty="0">
                          <a:solidFill>
                            <a:srgbClr val="89DDFF"/>
                          </a:solidFill>
                          <a:effectLst/>
                          <a:latin typeface="Courier New" panose="02070309020205020404" pitchFamily="49" charset="0"/>
                        </a:rPr>
                        <a:t>=</a:t>
                      </a:r>
                      <a:r>
                        <a:rPr lang="en-IN" sz="500" dirty="0">
                          <a:solidFill>
                            <a:srgbClr val="EEFFFF"/>
                          </a:solidFill>
                          <a:effectLst/>
                          <a:latin typeface="Courier New" panose="02070309020205020404" pitchFamily="49" charset="0"/>
                        </a:rPr>
                        <a:t> [</a:t>
                      </a:r>
                      <a:r>
                        <a:rPr lang="en-IN" sz="500" dirty="0">
                          <a:solidFill>
                            <a:srgbClr val="C3E88D"/>
                          </a:solidFill>
                          <a:effectLst/>
                          <a:latin typeface="Courier New" panose="02070309020205020404" pitchFamily="49" charset="0"/>
                        </a:rPr>
                        <a:t>"All"</a:t>
                      </a:r>
                      <a:r>
                        <a:rPr lang="en-IN" sz="500" dirty="0">
                          <a:solidFill>
                            <a:srgbClr val="EEFFFF"/>
                          </a:solidFill>
                          <a:effectLst/>
                          <a:latin typeface="Courier New" panose="02070309020205020404" pitchFamily="49" charset="0"/>
                        </a:rPr>
                        <a:t>] </a:t>
                      </a:r>
                      <a:r>
                        <a:rPr lang="en-IN" sz="500" dirty="0">
                          <a:solidFill>
                            <a:srgbClr val="89DDFF"/>
                          </a:solidFill>
                          <a:effectLst/>
                          <a:latin typeface="Courier New" panose="02070309020205020404" pitchFamily="49" charset="0"/>
                        </a:rPr>
                        <a:t>+</a:t>
                      </a:r>
                      <a:r>
                        <a:rPr lang="en-IN" sz="500" dirty="0">
                          <a:solidFill>
                            <a:srgbClr val="EEFFFF"/>
                          </a:solidFill>
                          <a:effectLst/>
                          <a:latin typeface="Courier New" panose="02070309020205020404" pitchFamily="49" charset="0"/>
                        </a:rPr>
                        <a:t> </a:t>
                      </a:r>
                      <a:r>
                        <a:rPr lang="en-IN" sz="500" dirty="0">
                          <a:solidFill>
                            <a:srgbClr val="FFCB6B"/>
                          </a:solidFill>
                          <a:effectLst/>
                          <a:latin typeface="Courier New" panose="02070309020205020404" pitchFamily="49" charset="0"/>
                        </a:rPr>
                        <a:t>sorted</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df</a:t>
                      </a:r>
                      <a:r>
                        <a:rPr lang="en-IN" sz="500" dirty="0">
                          <a:solidFill>
                            <a:srgbClr val="EEFFFF"/>
                          </a:solidFill>
                          <a:effectLst/>
                          <a:latin typeface="Courier New" panose="02070309020205020404" pitchFamily="49" charset="0"/>
                        </a:rPr>
                        <a:t>[</a:t>
                      </a:r>
                      <a:r>
                        <a:rPr lang="en-IN" sz="500" dirty="0">
                          <a:solidFill>
                            <a:srgbClr val="C3E88D"/>
                          </a:solidFill>
                          <a:effectLst/>
                          <a:latin typeface="Courier New" panose="02070309020205020404" pitchFamily="49" charset="0"/>
                        </a:rPr>
                        <a:t>"Irrigation_Method"</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dropna</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astype</a:t>
                      </a:r>
                      <a:r>
                        <a:rPr lang="en-IN" sz="500" dirty="0">
                          <a:solidFill>
                            <a:srgbClr val="EEFFFF"/>
                          </a:solidFill>
                          <a:effectLst/>
                          <a:latin typeface="Courier New" panose="02070309020205020404" pitchFamily="49" charset="0"/>
                        </a:rPr>
                        <a:t>(</a:t>
                      </a:r>
                      <a:r>
                        <a:rPr lang="en-IN" sz="500" dirty="0">
                          <a:solidFill>
                            <a:srgbClr val="FFCB6B"/>
                          </a:solidFill>
                          <a:effectLst/>
                          <a:latin typeface="Courier New" panose="02070309020205020404" pitchFamily="49" charset="0"/>
                        </a:rPr>
                        <a:t>str</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unique</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tolist</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p>
                    <a:p>
                      <a:pPr algn="l" rtl="0" fontAlgn="t"/>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season_widget</a:t>
                      </a:r>
                      <a:r>
                        <a:rPr lang="en-IN" sz="500" dirty="0">
                          <a:solidFill>
                            <a:srgbClr val="EEFFFF"/>
                          </a:solidFill>
                          <a:effectLst/>
                          <a:latin typeface="Courier New" panose="02070309020205020404" pitchFamily="49" charset="0"/>
                        </a:rPr>
                        <a:t> </a:t>
                      </a:r>
                      <a:r>
                        <a:rPr lang="en-IN" sz="500" dirty="0">
                          <a:solidFill>
                            <a:srgbClr val="89DDFF"/>
                          </a:solidFill>
                          <a:effectLst/>
                          <a:latin typeface="Courier New" panose="02070309020205020404" pitchFamily="49" charset="0"/>
                        </a:rPr>
                        <a:t>=</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widgets</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Dropdown</a:t>
                      </a:r>
                      <a:r>
                        <a:rPr lang="en-IN" sz="500" dirty="0">
                          <a:solidFill>
                            <a:srgbClr val="EEFFFF"/>
                          </a:solidFill>
                          <a:effectLst/>
                          <a:latin typeface="Courier New" panose="02070309020205020404" pitchFamily="49" charset="0"/>
                        </a:rPr>
                        <a:t>(</a:t>
                      </a:r>
                      <a:r>
                        <a:rPr lang="en-IN" sz="500" dirty="0">
                          <a:solidFill>
                            <a:srgbClr val="F07178"/>
                          </a:solidFill>
                          <a:effectLst/>
                          <a:latin typeface="Courier New" panose="02070309020205020404" pitchFamily="49" charset="0"/>
                        </a:rPr>
                        <a:t>options</a:t>
                      </a:r>
                      <a:r>
                        <a:rPr lang="en-IN" sz="500" dirty="0">
                          <a:solidFill>
                            <a:srgbClr val="89DDFF"/>
                          </a:solidFill>
                          <a:effectLst/>
                          <a:latin typeface="Courier New" panose="02070309020205020404" pitchFamily="49" charset="0"/>
                        </a:rPr>
                        <a:t>=</a:t>
                      </a:r>
                      <a:r>
                        <a:rPr lang="en-IN" sz="500" dirty="0">
                          <a:solidFill>
                            <a:srgbClr val="F07178"/>
                          </a:solidFill>
                          <a:effectLst/>
                          <a:latin typeface="Courier New" panose="02070309020205020404" pitchFamily="49" charset="0"/>
                        </a:rPr>
                        <a:t>season_options</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description</a:t>
                      </a:r>
                      <a:r>
                        <a:rPr lang="en-IN" sz="500" dirty="0">
                          <a:solidFill>
                            <a:srgbClr val="89DDFF"/>
                          </a:solidFill>
                          <a:effectLst/>
                          <a:latin typeface="Courier New" panose="02070309020205020404" pitchFamily="49" charset="0"/>
                        </a:rPr>
                        <a:t>=</a:t>
                      </a:r>
                      <a:r>
                        <a:rPr lang="en-IN" sz="500" dirty="0">
                          <a:solidFill>
                            <a:srgbClr val="C3E88D"/>
                          </a:solidFill>
                          <a:effectLst/>
                          <a:latin typeface="Courier New" panose="02070309020205020404" pitchFamily="49" charset="0"/>
                        </a:rPr>
                        <a:t>"Season:"</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crop_widget</a:t>
                      </a:r>
                      <a:r>
                        <a:rPr lang="en-IN" sz="500" dirty="0">
                          <a:solidFill>
                            <a:srgbClr val="EEFFFF"/>
                          </a:solidFill>
                          <a:effectLst/>
                          <a:latin typeface="Courier New" panose="02070309020205020404" pitchFamily="49" charset="0"/>
                        </a:rPr>
                        <a:t> </a:t>
                      </a:r>
                      <a:r>
                        <a:rPr lang="en-IN" sz="500" dirty="0">
                          <a:solidFill>
                            <a:srgbClr val="89DDFF"/>
                          </a:solidFill>
                          <a:effectLst/>
                          <a:latin typeface="Courier New" panose="02070309020205020404" pitchFamily="49" charset="0"/>
                        </a:rPr>
                        <a:t>=</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widgets</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Dropdown</a:t>
                      </a:r>
                      <a:r>
                        <a:rPr lang="en-IN" sz="500" dirty="0">
                          <a:solidFill>
                            <a:srgbClr val="EEFFFF"/>
                          </a:solidFill>
                          <a:effectLst/>
                          <a:latin typeface="Courier New" panose="02070309020205020404" pitchFamily="49" charset="0"/>
                        </a:rPr>
                        <a:t>(</a:t>
                      </a:r>
                      <a:r>
                        <a:rPr lang="en-IN" sz="500" dirty="0">
                          <a:solidFill>
                            <a:srgbClr val="F07178"/>
                          </a:solidFill>
                          <a:effectLst/>
                          <a:latin typeface="Courier New" panose="02070309020205020404" pitchFamily="49" charset="0"/>
                        </a:rPr>
                        <a:t>options</a:t>
                      </a:r>
                      <a:r>
                        <a:rPr lang="en-IN" sz="500" dirty="0">
                          <a:solidFill>
                            <a:srgbClr val="89DDFF"/>
                          </a:solidFill>
                          <a:effectLst/>
                          <a:latin typeface="Courier New" panose="02070309020205020404" pitchFamily="49" charset="0"/>
                        </a:rPr>
                        <a:t>=</a:t>
                      </a:r>
                      <a:r>
                        <a:rPr lang="en-IN" sz="500" dirty="0">
                          <a:solidFill>
                            <a:srgbClr val="F07178"/>
                          </a:solidFill>
                          <a:effectLst/>
                          <a:latin typeface="Courier New" panose="02070309020205020404" pitchFamily="49" charset="0"/>
                        </a:rPr>
                        <a:t>crop_options</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description</a:t>
                      </a:r>
                      <a:r>
                        <a:rPr lang="en-IN" sz="500" dirty="0">
                          <a:solidFill>
                            <a:srgbClr val="89DDFF"/>
                          </a:solidFill>
                          <a:effectLst/>
                          <a:latin typeface="Courier New" panose="02070309020205020404" pitchFamily="49" charset="0"/>
                        </a:rPr>
                        <a:t>=</a:t>
                      </a:r>
                      <a:r>
                        <a:rPr lang="en-IN" sz="500" dirty="0">
                          <a:solidFill>
                            <a:srgbClr val="C3E88D"/>
                          </a:solidFill>
                          <a:effectLst/>
                          <a:latin typeface="Courier New" panose="02070309020205020404" pitchFamily="49" charset="0"/>
                        </a:rPr>
                        <a:t>"Crop:"</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state_widget</a:t>
                      </a:r>
                      <a:r>
                        <a:rPr lang="en-IN" sz="500" dirty="0">
                          <a:solidFill>
                            <a:srgbClr val="EEFFFF"/>
                          </a:solidFill>
                          <a:effectLst/>
                          <a:latin typeface="Courier New" panose="02070309020205020404" pitchFamily="49" charset="0"/>
                        </a:rPr>
                        <a:t> </a:t>
                      </a:r>
                      <a:r>
                        <a:rPr lang="en-IN" sz="500" dirty="0">
                          <a:solidFill>
                            <a:srgbClr val="89DDFF"/>
                          </a:solidFill>
                          <a:effectLst/>
                          <a:latin typeface="Courier New" panose="02070309020205020404" pitchFamily="49" charset="0"/>
                        </a:rPr>
                        <a:t>=</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widgets</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Dropdown</a:t>
                      </a:r>
                      <a:r>
                        <a:rPr lang="en-IN" sz="500" dirty="0">
                          <a:solidFill>
                            <a:srgbClr val="EEFFFF"/>
                          </a:solidFill>
                          <a:effectLst/>
                          <a:latin typeface="Courier New" panose="02070309020205020404" pitchFamily="49" charset="0"/>
                        </a:rPr>
                        <a:t>(</a:t>
                      </a:r>
                      <a:r>
                        <a:rPr lang="en-IN" sz="500" dirty="0">
                          <a:solidFill>
                            <a:srgbClr val="F07178"/>
                          </a:solidFill>
                          <a:effectLst/>
                          <a:latin typeface="Courier New" panose="02070309020205020404" pitchFamily="49" charset="0"/>
                        </a:rPr>
                        <a:t>options</a:t>
                      </a:r>
                      <a:r>
                        <a:rPr lang="en-IN" sz="500" dirty="0">
                          <a:solidFill>
                            <a:srgbClr val="89DDFF"/>
                          </a:solidFill>
                          <a:effectLst/>
                          <a:latin typeface="Courier New" panose="02070309020205020404" pitchFamily="49" charset="0"/>
                        </a:rPr>
                        <a:t>=</a:t>
                      </a:r>
                      <a:r>
                        <a:rPr lang="en-IN" sz="500" dirty="0">
                          <a:solidFill>
                            <a:srgbClr val="F07178"/>
                          </a:solidFill>
                          <a:effectLst/>
                          <a:latin typeface="Courier New" panose="02070309020205020404" pitchFamily="49" charset="0"/>
                        </a:rPr>
                        <a:t>state_options</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description</a:t>
                      </a:r>
                      <a:r>
                        <a:rPr lang="en-IN" sz="500" dirty="0">
                          <a:solidFill>
                            <a:srgbClr val="89DDFF"/>
                          </a:solidFill>
                          <a:effectLst/>
                          <a:latin typeface="Courier New" panose="02070309020205020404" pitchFamily="49" charset="0"/>
                        </a:rPr>
                        <a:t>=</a:t>
                      </a:r>
                      <a:r>
                        <a:rPr lang="en-IN" sz="500" dirty="0">
                          <a:solidFill>
                            <a:srgbClr val="C3E88D"/>
                          </a:solidFill>
                          <a:effectLst/>
                          <a:latin typeface="Courier New" panose="02070309020205020404" pitchFamily="49" charset="0"/>
                        </a:rPr>
                        <a:t>"State:"</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irrigation_widget</a:t>
                      </a:r>
                      <a:r>
                        <a:rPr lang="en-IN" sz="500" dirty="0">
                          <a:solidFill>
                            <a:srgbClr val="EEFFFF"/>
                          </a:solidFill>
                          <a:effectLst/>
                          <a:latin typeface="Courier New" panose="02070309020205020404" pitchFamily="49" charset="0"/>
                        </a:rPr>
                        <a:t> </a:t>
                      </a:r>
                      <a:r>
                        <a:rPr lang="en-IN" sz="500" dirty="0">
                          <a:solidFill>
                            <a:srgbClr val="89DDFF"/>
                          </a:solidFill>
                          <a:effectLst/>
                          <a:latin typeface="Courier New" panose="02070309020205020404" pitchFamily="49" charset="0"/>
                        </a:rPr>
                        <a:t>=</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widgets</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Dropdown</a:t>
                      </a:r>
                      <a:r>
                        <a:rPr lang="en-IN" sz="500" dirty="0">
                          <a:solidFill>
                            <a:srgbClr val="EEFFFF"/>
                          </a:solidFill>
                          <a:effectLst/>
                          <a:latin typeface="Courier New" panose="02070309020205020404" pitchFamily="49" charset="0"/>
                        </a:rPr>
                        <a:t>(</a:t>
                      </a:r>
                      <a:r>
                        <a:rPr lang="en-IN" sz="500" dirty="0">
                          <a:solidFill>
                            <a:srgbClr val="F07178"/>
                          </a:solidFill>
                          <a:effectLst/>
                          <a:latin typeface="Courier New" panose="02070309020205020404" pitchFamily="49" charset="0"/>
                        </a:rPr>
                        <a:t>options</a:t>
                      </a:r>
                      <a:r>
                        <a:rPr lang="en-IN" sz="500" dirty="0">
                          <a:solidFill>
                            <a:srgbClr val="89DDFF"/>
                          </a:solidFill>
                          <a:effectLst/>
                          <a:latin typeface="Courier New" panose="02070309020205020404" pitchFamily="49" charset="0"/>
                        </a:rPr>
                        <a:t>=</a:t>
                      </a:r>
                      <a:r>
                        <a:rPr lang="en-IN" sz="500" dirty="0">
                          <a:solidFill>
                            <a:srgbClr val="F07178"/>
                          </a:solidFill>
                          <a:effectLst/>
                          <a:latin typeface="Courier New" panose="02070309020205020404" pitchFamily="49" charset="0"/>
                        </a:rPr>
                        <a:t>irrigation_options</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description</a:t>
                      </a:r>
                      <a:r>
                        <a:rPr lang="en-IN" sz="500" dirty="0">
                          <a:solidFill>
                            <a:srgbClr val="89DDFF"/>
                          </a:solidFill>
                          <a:effectLst/>
                          <a:latin typeface="Courier New" panose="02070309020205020404" pitchFamily="49" charset="0"/>
                        </a:rPr>
                        <a:t>=</a:t>
                      </a:r>
                      <a:r>
                        <a:rPr lang="en-IN" sz="500" dirty="0">
                          <a:solidFill>
                            <a:srgbClr val="C3E88D"/>
                          </a:solidFill>
                          <a:effectLst/>
                          <a:latin typeface="Courier New" panose="02070309020205020404" pitchFamily="49" charset="0"/>
                        </a:rPr>
                        <a:t>"Irrigation:"</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dashboard_output</a:t>
                      </a:r>
                      <a:r>
                        <a:rPr lang="en-IN" sz="500" dirty="0">
                          <a:solidFill>
                            <a:srgbClr val="EEFFFF"/>
                          </a:solidFill>
                          <a:effectLst/>
                          <a:latin typeface="Courier New" panose="02070309020205020404" pitchFamily="49" charset="0"/>
                        </a:rPr>
                        <a:t> </a:t>
                      </a:r>
                      <a:r>
                        <a:rPr lang="en-IN" sz="500" dirty="0">
                          <a:solidFill>
                            <a:srgbClr val="89DDFF"/>
                          </a:solidFill>
                          <a:effectLst/>
                          <a:latin typeface="Courier New" panose="02070309020205020404" pitchFamily="49" charset="0"/>
                        </a:rPr>
                        <a:t>=</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widgets</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interactive_output</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show_agriculture_dashboard</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p>
                    <a:p>
                      <a:pPr algn="l" rtl="0" fontAlgn="t"/>
                      <a:r>
                        <a:rPr lang="en-IN" sz="500" dirty="0">
                          <a:solidFill>
                            <a:srgbClr val="EEFFFF"/>
                          </a:solidFill>
                          <a:effectLst/>
                          <a:latin typeface="Courier New" panose="02070309020205020404" pitchFamily="49" charset="0"/>
                        </a:rPr>
                        <a:t>           </a:t>
                      </a:r>
                      <a:r>
                        <a:rPr lang="en-IN" sz="500" dirty="0">
                          <a:solidFill>
                            <a:srgbClr val="C3E88D"/>
                          </a:solidFill>
                          <a:effectLst/>
                          <a:latin typeface="Courier New" panose="02070309020205020404" pitchFamily="49" charset="0"/>
                        </a:rPr>
                        <a:t>"season"</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season_widget</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C3E88D"/>
                          </a:solidFill>
                          <a:effectLst/>
                          <a:latin typeface="Courier New" panose="02070309020205020404" pitchFamily="49" charset="0"/>
                        </a:rPr>
                        <a:t>"crop"</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crop_widget</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C3E88D"/>
                          </a:solidFill>
                          <a:effectLst/>
                          <a:latin typeface="Courier New" panose="02070309020205020404" pitchFamily="49" charset="0"/>
                        </a:rPr>
                        <a:t>"state"</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state_widget</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C3E88D"/>
                          </a:solidFill>
                          <a:effectLst/>
                          <a:latin typeface="Courier New" panose="02070309020205020404" pitchFamily="49" charset="0"/>
                        </a:rPr>
                        <a:t>"irrigation_method"</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irrigation_widget</a:t>
                      </a:r>
                      <a:endParaRPr lang="en-IN" sz="500" dirty="0">
                        <a:solidFill>
                          <a:srgbClr val="EEFFFF"/>
                        </a:solidFill>
                        <a:effectLst/>
                        <a:latin typeface="Courier New" panose="02070309020205020404" pitchFamily="49" charset="0"/>
                      </a:endParaRPr>
                    </a:p>
                    <a:p>
                      <a:pPr algn="l" rtl="0" fontAlgn="t"/>
                      <a:r>
                        <a:rPr lang="en-IN" sz="500" dirty="0">
                          <a:solidFill>
                            <a:srgbClr val="EEFFFF"/>
                          </a:solidFill>
                          <a:effectLst/>
                          <a:latin typeface="Courier New" panose="02070309020205020404" pitchFamily="49" charset="0"/>
                        </a:rPr>
                        <a:t>      }</a:t>
                      </a:r>
                    </a:p>
                    <a:p>
                      <a:pPr algn="l" rtl="0" fontAlgn="t"/>
                      <a:r>
                        <a:rPr lang="en-IN" sz="500" dirty="0">
                          <a:solidFill>
                            <a:srgbClr val="EEFFFF"/>
                          </a:solidFill>
                          <a:effectLst/>
                          <a:latin typeface="Courier New" panose="02070309020205020404" pitchFamily="49" charset="0"/>
                        </a:rPr>
                        <a:t>  )</a:t>
                      </a:r>
                    </a:p>
                    <a:p>
                      <a:pPr algn="l" rtl="0" fontAlgn="t"/>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display</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widgets</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HBox</a:t>
                      </a:r>
                      <a:r>
                        <a:rPr lang="en-IN" sz="500" dirty="0">
                          <a:solidFill>
                            <a:srgbClr val="EEFFFF"/>
                          </a:solidFill>
                          <a:effectLst/>
                          <a:latin typeface="Courier New" panose="02070309020205020404" pitchFamily="49" charset="0"/>
                        </a:rPr>
                        <a:t>([</a:t>
                      </a:r>
                      <a:r>
                        <a:rPr lang="en-IN" sz="500" dirty="0">
                          <a:solidFill>
                            <a:srgbClr val="F07178"/>
                          </a:solidFill>
                          <a:effectLst/>
                          <a:latin typeface="Courier New" panose="02070309020205020404" pitchFamily="49" charset="0"/>
                        </a:rPr>
                        <a:t>season_widget</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crop_widget</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widgets</a:t>
                      </a:r>
                      <a:r>
                        <a:rPr lang="en-IN" sz="500" dirty="0">
                          <a:solidFill>
                            <a:srgbClr val="EEFFFF"/>
                          </a:solidFill>
                          <a:effectLst/>
                          <a:latin typeface="Courier New" panose="02070309020205020404" pitchFamily="49" charset="0"/>
                        </a:rPr>
                        <a:t>.</a:t>
                      </a:r>
                      <a:r>
                        <a:rPr lang="en-IN" sz="500" dirty="0">
                          <a:solidFill>
                            <a:srgbClr val="C792EA"/>
                          </a:solidFill>
                          <a:effectLst/>
                          <a:latin typeface="Courier New" panose="02070309020205020404" pitchFamily="49" charset="0"/>
                        </a:rPr>
                        <a:t>HBox</a:t>
                      </a:r>
                      <a:r>
                        <a:rPr lang="en-IN" sz="500" dirty="0">
                          <a:solidFill>
                            <a:srgbClr val="EEFFFF"/>
                          </a:solidFill>
                          <a:effectLst/>
                          <a:latin typeface="Courier New" panose="02070309020205020404" pitchFamily="49" charset="0"/>
                        </a:rPr>
                        <a:t>([</a:t>
                      </a:r>
                      <a:r>
                        <a:rPr lang="en-IN" sz="500" dirty="0">
                          <a:solidFill>
                            <a:srgbClr val="F07178"/>
                          </a:solidFill>
                          <a:effectLst/>
                          <a:latin typeface="Courier New" panose="02070309020205020404" pitchFamily="49" charset="0"/>
                        </a:rPr>
                        <a:t>state_widget</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irrigation_widget</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dashboard_output</a:t>
                      </a:r>
                      <a:endParaRPr lang="en-IN" sz="500" dirty="0">
                        <a:solidFill>
                          <a:srgbClr val="EEFFFF"/>
                        </a:solidFill>
                        <a:effectLst/>
                        <a:latin typeface="Courier New" panose="02070309020205020404" pitchFamily="49" charset="0"/>
                      </a:endParaRPr>
                    </a:p>
                    <a:p>
                      <a:pPr algn="l" rtl="0" fontAlgn="t"/>
                      <a:r>
                        <a:rPr lang="en-IN" sz="500" dirty="0">
                          <a:solidFill>
                            <a:srgbClr val="EEFFFF"/>
                          </a:solidFill>
                          <a:effectLst/>
                          <a:latin typeface="Courier New" panose="02070309020205020404" pitchFamily="49" charset="0"/>
                        </a:rPr>
                        <a:t>  )</a:t>
                      </a:r>
                    </a:p>
                    <a:p>
                      <a:pPr algn="l" rtl="0" fontAlgn="t"/>
                      <a:r>
                        <a:rPr lang="en-IN" sz="500" dirty="0">
                          <a:solidFill>
                            <a:srgbClr val="EEFFFF"/>
                          </a:solidFill>
                          <a:effectLst/>
                          <a:latin typeface="Courier New" panose="02070309020205020404" pitchFamily="49" charset="0"/>
                        </a:rPr>
                        <a:t>​</a:t>
                      </a:r>
                    </a:p>
                    <a:p>
                      <a:pPr algn="l" rtl="0" fontAlgn="t"/>
                      <a:r>
                        <a:rPr lang="en-IN" sz="500" dirty="0">
                          <a:solidFill>
                            <a:srgbClr val="C792EA"/>
                          </a:solidFill>
                          <a:effectLst/>
                          <a:latin typeface="Courier New" panose="02070309020205020404" pitchFamily="49" charset="0"/>
                        </a:rPr>
                        <a:t>except</a:t>
                      </a:r>
                      <a:r>
                        <a:rPr lang="en-IN" sz="500" dirty="0">
                          <a:solidFill>
                            <a:srgbClr val="EEFFFF"/>
                          </a:solidFill>
                          <a:effectLst/>
                          <a:latin typeface="Courier New" panose="02070309020205020404" pitchFamily="49" charset="0"/>
                        </a:rPr>
                        <a:t> </a:t>
                      </a:r>
                      <a:r>
                        <a:rPr lang="en-IN" sz="500" dirty="0">
                          <a:solidFill>
                            <a:srgbClr val="F07178"/>
                          </a:solidFill>
                          <a:effectLst/>
                          <a:latin typeface="Courier New" panose="02070309020205020404" pitchFamily="49" charset="0"/>
                        </a:rPr>
                        <a:t>ImportError</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FFCB6B"/>
                          </a:solidFill>
                          <a:effectLst/>
                          <a:latin typeface="Courier New" panose="02070309020205020404" pitchFamily="49" charset="0"/>
                        </a:rPr>
                        <a:t>print</a:t>
                      </a:r>
                      <a:r>
                        <a:rPr lang="en-IN" sz="500" dirty="0">
                          <a:solidFill>
                            <a:srgbClr val="EEFFFF"/>
                          </a:solidFill>
                          <a:effectLst/>
                          <a:latin typeface="Courier New" panose="02070309020205020404" pitchFamily="49" charset="0"/>
                        </a:rPr>
                        <a:t>(</a:t>
                      </a:r>
                    </a:p>
                    <a:p>
                      <a:pPr algn="l" rtl="0" fontAlgn="t"/>
                      <a:r>
                        <a:rPr lang="en-IN" sz="500" dirty="0">
                          <a:solidFill>
                            <a:srgbClr val="EEFFFF"/>
                          </a:solidFill>
                          <a:effectLst/>
                          <a:latin typeface="Courier New" panose="02070309020205020404" pitchFamily="49" charset="0"/>
                        </a:rPr>
                        <a:t>       </a:t>
                      </a:r>
                      <a:r>
                        <a:rPr lang="en-IN" sz="500" dirty="0">
                          <a:solidFill>
                            <a:srgbClr val="C3E88D"/>
                          </a:solidFill>
                          <a:effectLst/>
                          <a:latin typeface="Courier New" panose="02070309020205020404" pitchFamily="49" charset="0"/>
                        </a:rPr>
                        <a:t>"ipywidgets is not installed. The static dashboard above is available. "</a:t>
                      </a:r>
                      <a:endParaRPr lang="en-IN" sz="500" dirty="0">
                        <a:solidFill>
                          <a:srgbClr val="EEFFFF"/>
                        </a:solidFill>
                        <a:effectLst/>
                        <a:latin typeface="Courier New" panose="02070309020205020404" pitchFamily="49" charset="0"/>
                      </a:endParaRPr>
                    </a:p>
                    <a:p>
                      <a:pPr algn="l" rtl="0" fontAlgn="t"/>
                      <a:r>
                        <a:rPr lang="en-IN" sz="500" dirty="0">
                          <a:solidFill>
                            <a:srgbClr val="EEFFFF"/>
                          </a:solidFill>
                          <a:effectLst/>
                          <a:latin typeface="Courier New" panose="02070309020205020404" pitchFamily="49" charset="0"/>
                        </a:rPr>
                        <a:t>       </a:t>
                      </a:r>
                      <a:r>
                        <a:rPr lang="en-IN" sz="500" dirty="0">
                          <a:solidFill>
                            <a:srgbClr val="C3E88D"/>
                          </a:solidFill>
                          <a:effectLst/>
                          <a:latin typeface="Courier New" panose="02070309020205020404" pitchFamily="49" charset="0"/>
                        </a:rPr>
                        <a:t>"Install with: pip install ipywidgets"</a:t>
                      </a:r>
                      <a:endParaRPr lang="en-IN" sz="500" dirty="0">
                        <a:solidFill>
                          <a:srgbClr val="EEFFFF"/>
                        </a:solidFill>
                        <a:effectLst/>
                        <a:latin typeface="Courier New" panose="02070309020205020404" pitchFamily="49" charset="0"/>
                      </a:endParaRPr>
                    </a:p>
                    <a:p>
                      <a:pPr algn="l" rtl="0" fontAlgn="t"/>
                      <a:r>
                        <a:rPr lang="en-IN" sz="500" dirty="0">
                          <a:solidFill>
                            <a:srgbClr val="EEFFFF"/>
                          </a:solidFill>
                          <a:effectLst/>
                          <a:latin typeface="Courier New" panose="02070309020205020404" pitchFamily="49" charset="0"/>
                        </a:rPr>
                        <a:t>  )</a:t>
                      </a:r>
                    </a:p>
                    <a:p>
                      <a:pPr algn="l" rtl="0" fontAlgn="t"/>
                      <a:r>
                        <a:rPr lang="en-IN" sz="500" dirty="0">
                          <a:solidFill>
                            <a:srgbClr val="EEFFFF"/>
                          </a:solidFill>
                          <a:effectLst/>
                          <a:latin typeface="Courier New" panose="02070309020205020404" pitchFamily="49" charset="0"/>
                        </a:rPr>
                        <a:t>​</a:t>
                      </a:r>
                    </a:p>
                  </a:txBody>
                  <a:tcPr marL="23382" marR="23382" marT="11691" marB="11691">
                    <a:lnL w="12700" cap="flat" cmpd="sng" algn="ctr">
                      <a:solidFill>
                        <a:srgbClr val="DBDBDB"/>
                      </a:solidFill>
                      <a:prstDash val="solid"/>
                      <a:round/>
                      <a:headEnd type="none" w="med" len="med"/>
                      <a:tailEnd type="none" w="med" len="med"/>
                    </a:lnL>
                    <a:lnR w="12700" cap="flat" cmpd="sng" algn="ctr">
                      <a:solidFill>
                        <a:srgbClr val="DBDBDB"/>
                      </a:solidFill>
                      <a:prstDash val="solid"/>
                      <a:round/>
                      <a:headEnd type="none" w="med" len="med"/>
                      <a:tailEnd type="none" w="med" len="med"/>
                    </a:lnR>
                    <a:lnT w="12700" cap="flat" cmpd="sng" algn="ctr">
                      <a:solidFill>
                        <a:srgbClr val="DBDBDB"/>
                      </a:solidFill>
                      <a:prstDash val="solid"/>
                      <a:round/>
                      <a:headEnd type="none" w="med" len="med"/>
                      <a:tailEnd type="none" w="med" len="med"/>
                    </a:lnT>
                    <a:lnB w="12700" cap="flat" cmpd="sng" algn="ctr">
                      <a:solidFill>
                        <a:srgbClr val="DBDBDB"/>
                      </a:solidFill>
                      <a:prstDash val="solid"/>
                      <a:round/>
                      <a:headEnd type="none" w="med" len="med"/>
                      <a:tailEnd type="none" w="med" len="med"/>
                    </a:lnB>
                    <a:solidFill>
                      <a:srgbClr val="263238"/>
                    </a:solidFill>
                  </a:tcPr>
                </a:tc>
              </a:tr>
            </a:tbl>
          </a:graphicData>
        </a:graphic>
      </p:graphicFrame>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391" y="1988308"/>
            <a:ext cx="4431103" cy="331216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403346" y="158763"/>
            <a:ext cx="2981643" cy="830997"/>
          </a:xfrm>
        </p:spPr>
        <p:txBody>
          <a:bodyPr>
            <a:normAutofit/>
          </a:bodyPr>
          <a:lstStyle/>
          <a:p>
            <a:r>
              <a:rPr lang="en-GB" sz="44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896" y="1360236"/>
            <a:ext cx="5130372" cy="409529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84152" y="1360236"/>
            <a:ext cx="4787317" cy="388255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320982" y="297227"/>
            <a:ext cx="2981643" cy="830997"/>
          </a:xfrm>
        </p:spPr>
        <p:txBody>
          <a:bodyPr>
            <a:normAutofit/>
          </a:bodyPr>
          <a:lstStyle/>
          <a:p>
            <a:r>
              <a:rPr lang="en-GB" sz="4400"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030" y="1691639"/>
            <a:ext cx="5234103" cy="2822453"/>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7254" y="1691639"/>
            <a:ext cx="5394522" cy="290627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674" y="350520"/>
            <a:ext cx="2980266" cy="853440"/>
          </a:xfrm>
        </p:spPr>
        <p:txBody>
          <a:bodyPr>
            <a:normAutofit/>
          </a:bodyPr>
          <a:lstStyle/>
          <a:p>
            <a:r>
              <a:rPr lang="en-IN" sz="4400" b="1" dirty="0" smtClean="0">
                <a:solidFill>
                  <a:schemeClr val="tx1"/>
                </a:solidFill>
                <a:latin typeface="Times New Roman" panose="02020603050405020304" pitchFamily="18" charset="0"/>
                <a:cs typeface="Times New Roman" panose="02020603050405020304" pitchFamily="18" charset="0"/>
              </a:rPr>
              <a:t>RESULTS</a:t>
            </a:r>
            <a:endParaRPr lang="en-IN" sz="4400" b="1"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57F1E4F-1CFF-5643-939E-217C01CDF565}" type="slidenum">
              <a:rPr lang="en-US" smtClean="0"/>
              <a:pPr/>
              <a:t>11</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674" y="1870275"/>
            <a:ext cx="4580466" cy="3026009"/>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4727" y="1870275"/>
            <a:ext cx="4914634" cy="3314788"/>
          </a:xfrm>
          <a:prstGeom prst="rect">
            <a:avLst/>
          </a:prstGeom>
        </p:spPr>
      </p:pic>
    </p:spTree>
    <p:extLst>
      <p:ext uri="{BB962C8B-B14F-4D97-AF65-F5344CB8AC3E}">
        <p14:creationId xmlns:p14="http://schemas.microsoft.com/office/powerpoint/2010/main" val="86262294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674" y="350520"/>
            <a:ext cx="2980266" cy="853440"/>
          </a:xfrm>
        </p:spPr>
        <p:txBody>
          <a:bodyPr>
            <a:normAutofit/>
          </a:bodyPr>
          <a:lstStyle/>
          <a:p>
            <a:r>
              <a:rPr lang="en-IN" sz="4400" b="1" dirty="0" smtClean="0">
                <a:solidFill>
                  <a:schemeClr val="tx1"/>
                </a:solidFill>
                <a:latin typeface="Times New Roman" panose="02020603050405020304" pitchFamily="18" charset="0"/>
                <a:cs typeface="Times New Roman" panose="02020603050405020304" pitchFamily="18" charset="0"/>
              </a:rPr>
              <a:t>RESULTS</a:t>
            </a:r>
            <a:endParaRPr lang="en-IN" sz="4400" b="1"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57F1E4F-1CFF-5643-939E-217C01CDF565}" type="slidenum">
              <a:rPr lang="en-US" smtClean="0"/>
              <a:pPr/>
              <a:t>12</a:t>
            </a:fld>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474" y="1802887"/>
            <a:ext cx="4906735" cy="324155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7783" y="1802887"/>
            <a:ext cx="4558237" cy="3296732"/>
          </a:xfrm>
          <a:prstGeom prst="rect">
            <a:avLst/>
          </a:prstGeom>
        </p:spPr>
      </p:pic>
    </p:spTree>
    <p:extLst>
      <p:ext uri="{BB962C8B-B14F-4D97-AF65-F5344CB8AC3E}">
        <p14:creationId xmlns:p14="http://schemas.microsoft.com/office/powerpoint/2010/main" val="200392834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674" y="350520"/>
            <a:ext cx="2980266" cy="853440"/>
          </a:xfrm>
        </p:spPr>
        <p:txBody>
          <a:bodyPr>
            <a:normAutofit/>
          </a:bodyPr>
          <a:lstStyle/>
          <a:p>
            <a:r>
              <a:rPr lang="en-IN" sz="4400" b="1" dirty="0" smtClean="0">
                <a:solidFill>
                  <a:schemeClr val="tx1"/>
                </a:solidFill>
                <a:latin typeface="Times New Roman" panose="02020603050405020304" pitchFamily="18" charset="0"/>
                <a:cs typeface="Times New Roman" panose="02020603050405020304" pitchFamily="18" charset="0"/>
              </a:rPr>
              <a:t>RESULTS</a:t>
            </a:r>
            <a:endParaRPr lang="en-IN" sz="4400" b="1"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D57F1E4F-1CFF-5643-939E-217C01CDF565}" type="slidenum">
              <a:rPr lang="en-US" smtClean="0"/>
              <a:pPr/>
              <a:t>13</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202" y="1817907"/>
            <a:ext cx="5177038" cy="3266692"/>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1485" y="2031521"/>
            <a:ext cx="4084495" cy="3053078"/>
          </a:xfrm>
          <a:prstGeom prst="rect">
            <a:avLst/>
          </a:prstGeom>
        </p:spPr>
      </p:pic>
    </p:spTree>
    <p:extLst>
      <p:ext uri="{BB962C8B-B14F-4D97-AF65-F5344CB8AC3E}">
        <p14:creationId xmlns:p14="http://schemas.microsoft.com/office/powerpoint/2010/main" val="176957424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197183" y="193997"/>
            <a:ext cx="5610950" cy="739383"/>
          </a:xfrm>
        </p:spPr>
        <p:txBody>
          <a:bodyPr>
            <a:normAutofit fontScale="90000"/>
          </a:bodyPr>
          <a:lstStyle/>
          <a:p>
            <a:r>
              <a:rPr lang="en-IN" sz="4400" dirty="0" smtClean="0">
                <a:latin typeface="Times New Roman" panose="02020603050405020304" pitchFamily="18" charset="0"/>
                <a:cs typeface="Times New Roman" panose="02020603050405020304" pitchFamily="18" charset="0"/>
              </a:rPr>
              <a:t>FUTURE SCOPE</a:t>
            </a:r>
            <a:endParaRPr lang="en-IN" sz="44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a:spLocks noChangeArrowheads="1"/>
          </p:cNvSpPr>
          <p:nvPr/>
        </p:nvSpPr>
        <p:spPr bwMode="auto">
          <a:xfrm>
            <a:off x="320982" y="1084892"/>
            <a:ext cx="901775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Real-Time Data Integration:</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Integrate live weather, soil, market price, and agricultural data for continuous monitoring.</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Advanced Machine Learning:</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Use advanced models such as XGBoost, neural networks, and time-series models for improved prediction.</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Crop Recommendation System:</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Develop a system that recommends suitable crops based on season, soil, weather, and resource conditions.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Early Risk Prediction:</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Predict potential disease, pest, water, and yield risks before they significantly affect production.</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Mobile/Web Application:</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Convert the dashboard into a user-friendly application for farmers and agricultural officers.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Scalable Regional Analysis:</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Extend the project to larger datasets and more regions for broader agricultural insights.</a:t>
            </a:r>
            <a:endParaRPr lang="en-US" b="1" dirty="0">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r>
            <a:b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b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Real-time data integration | Advanced ML prediction | Crop recommendation | Risk prediction | Mobile/Web application | Regional scalability</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134058" y="187509"/>
            <a:ext cx="5902643" cy="713144"/>
          </a:xfrm>
        </p:spPr>
        <p:txBody>
          <a:bodyPr>
            <a:noAutofit/>
          </a:bodyPr>
          <a:lstStyle/>
          <a:p>
            <a:r>
              <a:rPr lang="en-IN" sz="4400" dirty="0" smtClean="0">
                <a:latin typeface="Times New Roman" panose="02020603050405020304" pitchFamily="18" charset="0"/>
                <a:cs typeface="Times New Roman" panose="02020603050405020304" pitchFamily="18" charset="0"/>
              </a:rPr>
              <a:t>GITHUB LINK</a:t>
            </a:r>
            <a:endParaRPr lang="en-IN" sz="44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xmlns="" id="{5F0B37E4-66B1-8633-7266-68B321742757}"/>
              </a:ext>
            </a:extLst>
          </p:cNvPr>
          <p:cNvSpPr txBox="1"/>
          <p:nvPr/>
        </p:nvSpPr>
        <p:spPr>
          <a:xfrm>
            <a:off x="546340" y="996598"/>
            <a:ext cx="7232875" cy="400110"/>
          </a:xfrm>
          <a:prstGeom prst="rect">
            <a:avLst/>
          </a:prstGeom>
          <a:noFill/>
        </p:spPr>
        <p:txBody>
          <a:bodyPr wrap="square">
            <a:spAutoFit/>
          </a:bodyPr>
          <a:lstStyle/>
          <a:p>
            <a:r>
              <a:rPr lang="en-US" sz="2000" dirty="0" smtClean="0">
                <a:latin typeface="Times New Roman" panose="02020603050405020304" pitchFamily="18" charset="0"/>
                <a:cs typeface="Times New Roman" panose="02020603050405020304" pitchFamily="18" charset="0"/>
                <a:hlinkClick r:id="rId3"/>
              </a:rPr>
              <a:t>Seasonal_Agriculture_Performance_Analysis_GitHub_Link</a:t>
            </a:r>
            <a:endParaRPr lang="en-US" sz="2000" dirty="0">
              <a:latin typeface="Times New Roman" panose="02020603050405020304" pitchFamily="18" charset="0"/>
              <a:cs typeface="Times New Roman" panose="02020603050405020304" pitchFamily="18" charset="0"/>
            </a:endParaRPr>
          </a:p>
        </p:txBody>
      </p:sp>
      <p:sp>
        <p:nvSpPr>
          <p:cNvPr id="9" name="Rectangle 8"/>
          <p:cNvSpPr/>
          <p:nvPr/>
        </p:nvSpPr>
        <p:spPr>
          <a:xfrm>
            <a:off x="546340" y="1644703"/>
            <a:ext cx="6139132" cy="4524315"/>
          </a:xfrm>
          <a:prstGeom prst="rect">
            <a:avLst/>
          </a:prstGeom>
        </p:spPr>
        <p:txBody>
          <a:bodyPr wrap="square">
            <a:spAutoFit/>
          </a:bodyPr>
          <a:lstStyle/>
          <a:p>
            <a:r>
              <a:rPr lang="en-IN" b="1" u="sng" dirty="0">
                <a:latin typeface="Times New Roman" panose="02020603050405020304" pitchFamily="18" charset="0"/>
                <a:cs typeface="Times New Roman" panose="02020603050405020304" pitchFamily="18" charset="0"/>
              </a:rPr>
              <a:t>🔗 GITHUB REPOSITORY</a:t>
            </a:r>
          </a:p>
          <a:p>
            <a:r>
              <a:rPr lang="en-IN" b="1" dirty="0">
                <a:latin typeface="Times New Roman" panose="02020603050405020304" pitchFamily="18" charset="0"/>
                <a:cs typeface="Times New Roman" panose="02020603050405020304" pitchFamily="18" charset="0"/>
              </a:rPr>
              <a:t>Seasonal Agriculture Performance Analysis</a:t>
            </a:r>
            <a:br>
              <a:rPr lang="en-IN"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a:p>
            <a:r>
              <a:rPr lang="en-IN" b="1" u="sng" dirty="0">
                <a:latin typeface="Times New Roman" panose="02020603050405020304" pitchFamily="18" charset="0"/>
                <a:cs typeface="Times New Roman" panose="02020603050405020304" pitchFamily="18" charset="0"/>
              </a:rPr>
              <a:t>Project Repository:</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N.V. Yasasvi — Seasonal Agriculture Performance Analysis</a:t>
            </a:r>
          </a:p>
          <a:p>
            <a:endParaRPr lang="en-IN" b="1" dirty="0">
              <a:latin typeface="Times New Roman" panose="02020603050405020304" pitchFamily="18" charset="0"/>
              <a:cs typeface="Times New Roman" panose="02020603050405020304" pitchFamily="18" charset="0"/>
            </a:endParaRPr>
          </a:p>
          <a:p>
            <a:r>
              <a:rPr lang="en-IN" b="1" u="sng" dirty="0">
                <a:latin typeface="Times New Roman" panose="02020603050405020304" pitchFamily="18" charset="0"/>
                <a:cs typeface="Times New Roman" panose="02020603050405020304" pitchFamily="18" charset="0"/>
              </a:rPr>
              <a:t>GitHub:</a:t>
            </a:r>
          </a:p>
          <a:p>
            <a:endParaRPr lang="en-IN" b="1" u="sng"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hlinkClick r:id="rId3"/>
              </a:rPr>
              <a:t>Seasonal_Agriculture_Performance_Analysis_GitHub_Link</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IN" b="1" u="sng" dirty="0">
                <a:latin typeface="Times New Roman" panose="02020603050405020304" pitchFamily="18" charset="0"/>
                <a:cs typeface="Times New Roman" panose="02020603050405020304" pitchFamily="18" charset="0"/>
              </a:rPr>
              <a:t>📂 Repository Includes</a:t>
            </a:r>
          </a:p>
          <a:p>
            <a:r>
              <a:rPr lang="en-IN" dirty="0">
                <a:latin typeface="Times New Roman" panose="02020603050405020304" pitchFamily="18" charset="0"/>
                <a:cs typeface="Times New Roman" panose="02020603050405020304" pitchFamily="18" charset="0"/>
              </a:rPr>
              <a:t>📓 Jupyter Notebook</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Agriculture Dataset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README Documentation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Data Analytics &amp; ML Screenshots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Project Outputs &amp; Results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117156" y="99656"/>
            <a:ext cx="9644911" cy="1365077"/>
          </a:xfrm>
        </p:spPr>
        <p:txBody>
          <a:bodyPr>
            <a:noAutofit/>
          </a:bodyPr>
          <a:lstStyle/>
          <a:p>
            <a:r>
              <a:rPr lang="en-IN" sz="3600" dirty="0">
                <a:latin typeface="Times New Roman" panose="02020603050405020304" pitchFamily="18" charset="0"/>
                <a:cs typeface="Times New Roman" panose="02020603050405020304" pitchFamily="18" charset="0"/>
              </a:rPr>
              <a:t>VOIS Course completion certificate - </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Course </a:t>
            </a:r>
            <a:r>
              <a:rPr lang="en-IN" sz="3600" dirty="0" smtClean="0">
                <a:latin typeface="Times New Roman" panose="02020603050405020304" pitchFamily="18" charset="0"/>
                <a:cs typeface="Times New Roman" panose="02020603050405020304" pitchFamily="18" charset="0"/>
              </a:rPr>
              <a:t>name - </a:t>
            </a:r>
            <a:r>
              <a:rPr lang="en-IN" sz="3600" dirty="0">
                <a:latin typeface="Times New Roman" panose="02020603050405020304" pitchFamily="18" charset="0"/>
                <a:cs typeface="Times New Roman" panose="02020603050405020304" pitchFamily="18" charset="0"/>
              </a:rPr>
              <a:t>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8799" y="1464733"/>
            <a:ext cx="6948937" cy="491655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xfrm>
            <a:off x="2243867" y="368300"/>
            <a:ext cx="6053467" cy="700114"/>
          </a:xfrm>
          <a:prstGeom prst="rect">
            <a:avLst/>
          </a:prstGeom>
        </p:spPr>
        <p:txBody>
          <a:bodyPr anchor="ctr">
            <a:noAutofit/>
          </a:bodyPr>
          <a:lstStyle/>
          <a:p>
            <a:pPr algn="ctr"/>
            <a:r>
              <a:rPr lang="en-US" sz="4400" b="1" dirty="0" smtClean="0">
                <a:solidFill>
                  <a:schemeClr val="tx1"/>
                </a:solidFill>
                <a:latin typeface="Times New Roman" panose="02020603050405020304" pitchFamily="18" charset="0"/>
                <a:cs typeface="Times New Roman" panose="02020603050405020304" pitchFamily="18" charset="0"/>
              </a:rPr>
              <a:t>THANK YOU</a:t>
            </a:r>
            <a:endParaRPr lang="en-US" sz="4400" b="1" dirty="0">
              <a:solidFill>
                <a:schemeClr val="tx1"/>
              </a:solidFill>
              <a:latin typeface="Times New Roman" panose="02020603050405020304" pitchFamily="18" charset="0"/>
              <a:cs typeface="Times New Roman" panose="02020603050405020304" pitchFamily="18" charset="0"/>
            </a:endParaRP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xmlns="" id="{BC277FD7-925B-4C3D-A364-118403201507}"/>
              </a:ext>
            </a:extLst>
          </p:cNvPr>
          <p:cNvSpPr>
            <a:spLocks noGrp="1"/>
          </p:cNvSpPr>
          <p:nvPr>
            <p:ph type="body" sz="quarter" idx="12"/>
          </p:nvPr>
        </p:nvSpPr>
        <p:spPr>
          <a:xfrm>
            <a:off x="385493" y="5137824"/>
            <a:ext cx="7171680" cy="1331857"/>
          </a:xfrm>
        </p:spPr>
        <p:txBody>
          <a:bodyPr>
            <a:normAutofit/>
          </a:bodyPr>
          <a:lstStyle/>
          <a:p>
            <a:pPr algn="l"/>
            <a:r>
              <a:rPr lang="en-IN" dirty="0" smtClean="0">
                <a:solidFill>
                  <a:schemeClr val="tx1"/>
                </a:solidFill>
                <a:latin typeface="Times New Roman" panose="02020603050405020304" pitchFamily="18" charset="0"/>
                <a:cs typeface="Times New Roman" panose="02020603050405020304" pitchFamily="18" charset="0"/>
              </a:rPr>
              <a:t>Presented by : Nune Venkata Yasasvi</a:t>
            </a:r>
          </a:p>
          <a:p>
            <a:pPr algn="l"/>
            <a:r>
              <a:rPr lang="en-IN" smtClean="0">
                <a:solidFill>
                  <a:schemeClr val="tx1"/>
                </a:solidFill>
                <a:latin typeface="Times New Roman" panose="02020603050405020304" pitchFamily="18" charset="0"/>
                <a:cs typeface="Times New Roman" panose="02020603050405020304" pitchFamily="18" charset="0"/>
              </a:rPr>
              <a:t>Student ID :  </a:t>
            </a:r>
            <a:r>
              <a:rPr lang="en-IN" dirty="0" smtClean="0">
                <a:solidFill>
                  <a:schemeClr val="tx1"/>
                </a:solidFill>
                <a:latin typeface="Times New Roman" panose="02020603050405020304" pitchFamily="18" charset="0"/>
                <a:cs typeface="Times New Roman" panose="02020603050405020304" pitchFamily="18" charset="0"/>
              </a:rPr>
              <a:t>STU6a528cb0ab8321783794864</a:t>
            </a:r>
            <a:endParaRPr lang="en-IN" dirty="0">
              <a:solidFill>
                <a:schemeClr val="tx1"/>
              </a:solidFill>
              <a:latin typeface="Times New Roman" panose="02020603050405020304" pitchFamily="18" charset="0"/>
              <a:cs typeface="Times New Roman" panose="02020603050405020304" pitchFamily="18" charset="0"/>
            </a:endParaRPr>
          </a:p>
          <a:p>
            <a:pPr algn="l"/>
            <a:r>
              <a:rPr lang="en-US" dirty="0">
                <a:latin typeface="Times New Roman" panose="02020603050405020304" pitchFamily="18" charset="0"/>
                <a:cs typeface="Times New Roman" panose="02020603050405020304" pitchFamily="18" charset="0"/>
                <a:hlinkClick r:id="rId3"/>
              </a:rPr>
              <a:t>Seasonal_Agriculture_Performance_Analysis_GitHub_Link</a:t>
            </a:r>
            <a:endParaRPr lang="en-US" dirty="0">
              <a:latin typeface="Times New Roman" panose="02020603050405020304" pitchFamily="18" charset="0"/>
              <a:cs typeface="Times New Roman" panose="02020603050405020304" pitchFamily="18" charset="0"/>
            </a:endParaRPr>
          </a:p>
          <a:p>
            <a:pPr algn="l"/>
            <a:endParaRPr lang="en-IN"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385493" y="1292340"/>
            <a:ext cx="8824438" cy="1938992"/>
          </a:xfrm>
          <a:prstGeom prst="rect">
            <a:avLst/>
          </a:prstGeom>
        </p:spPr>
        <p:txBody>
          <a:bodyPr wrap="square">
            <a:spAutoFit/>
          </a:bodyPr>
          <a:lstStyle/>
          <a:p>
            <a:r>
              <a:rPr lang="en-GB" sz="2000" dirty="0">
                <a:latin typeface="Times New Roman" panose="02020603050405020304" pitchFamily="18" charset="0"/>
                <a:cs typeface="Times New Roman" panose="02020603050405020304" pitchFamily="18" charset="0"/>
              </a:rPr>
              <a:t>“Thank You for Your Time and Attention</a:t>
            </a:r>
            <a:r>
              <a:rPr lang="en-GB" sz="2000" dirty="0" smtClean="0">
                <a:latin typeface="Times New Roman" panose="02020603050405020304" pitchFamily="18" charset="0"/>
                <a:cs typeface="Times New Roman" panose="02020603050405020304" pitchFamily="18" charset="0"/>
              </a:rPr>
              <a:t>!”</a:t>
            </a:r>
          </a:p>
          <a:p>
            <a:endParaRPr lang="en-GB" sz="2000" dirty="0" smtClean="0">
              <a:latin typeface="Times New Roman" panose="02020603050405020304" pitchFamily="18" charset="0"/>
              <a:cs typeface="Times New Roman" panose="02020603050405020304" pitchFamily="18" charset="0"/>
            </a:endParaRPr>
          </a:p>
          <a:p>
            <a:r>
              <a:rPr lang="en-GB" sz="2000" b="1" dirty="0">
                <a:latin typeface="Times New Roman" panose="02020603050405020304" pitchFamily="18" charset="0"/>
                <a:cs typeface="Times New Roman" panose="02020603050405020304" pitchFamily="18" charset="0"/>
              </a:rPr>
              <a:t>Seasonal Agriculture Performance Analysis</a:t>
            </a:r>
            <a:r>
              <a:rPr lang="en-GB" sz="2000" dirty="0">
                <a:latin typeface="Times New Roman" panose="02020603050405020304" pitchFamily="18" charset="0"/>
                <a:cs typeface="Times New Roman" panose="02020603050405020304" pitchFamily="18" charset="0"/>
              </a:rPr>
              <a:t/>
            </a:r>
            <a:br>
              <a:rPr lang="en-GB" sz="2000" dirty="0">
                <a:latin typeface="Times New Roman" panose="02020603050405020304" pitchFamily="18" charset="0"/>
                <a:cs typeface="Times New Roman" panose="02020603050405020304" pitchFamily="18" charset="0"/>
              </a:rPr>
            </a:br>
            <a:r>
              <a:rPr lang="en-GB" sz="2000" i="1" dirty="0">
                <a:latin typeface="Times New Roman" panose="02020603050405020304" pitchFamily="18" charset="0"/>
                <a:cs typeface="Times New Roman" panose="02020603050405020304" pitchFamily="18" charset="0"/>
              </a:rPr>
              <a:t>Data Analytics with Machine Learning &amp; Dashboard Enhancements</a:t>
            </a:r>
            <a:endParaRPr lang="en-GB" sz="2000" dirty="0" smtClean="0">
              <a:latin typeface="Times New Roman" panose="02020603050405020304" pitchFamily="18" charset="0"/>
              <a:cs typeface="Times New Roman" panose="02020603050405020304" pitchFamily="18" charset="0"/>
            </a:endParaRPr>
          </a:p>
          <a:p>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“Turning Agricultural Data into Meaningful Insights for Better Decisions.”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purl.org/dc/elements/1.1/"/>
    <ds:schemaRef ds:uri="http://schemas.microsoft.com/office/2006/metadata/properties"/>
    <ds:schemaRef ds:uri="http://purl.org/dc/terms/"/>
    <ds:schemaRef ds:uri="http://schemas.openxmlformats.org/package/2006/metadata/core-properties"/>
    <ds:schemaRef ds:uri="16c05727-aa75-4e4a-9b5f-8a80a1165891"/>
    <ds:schemaRef ds:uri="http://schemas.microsoft.com/office/2006/documentManagement/types"/>
    <ds:schemaRef ds:uri="http://schemas.microsoft.com/office/infopath/2007/PartnerControls"/>
    <ds:schemaRef ds:uri="71af3243-3dd4-4a8d-8c0d-dd76da1f02a5"/>
    <ds:schemaRef ds:uri="http://www.w3.org/XML/1998/namespace"/>
    <ds:schemaRef ds:uri="http://purl.org/dc/dcmitype/"/>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2399</TotalTime>
  <Words>773</Words>
  <Application>Microsoft Office PowerPoint</Application>
  <PresentationFormat>Widescreen</PresentationFormat>
  <Paragraphs>187</Paragraphs>
  <Slides>17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Courier New</vt:lpstr>
      <vt:lpstr>Times New Roman</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RESULTS</vt:lpstr>
      <vt:lpstr>RESULTS</vt:lpstr>
      <vt:lpstr>RESULTS</vt:lpstr>
      <vt:lpstr>FUTURE SCOPE</vt:lpstr>
      <vt:lpstr>GITHUB LINK</vt:lpstr>
      <vt:lpstr>VOIS Course completion certificate -  Course name - Data Visualization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LENOVO</cp:lastModifiedBy>
  <cp:revision>149</cp:revision>
  <dcterms:created xsi:type="dcterms:W3CDTF">2021-07-11T13:13:15Z</dcterms:created>
  <dcterms:modified xsi:type="dcterms:W3CDTF">2026-09-09T07:50:07Z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